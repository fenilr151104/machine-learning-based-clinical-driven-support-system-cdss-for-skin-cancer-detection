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64"/>
  </p:notesMasterIdLst>
  <p:handoutMasterIdLst>
    <p:handoutMasterId r:id="rId65"/>
  </p:handoutMasterIdLst>
  <p:sldIdLst>
    <p:sldId id="256" r:id="rId5"/>
    <p:sldId id="257" r:id="rId6"/>
    <p:sldId id="258" r:id="rId7"/>
    <p:sldId id="272" r:id="rId8"/>
    <p:sldId id="276" r:id="rId9"/>
    <p:sldId id="274" r:id="rId10"/>
    <p:sldId id="275" r:id="rId11"/>
    <p:sldId id="273" r:id="rId12"/>
    <p:sldId id="260" r:id="rId13"/>
    <p:sldId id="264" r:id="rId14"/>
    <p:sldId id="263" r:id="rId15"/>
    <p:sldId id="262" r:id="rId16"/>
    <p:sldId id="266" r:id="rId17"/>
    <p:sldId id="267" r:id="rId18"/>
    <p:sldId id="268" r:id="rId19"/>
    <p:sldId id="270" r:id="rId20"/>
    <p:sldId id="271" r:id="rId21"/>
    <p:sldId id="259"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 id="293" r:id="rId37"/>
    <p:sldId id="290" r:id="rId38"/>
    <p:sldId id="296" r:id="rId39"/>
    <p:sldId id="308" r:id="rId40"/>
    <p:sldId id="313" r:id="rId41"/>
    <p:sldId id="314" r:id="rId42"/>
    <p:sldId id="315" r:id="rId43"/>
    <p:sldId id="316" r:id="rId44"/>
    <p:sldId id="309" r:id="rId45"/>
    <p:sldId id="297" r:id="rId46"/>
    <p:sldId id="298" r:id="rId47"/>
    <p:sldId id="310" r:id="rId48"/>
    <p:sldId id="311" r:id="rId49"/>
    <p:sldId id="301" r:id="rId50"/>
    <p:sldId id="302" r:id="rId51"/>
    <p:sldId id="312" r:id="rId52"/>
    <p:sldId id="303" r:id="rId53"/>
    <p:sldId id="304" r:id="rId54"/>
    <p:sldId id="299" r:id="rId55"/>
    <p:sldId id="300" r:id="rId56"/>
    <p:sldId id="305" r:id="rId57"/>
    <p:sldId id="306" r:id="rId58"/>
    <p:sldId id="307" r:id="rId59"/>
    <p:sldId id="265" r:id="rId60"/>
    <p:sldId id="261" r:id="rId61"/>
    <p:sldId id="295" r:id="rId62"/>
    <p:sldId id="277"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7/28/2025</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7/28/2025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7/28/2025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7/28/2025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ncbi.nlm.nih.gov/pmc/articles/PMC10640926/"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acsjournals.onlinelibrary.wiley.com/doi/full/10.3322/caac.21754#caac21754-fig-0005" TargetMode="External"/><Relationship Id="rId2" Type="http://schemas.openxmlformats.org/officeDocument/2006/relationships/hyperlink" Target="https://acsjournals.onlinelibrary.wiley.com/doi/full/10.3322/caac.21754#caac21754-bib-0042" TargetMode="Externa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hyperlink" Target="https://acsjournals.onlinelibrary.wiley.com/doi/full/10.3322/caac.21754#caac21754-bib-0010" TargetMode="External"/><Relationship Id="rId4" Type="http://schemas.openxmlformats.org/officeDocument/2006/relationships/hyperlink" Target="https://acsjournals.onlinelibrary.wiley.com/doi/full/10.3322/caac.21754#caac21754-bib-0008"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hyperlink" Target="https://scholar.google.com/scholar_lookup?journal=CA%20Cancer%20J%20Clin.&amp;title=Breast%20cancer%20statistics,%202022&amp;author=AN%20Giaquinto&amp;author=H%20Sung&amp;author=K%20Miller&amp;volume=72&amp;issue=6&amp;publication_year=2022&amp;pages=524-541&amp;pmid=36190501&amp;doi=10.3322/caac.21754&amp;" TargetMode="External"/><Relationship Id="rId13" Type="http://schemas.openxmlformats.org/officeDocument/2006/relationships/hyperlink" Target="https://acsjournals.onlinelibrary.wiley.com/authored-by/Siegel/Rebecca+L." TargetMode="External"/><Relationship Id="rId3" Type="http://schemas.openxmlformats.org/officeDocument/2006/relationships/hyperlink" Target="https://pubmed.ncbi.nlm.nih.gov/?term=%22Hu%20C%22%5BAuthor%5D" TargetMode="External"/><Relationship Id="rId7" Type="http://schemas.openxmlformats.org/officeDocument/2006/relationships/hyperlink" Target="https://pubmed.ncbi.nlm.nih.gov/36190501/" TargetMode="External"/><Relationship Id="rId12" Type="http://schemas.openxmlformats.org/officeDocument/2006/relationships/hyperlink" Target="https://acsjournals.onlinelibrary.wiley.com/authored-by/Ferlay/Jacques" TargetMode="External"/><Relationship Id="rId2" Type="http://schemas.openxmlformats.org/officeDocument/2006/relationships/hyperlink" Target="https://pubmed.ncbi.nlm.nih.gov/?term=%22Zhou%20S%22%5BAuthor%5D" TargetMode="External"/><Relationship Id="rId1" Type="http://schemas.openxmlformats.org/officeDocument/2006/relationships/slideLayout" Target="../slideLayouts/slideLayout7.xml"/><Relationship Id="rId6" Type="http://schemas.openxmlformats.org/officeDocument/2006/relationships/hyperlink" Target="https://doi.org/10.3322/caac.21754" TargetMode="External"/><Relationship Id="rId11" Type="http://schemas.openxmlformats.org/officeDocument/2006/relationships/hyperlink" Target="https://acsjournals.onlinelibrary.wiley.com/authored-by/Sung/Hyuna" TargetMode="External"/><Relationship Id="rId5" Type="http://schemas.openxmlformats.org/officeDocument/2006/relationships/hyperlink" Target="https://pubmed.ncbi.nlm.nih.gov/?term=%22Yan%20X%22%5BAuthor%5D" TargetMode="External"/><Relationship Id="rId15" Type="http://schemas.openxmlformats.org/officeDocument/2006/relationships/hyperlink" Target="https://acsjournals.onlinelibrary.wiley.com/authored-by/Jemal/Ahmedin" TargetMode="External"/><Relationship Id="rId10" Type="http://schemas.openxmlformats.org/officeDocument/2006/relationships/hyperlink" Target="https://acsjournals.onlinelibrary.wiley.com/authored-by/Laversanne/Mathieu" TargetMode="External"/><Relationship Id="rId4" Type="http://schemas.openxmlformats.org/officeDocument/2006/relationships/hyperlink" Target="https://pubmed.ncbi.nlm.nih.gov/?term=%22Wei%20S%22%5BAuthor%5D" TargetMode="External"/><Relationship Id="rId9" Type="http://schemas.openxmlformats.org/officeDocument/2006/relationships/hyperlink" Target="https://acsjournals.onlinelibrary.wiley.com/authored-by/Bray/Freddie" TargetMode="External"/><Relationship Id="rId14" Type="http://schemas.openxmlformats.org/officeDocument/2006/relationships/hyperlink" Target="https://acsjournals.onlinelibrary.wiley.com/authored-by/Soerjomataram/Isabelle"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1876424" y="475861"/>
            <a:ext cx="8791575" cy="1905389"/>
          </a:xfrm>
        </p:spPr>
        <p:txBody>
          <a:bodyPr>
            <a:normAutofit fontScale="90000"/>
          </a:bodyPr>
          <a:lstStyle/>
          <a:p>
            <a:pPr algn="ctr"/>
            <a:r>
              <a:rPr lang="en-US" sz="5300" dirty="0">
                <a:latin typeface="Times New Roman" panose="02020603050405020304" pitchFamily="18" charset="0"/>
                <a:cs typeface="Times New Roman" panose="02020603050405020304" pitchFamily="18" charset="0"/>
              </a:rPr>
              <a:t>IEEE </a:t>
            </a:r>
            <a:r>
              <a:rPr lang="en-IN" sz="5300" dirty="0">
                <a:latin typeface="Times New Roman" panose="02020603050405020304" pitchFamily="18" charset="0"/>
                <a:cs typeface="Times New Roman" panose="02020603050405020304" pitchFamily="18" charset="0"/>
              </a:rPr>
              <a:t>SPS GS Summer internship 2025</a:t>
            </a:r>
            <a:r>
              <a:rPr lang="en-IN" sz="5300" dirty="0"/>
              <a:t> </a:t>
            </a:r>
            <a:br>
              <a:rPr lang="en-IN" sz="5300" dirty="0"/>
            </a:br>
            <a:r>
              <a:rPr lang="en-IN" sz="3600" dirty="0">
                <a:latin typeface="Times New Roman" panose="02020603050405020304" pitchFamily="18" charset="0"/>
                <a:cs typeface="Times New Roman" panose="02020603050405020304" pitchFamily="18" charset="0"/>
              </a:rPr>
              <a:t> </a:t>
            </a:r>
            <a:endParaRPr lang="en-US" sz="7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a:xfrm>
            <a:off x="1876424" y="3172409"/>
            <a:ext cx="8791575" cy="1726163"/>
          </a:xfrm>
        </p:spPr>
        <p:txBody>
          <a:bodyPr>
            <a:normAutofit fontScale="62500" lnSpcReduction="20000"/>
          </a:bodyPr>
          <a:lstStyle/>
          <a:p>
            <a:pPr algn="ctr"/>
            <a:r>
              <a:rPr lang="en-US" sz="4000" b="1" dirty="0">
                <a:latin typeface="Times New Roman" panose="02020603050405020304" pitchFamily="18" charset="0"/>
                <a:cs typeface="Times New Roman" panose="02020603050405020304" pitchFamily="18" charset="0"/>
              </a:rPr>
              <a:t>Machine Learning Driven clinical decision support system for cancer detection </a:t>
            </a:r>
          </a:p>
          <a:p>
            <a:pPr algn="ctr"/>
            <a:r>
              <a:rPr lang="en-US" sz="3200" b="1" dirty="0">
                <a:latin typeface="Times New Roman" panose="02020603050405020304" pitchFamily="18" charset="0"/>
                <a:cs typeface="Times New Roman" panose="02020603050405020304" pitchFamily="18" charset="0"/>
              </a:rPr>
              <a:t>under guidance of Dr. KETKI Pathak mam</a:t>
            </a:r>
          </a:p>
        </p:txBody>
      </p:sp>
      <p:sp>
        <p:nvSpPr>
          <p:cNvPr id="4" name="TextBox 3">
            <a:extLst>
              <a:ext uri="{FF2B5EF4-FFF2-40B4-BE49-F238E27FC236}">
                <a16:creationId xmlns:a16="http://schemas.microsoft.com/office/drawing/2014/main" id="{C578CDC0-9B5D-D9D4-F818-EF86654E621F}"/>
              </a:ext>
            </a:extLst>
          </p:cNvPr>
          <p:cNvSpPr txBox="1"/>
          <p:nvPr/>
        </p:nvSpPr>
        <p:spPr>
          <a:xfrm>
            <a:off x="7716416" y="5477069"/>
            <a:ext cx="3564294" cy="707886"/>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By Fenil Mahesuriya</a:t>
            </a:r>
          </a:p>
          <a:p>
            <a:pPr algn="ctr"/>
            <a:r>
              <a:rPr lang="en-IN" sz="2000" dirty="0">
                <a:latin typeface="Times New Roman" panose="02020603050405020304" pitchFamily="18" charset="0"/>
                <a:cs typeface="Times New Roman" panose="02020603050405020304" pitchFamily="18" charset="0"/>
              </a:rPr>
              <a:t>(Adani University)</a:t>
            </a: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E3E99-0B35-40EE-002D-4EF10D023E64}"/>
              </a:ext>
            </a:extLst>
          </p:cNvPr>
          <p:cNvSpPr txBox="1"/>
          <p:nvPr/>
        </p:nvSpPr>
        <p:spPr>
          <a:xfrm>
            <a:off x="2985796" y="242596"/>
            <a:ext cx="6615404" cy="2123658"/>
          </a:xfrm>
          <a:prstGeom prst="rect">
            <a:avLst/>
          </a:prstGeom>
          <a:noFill/>
        </p:spPr>
        <p:txBody>
          <a:bodyPr wrap="square" rtlCol="0">
            <a:spAutoFit/>
          </a:bodyPr>
          <a:lstStyle/>
          <a:p>
            <a:pPr algn="ctr"/>
            <a:r>
              <a:rPr lang="en-IN" sz="5400" dirty="0">
                <a:latin typeface="Times New Roman" panose="02020603050405020304" pitchFamily="18" charset="0"/>
                <a:cs typeface="Times New Roman" panose="02020603050405020304" pitchFamily="18" charset="0"/>
              </a:rPr>
              <a:t>Introduction</a:t>
            </a:r>
          </a:p>
          <a:p>
            <a:pPr algn="ctr"/>
            <a:r>
              <a:rPr lang="en-IN" sz="2400" dirty="0">
                <a:latin typeface="Times New Roman" panose="02020603050405020304" pitchFamily="18" charset="0"/>
                <a:cs typeface="Times New Roman" panose="02020603050405020304" pitchFamily="18" charset="0"/>
              </a:rPr>
              <a:t>(1</a:t>
            </a:r>
            <a:r>
              <a:rPr lang="en-IN" sz="2400" baseline="30000" dirty="0">
                <a:latin typeface="Times New Roman" panose="02020603050405020304" pitchFamily="18" charset="0"/>
                <a:cs typeface="Times New Roman" panose="02020603050405020304" pitchFamily="18" charset="0"/>
              </a:rPr>
              <a:t>st</a:t>
            </a:r>
            <a:r>
              <a:rPr lang="en-IN" sz="2400" dirty="0">
                <a:latin typeface="Times New Roman" panose="02020603050405020304" pitchFamily="18" charset="0"/>
                <a:cs typeface="Times New Roman" panose="02020603050405020304" pitchFamily="18" charset="0"/>
              </a:rPr>
              <a:t> presentation [19/06/2025])</a:t>
            </a:r>
            <a:endParaRPr lang="en-IN" sz="2000" dirty="0">
              <a:latin typeface="Times New Roman" panose="02020603050405020304" pitchFamily="18" charset="0"/>
              <a:cs typeface="Times New Roman" panose="02020603050405020304" pitchFamily="18" charset="0"/>
            </a:endParaRPr>
          </a:p>
          <a:p>
            <a:pPr algn="ctr"/>
            <a:endParaRPr lang="en-IN" sz="5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5DA54A9-9DF9-69B0-FF85-026739637D7E}"/>
              </a:ext>
            </a:extLst>
          </p:cNvPr>
          <p:cNvSpPr txBox="1"/>
          <p:nvPr/>
        </p:nvSpPr>
        <p:spPr>
          <a:xfrm>
            <a:off x="1317523" y="1740310"/>
            <a:ext cx="9888542" cy="50119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Cancer remains one of the leading causes of mortality worldwide, with early detection being crucial to improving patient outcomes.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Cancer is a large group of diseases with one thing in common: They happen when normal cells become cancerous cells that multiply and spread.</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Cancer is the second most common cause of death worldwide. Researchers estimate that in 2024, over 2 million people living in the U.S. will receive a cancer diagnosis, and over 611,000 people will die from the disease.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About </a:t>
            </a:r>
            <a:r>
              <a:rPr lang="en-US" sz="2400" dirty="0">
                <a:latin typeface="Times New Roman" panose="02020603050405020304" pitchFamily="18" charset="0"/>
                <a:cs typeface="Times New Roman" panose="02020603050405020304" pitchFamily="18" charset="0"/>
                <a:hlinkClick r:id="rId2"/>
              </a:rPr>
              <a:t>1 in 4</a:t>
            </a:r>
            <a:r>
              <a:rPr lang="en-US" sz="2400" dirty="0">
                <a:latin typeface="Times New Roman" panose="02020603050405020304" pitchFamily="18" charset="0"/>
                <a:cs typeface="Times New Roman" panose="02020603050405020304" pitchFamily="18" charset="0"/>
              </a:rPr>
              <a:t> people will develop cancer at some point during their lifetime.</a:t>
            </a:r>
          </a:p>
          <a:p>
            <a:pPr marL="342900" indent="-342900"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6743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75DECC-B9E8-6897-5807-3A49E4FEE638}"/>
              </a:ext>
            </a:extLst>
          </p:cNvPr>
          <p:cNvSpPr txBox="1"/>
          <p:nvPr/>
        </p:nvSpPr>
        <p:spPr>
          <a:xfrm>
            <a:off x="2043403" y="121298"/>
            <a:ext cx="8481721" cy="923330"/>
          </a:xfrm>
          <a:prstGeom prst="rect">
            <a:avLst/>
          </a:prstGeom>
          <a:noFill/>
        </p:spPr>
        <p:txBody>
          <a:bodyPr wrap="square">
            <a:spAutoFit/>
          </a:bodyPr>
          <a:lstStyle/>
          <a:p>
            <a:pPr algn="ctr"/>
            <a:r>
              <a:rPr lang="en-IN" sz="5400"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6924F1C6-FB20-E22D-A63C-267151D4C7FD}"/>
              </a:ext>
            </a:extLst>
          </p:cNvPr>
          <p:cNvSpPr txBox="1"/>
          <p:nvPr/>
        </p:nvSpPr>
        <p:spPr>
          <a:xfrm>
            <a:off x="1240971" y="1352939"/>
            <a:ext cx="9965094" cy="594008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most common cancers are breast, lung, colon and rectum and prostate cancers. To address these challenges, Machine Learning (ML) Driven Clinical Decision Support Systems (CDSS) are emerging as powerful tools in modern healthcare.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recent years, the integration of Machine Learning (ML) in healthcare has revolutionized the way clinical decisions are made. One of the most impactful applications of this integration is the development of Clinical Decision Support Systems (CDSS) powered by ML algorithms.</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9110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E2A3BA-B982-5AEF-49EA-D4433179D3EC}"/>
              </a:ext>
            </a:extLst>
          </p:cNvPr>
          <p:cNvSpPr txBox="1"/>
          <p:nvPr/>
        </p:nvSpPr>
        <p:spPr>
          <a:xfrm>
            <a:off x="1651518" y="541176"/>
            <a:ext cx="8630817" cy="830997"/>
          </a:xfrm>
          <a:prstGeom prst="rect">
            <a:avLst/>
          </a:prstGeom>
          <a:noFill/>
        </p:spPr>
        <p:txBody>
          <a:bodyPr wrap="square" rtlCol="0">
            <a:spAutoFit/>
          </a:bodyPr>
          <a:lstStyle/>
          <a:p>
            <a:pPr algn="ctr"/>
            <a:r>
              <a:rPr lang="en-IN" sz="4800" b="1" dirty="0">
                <a:latin typeface="Times New Roman" panose="02020603050405020304" pitchFamily="18" charset="0"/>
                <a:cs typeface="Times New Roman" panose="02020603050405020304" pitchFamily="18" charset="0"/>
              </a:rPr>
              <a:t>Problem Statement &amp; Solution</a:t>
            </a:r>
          </a:p>
        </p:txBody>
      </p:sp>
      <p:sp>
        <p:nvSpPr>
          <p:cNvPr id="5" name="TextBox 4">
            <a:extLst>
              <a:ext uri="{FF2B5EF4-FFF2-40B4-BE49-F238E27FC236}">
                <a16:creationId xmlns:a16="http://schemas.microsoft.com/office/drawing/2014/main" id="{C794DE60-5CC3-738C-B0BF-3A01F493E20B}"/>
              </a:ext>
            </a:extLst>
          </p:cNvPr>
          <p:cNvSpPr txBox="1"/>
          <p:nvPr/>
        </p:nvSpPr>
        <p:spPr>
          <a:xfrm>
            <a:off x="1436913" y="1567543"/>
            <a:ext cx="9430139" cy="445795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Cancer remains one of the leading causes of death worldwide, with early and accurate detection being critical for improving patient outcomes. However, traditional diagnostic methods—such as imaging analysis, biopsies, and lab reports—are often time-consuming, prone to human error, and vary in accuracy across institutions and clinicians. Furthermore, the heterogeneity of cancer across types (e.g., breast, lung, skin, cervical, prostate) and within subtypes poses a significant challenge to standardized diagnosis.</a:t>
            </a:r>
          </a:p>
        </p:txBody>
      </p:sp>
    </p:spTree>
    <p:extLst>
      <p:ext uri="{BB962C8B-B14F-4D97-AF65-F5344CB8AC3E}">
        <p14:creationId xmlns:p14="http://schemas.microsoft.com/office/powerpoint/2010/main" val="3898671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74D194-D24E-A169-BB9F-30A177CF95FF}"/>
              </a:ext>
            </a:extLst>
          </p:cNvPr>
          <p:cNvSpPr txBox="1"/>
          <p:nvPr/>
        </p:nvSpPr>
        <p:spPr>
          <a:xfrm>
            <a:off x="1212980" y="783771"/>
            <a:ext cx="6544348" cy="655564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Lung cancer was the most frequently diagnosed cancer in 2022, responsible for almost 2.5 million new cases, or one in eight cancers worldwide (12.4% of all cancers globally), followed by cancers of the female breast (11.6%), colorectum (9.6%), prostate (7.3%), and stomach (4.9%).</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Breast cancer and lung cancer were the most frequent cancers in women and men, respectively (both cases and deaths). (7)</a:t>
            </a:r>
          </a:p>
          <a:p>
            <a:pPr marL="342900" indent="-342900" algn="just">
              <a:lnSpc>
                <a:spcPct val="150000"/>
              </a:lnSpc>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pic>
        <p:nvPicPr>
          <p:cNvPr id="5" name="Picture 4" descr="A map of the world&#10;&#10;AI-generated content may be incorrect.">
            <a:extLst>
              <a:ext uri="{FF2B5EF4-FFF2-40B4-BE49-F238E27FC236}">
                <a16:creationId xmlns:a16="http://schemas.microsoft.com/office/drawing/2014/main" id="{6C93E87B-D5AD-FE35-D178-768A138AD145}"/>
              </a:ext>
            </a:extLst>
          </p:cNvPr>
          <p:cNvPicPr>
            <a:picLocks noChangeAspect="1"/>
          </p:cNvPicPr>
          <p:nvPr/>
        </p:nvPicPr>
        <p:blipFill>
          <a:blip r:embed="rId2"/>
          <a:stretch>
            <a:fillRect/>
          </a:stretch>
        </p:blipFill>
        <p:spPr>
          <a:xfrm>
            <a:off x="8259742" y="1724943"/>
            <a:ext cx="3246102" cy="3145424"/>
          </a:xfrm>
          <a:prstGeom prst="rect">
            <a:avLst/>
          </a:prstGeom>
        </p:spPr>
      </p:pic>
    </p:spTree>
    <p:extLst>
      <p:ext uri="{BB962C8B-B14F-4D97-AF65-F5344CB8AC3E}">
        <p14:creationId xmlns:p14="http://schemas.microsoft.com/office/powerpoint/2010/main" val="1727519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88E344-D2D0-2FB8-4EFA-A25CEF96A1D4}"/>
              </a:ext>
            </a:extLst>
          </p:cNvPr>
          <p:cNvSpPr txBox="1"/>
          <p:nvPr/>
        </p:nvSpPr>
        <p:spPr>
          <a:xfrm>
            <a:off x="1268963" y="475861"/>
            <a:ext cx="9563878" cy="626923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address this, there is a growing need for an intelligent, scalable, and data-driven solution that can assist clinicians in making early and precise diagnostic decisions.</a:t>
            </a:r>
          </a:p>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project proposes the development of a Machine Learning–Driven Clinical Decision Support System (CDSS) that can analyze multi-modal medical data—including imaging, genomics, and clinical records—to detect and classify multiple cancer types. By integrating data-driven learning algorithms like Support Vector Machines (SVM), Random Forests, Logistic Regression, and deep learning models, the system aims to improve diagnostic speed, accuracy, and consistency across various cancer types and healthcare settings.</a:t>
            </a:r>
          </a:p>
        </p:txBody>
      </p:sp>
    </p:spTree>
    <p:extLst>
      <p:ext uri="{BB962C8B-B14F-4D97-AF65-F5344CB8AC3E}">
        <p14:creationId xmlns:p14="http://schemas.microsoft.com/office/powerpoint/2010/main" val="731613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51B277C-9EB1-995E-C725-31EABCCA5F46}"/>
              </a:ext>
            </a:extLst>
          </p:cNvPr>
          <p:cNvGraphicFramePr>
            <a:graphicFrameLocks noGrp="1"/>
          </p:cNvGraphicFramePr>
          <p:nvPr>
            <p:extLst>
              <p:ext uri="{D42A27DB-BD31-4B8C-83A1-F6EECF244321}">
                <p14:modId xmlns:p14="http://schemas.microsoft.com/office/powerpoint/2010/main" val="1600448985"/>
              </p:ext>
            </p:extLst>
          </p:nvPr>
        </p:nvGraphicFramePr>
        <p:xfrm>
          <a:off x="1343608" y="3428999"/>
          <a:ext cx="9703806" cy="2859836"/>
        </p:xfrm>
        <a:graphic>
          <a:graphicData uri="http://schemas.openxmlformats.org/drawingml/2006/table">
            <a:tbl>
              <a:tblPr/>
              <a:tblGrid>
                <a:gridCol w="3234602">
                  <a:extLst>
                    <a:ext uri="{9D8B030D-6E8A-4147-A177-3AD203B41FA5}">
                      <a16:colId xmlns:a16="http://schemas.microsoft.com/office/drawing/2014/main" val="3054239716"/>
                    </a:ext>
                  </a:extLst>
                </a:gridCol>
                <a:gridCol w="3234602">
                  <a:extLst>
                    <a:ext uri="{9D8B030D-6E8A-4147-A177-3AD203B41FA5}">
                      <a16:colId xmlns:a16="http://schemas.microsoft.com/office/drawing/2014/main" val="2175737834"/>
                    </a:ext>
                  </a:extLst>
                </a:gridCol>
                <a:gridCol w="3234602">
                  <a:extLst>
                    <a:ext uri="{9D8B030D-6E8A-4147-A177-3AD203B41FA5}">
                      <a16:colId xmlns:a16="http://schemas.microsoft.com/office/drawing/2014/main" val="905248190"/>
                    </a:ext>
                  </a:extLst>
                </a:gridCol>
              </a:tblGrid>
              <a:tr h="408548">
                <a:tc>
                  <a:txBody>
                    <a:bodyPr/>
                    <a:lstStyle/>
                    <a:p>
                      <a:r>
                        <a:rPr lang="en-IN"/>
                        <a:t>Cancer Type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tc>
                  <a:txBody>
                    <a:bodyPr/>
                    <a:lstStyle/>
                    <a:p>
                      <a:r>
                        <a:rPr lang="en-IN"/>
                        <a:t>Dataset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tc>
                  <a:txBody>
                    <a:bodyPr/>
                    <a:lstStyle/>
                    <a:p>
                      <a:r>
                        <a:rPr lang="en-IN"/>
                        <a:t>Data Type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893435232"/>
                  </a:ext>
                </a:extLst>
              </a:tr>
              <a:tr h="408548">
                <a:tc>
                  <a:txBody>
                    <a:bodyPr/>
                    <a:lstStyle/>
                    <a:p>
                      <a:r>
                        <a:rPr lang="en-IN"/>
                        <a:t>Breast Cancer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Wisconsin Breast Cancer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Tabular (clinical)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5501266"/>
                  </a:ext>
                </a:extLst>
              </a:tr>
              <a:tr h="408548">
                <a:tc>
                  <a:txBody>
                    <a:bodyPr/>
                    <a:lstStyle/>
                    <a:p>
                      <a:r>
                        <a:rPr lang="en-IN"/>
                        <a:t>Lung Cancer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LIDC-IDRI</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CT scan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221023"/>
                  </a:ext>
                </a:extLst>
              </a:tr>
              <a:tr h="408548">
                <a:tc>
                  <a:txBody>
                    <a:bodyPr/>
                    <a:lstStyle/>
                    <a:p>
                      <a:r>
                        <a:rPr lang="en-IN"/>
                        <a:t>Skin Cancer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HAM10000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Dermoscopy images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613279"/>
                  </a:ext>
                </a:extLst>
              </a:tr>
              <a:tr h="408548">
                <a:tc>
                  <a:txBody>
                    <a:bodyPr/>
                    <a:lstStyle/>
                    <a:p>
                      <a:r>
                        <a:rPr lang="en-IN"/>
                        <a:t>Cervical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Risk Factors Dataset (UCI)</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Clinical &amp; lifestyle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5524948"/>
                  </a:ext>
                </a:extLst>
              </a:tr>
              <a:tr h="408548">
                <a:tc>
                  <a:txBody>
                    <a:bodyPr/>
                    <a:lstStyle/>
                    <a:p>
                      <a:r>
                        <a:rPr lang="en-IN"/>
                        <a:t>Prostate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TCGA Prostate Adenocarcinoma</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Genomic + clinical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2250598"/>
                  </a:ext>
                </a:extLst>
              </a:tr>
              <a:tr h="408548">
                <a:tc>
                  <a:txBody>
                    <a:bodyPr/>
                    <a:lstStyle/>
                    <a:p>
                      <a:r>
                        <a:rPr lang="en-IN"/>
                        <a:t>Multimodal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TCGA (via GDC)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Imaging + genomic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0439386"/>
                  </a:ext>
                </a:extLst>
              </a:tr>
            </a:tbl>
          </a:graphicData>
        </a:graphic>
      </p:graphicFrame>
      <p:sp>
        <p:nvSpPr>
          <p:cNvPr id="3" name="TextBox 2">
            <a:extLst>
              <a:ext uri="{FF2B5EF4-FFF2-40B4-BE49-F238E27FC236}">
                <a16:creationId xmlns:a16="http://schemas.microsoft.com/office/drawing/2014/main" id="{AADBC07C-5787-1DE1-154F-B4D852F1F12A}"/>
              </a:ext>
            </a:extLst>
          </p:cNvPr>
          <p:cNvSpPr txBox="1"/>
          <p:nvPr/>
        </p:nvSpPr>
        <p:spPr>
          <a:xfrm>
            <a:off x="1259633" y="335902"/>
            <a:ext cx="9367934" cy="2980624"/>
          </a:xfrm>
          <a:prstGeom prst="rect">
            <a:avLst/>
          </a:prstGeom>
          <a:noFill/>
        </p:spPr>
        <p:txBody>
          <a:bodyPr wrap="square">
            <a:spAutoFit/>
          </a:bodyPr>
          <a:lstStyle/>
          <a:p>
            <a:pPr>
              <a:lnSpc>
                <a:spcPct val="150000"/>
              </a:lnSpc>
              <a:buNone/>
            </a:pPr>
            <a:r>
              <a:rPr lang="en-US" sz="3200" b="1" dirty="0">
                <a:latin typeface="Times New Roman" panose="02020603050405020304" pitchFamily="18" charset="0"/>
                <a:cs typeface="Times New Roman" panose="02020603050405020304" pitchFamily="18" charset="0"/>
              </a:rPr>
              <a:t>Importance of the Problem :-</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Globally over 10 million cancer-related deaths annually (WHO).</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Early diagnosis improves 5-year survival rates significantly.</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workload on radiologists and oncologists.</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standardization and reduces diagnostic variability.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992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99A7BF-13AB-2F34-DDEF-2348A0A25588}"/>
              </a:ext>
            </a:extLst>
          </p:cNvPr>
          <p:cNvSpPr txBox="1"/>
          <p:nvPr/>
        </p:nvSpPr>
        <p:spPr>
          <a:xfrm>
            <a:off x="1141412" y="646509"/>
            <a:ext cx="10111305" cy="2339286"/>
          </a:xfrm>
          <a:prstGeom prst="rect">
            <a:avLst/>
          </a:prstGeom>
        </p:spPr>
        <p:txBody>
          <a:bodyPr vert="horz" lIns="91440" tIns="45720" rIns="91440" bIns="45720" rtlCol="0" anchor="ctr">
            <a:normAutofit/>
          </a:bodyPr>
          <a:lstStyle/>
          <a:p>
            <a:pPr algn="just" defTabSz="914400">
              <a:lnSpc>
                <a:spcPct val="90000"/>
              </a:lnSpc>
              <a:spcBef>
                <a:spcPct val="0"/>
              </a:spcBef>
              <a:spcAft>
                <a:spcPts val="600"/>
              </a:spcAft>
            </a:pPr>
            <a:r>
              <a:rPr lang="en-US" sz="2000" dirty="0">
                <a:latin typeface="Times New Roman" panose="02020603050405020304" pitchFamily="18" charset="0"/>
                <a:cs typeface="Times New Roman" panose="02020603050405020304" pitchFamily="18" charset="0"/>
              </a:rPr>
              <a:t>Breast cancer incidence rose during the 1980s and 1990s largely because of the increased detection of asymptomatic disease during the rapid uptake of mammography screening, which increased in prevalence from 29% in 1987 to 70% in 2000.</a:t>
            </a:r>
            <a:r>
              <a:rPr lang="en-US" sz="20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42</a:t>
            </a:r>
            <a:r>
              <a:rPr lang="en-US" sz="2000" dirty="0">
                <a:latin typeface="Times New Roman" panose="02020603050405020304" pitchFamily="18" charset="0"/>
                <a:cs typeface="Times New Roman" panose="02020603050405020304" pitchFamily="18" charset="0"/>
              </a:rPr>
              <a:t> Consequently, among women aged 50 years and older, the rate of DCIS increased more than 10-fold, from 7 cases per 100,000 in 1980 to 73 cases per 100,000 in 2000, and the rate of invasive breast cancer increased by 40%, from 275 to 380 cases per 100,000 (Figure </a:t>
            </a:r>
            <a:r>
              <a:rPr lang="en-US" sz="20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5</a:t>
            </a:r>
            <a:r>
              <a:rPr lang="en-US" sz="2000" dirty="0">
                <a:latin typeface="Times New Roman" panose="02020603050405020304" pitchFamily="18" charset="0"/>
                <a:cs typeface="Times New Roman" panose="02020603050405020304" pitchFamily="18" charset="0"/>
              </a:rPr>
              <a:t>). The DCIS incidence rate continued to increase until around 2008 but has since decreased by 1.5% per year through 2019.</a:t>
            </a:r>
            <a:r>
              <a:rPr lang="en-US" sz="20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8</a:t>
            </a: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10</a:t>
            </a:r>
            <a:endParaRPr lang="en-US" sz="2000" dirty="0">
              <a:latin typeface="Times New Roman" panose="02020603050405020304" pitchFamily="18" charset="0"/>
              <a:cs typeface="Times New Roman" panose="02020603050405020304" pitchFamily="18" charset="0"/>
            </a:endParaRPr>
          </a:p>
        </p:txBody>
      </p:sp>
      <p:pic>
        <p:nvPicPr>
          <p:cNvPr id="5" name="Picture 4" descr="A graph of age-related diseases&#10;&#10;AI-generated content may be incorrect.">
            <a:extLst>
              <a:ext uri="{FF2B5EF4-FFF2-40B4-BE49-F238E27FC236}">
                <a16:creationId xmlns:a16="http://schemas.microsoft.com/office/drawing/2014/main" id="{AA256B47-0684-8266-825D-183C4B44C541}"/>
              </a:ext>
            </a:extLst>
          </p:cNvPr>
          <p:cNvPicPr>
            <a:picLocks noChangeAspect="1"/>
          </p:cNvPicPr>
          <p:nvPr/>
        </p:nvPicPr>
        <p:blipFill>
          <a:blip r:embed="rId6"/>
          <a:stretch>
            <a:fillRect/>
          </a:stretch>
        </p:blipFill>
        <p:spPr>
          <a:xfrm>
            <a:off x="2579160" y="3126565"/>
            <a:ext cx="6843891" cy="3541714"/>
          </a:xfrm>
          <a:prstGeom prst="rect">
            <a:avLst/>
          </a:prstGeom>
          <a:noFill/>
        </p:spPr>
      </p:pic>
    </p:spTree>
    <p:extLst>
      <p:ext uri="{BB962C8B-B14F-4D97-AF65-F5344CB8AC3E}">
        <p14:creationId xmlns:p14="http://schemas.microsoft.com/office/powerpoint/2010/main" val="1421361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ata processing process&#10;&#10;AI-generated content may be incorrect.">
            <a:extLst>
              <a:ext uri="{FF2B5EF4-FFF2-40B4-BE49-F238E27FC236}">
                <a16:creationId xmlns:a16="http://schemas.microsoft.com/office/drawing/2014/main" id="{0B8C7331-F019-7BB4-067C-2E02A909D404}"/>
              </a:ext>
            </a:extLst>
          </p:cNvPr>
          <p:cNvPicPr>
            <a:picLocks noChangeAspect="1"/>
          </p:cNvPicPr>
          <p:nvPr/>
        </p:nvPicPr>
        <p:blipFill>
          <a:blip r:embed="rId2"/>
          <a:stretch>
            <a:fillRect/>
          </a:stretch>
        </p:blipFill>
        <p:spPr>
          <a:xfrm>
            <a:off x="1654629" y="1175657"/>
            <a:ext cx="4441371" cy="5393093"/>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12FBD8B0-B9B9-162B-A096-ACD8EB34484C}"/>
              </a:ext>
            </a:extLst>
          </p:cNvPr>
          <p:cNvSpPr txBox="1"/>
          <p:nvPr/>
        </p:nvSpPr>
        <p:spPr>
          <a:xfrm>
            <a:off x="1922105" y="373224"/>
            <a:ext cx="8668139" cy="707886"/>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Implementation Of Model</a:t>
            </a:r>
          </a:p>
        </p:txBody>
      </p:sp>
      <p:pic>
        <p:nvPicPr>
          <p:cNvPr id="3" name="Picture 2" descr="A diagram of a process&#10;&#10;AI-generated content may be incorrect.">
            <a:extLst>
              <a:ext uri="{FF2B5EF4-FFF2-40B4-BE49-F238E27FC236}">
                <a16:creationId xmlns:a16="http://schemas.microsoft.com/office/drawing/2014/main" id="{01F08B90-5BD3-EAB9-2EC8-AFEDD00827BC}"/>
              </a:ext>
            </a:extLst>
          </p:cNvPr>
          <p:cNvPicPr>
            <a:picLocks noChangeAspect="1"/>
          </p:cNvPicPr>
          <p:nvPr/>
        </p:nvPicPr>
        <p:blipFill>
          <a:blip r:embed="rId3"/>
          <a:stretch>
            <a:fillRect/>
          </a:stretch>
        </p:blipFill>
        <p:spPr>
          <a:xfrm>
            <a:off x="6805127" y="1175657"/>
            <a:ext cx="3732244" cy="5393093"/>
          </a:xfrm>
          <a:prstGeom prst="rect">
            <a:avLst/>
          </a:prstGeom>
        </p:spPr>
      </p:pic>
    </p:spTree>
    <p:extLst>
      <p:ext uri="{BB962C8B-B14F-4D97-AF65-F5344CB8AC3E}">
        <p14:creationId xmlns:p14="http://schemas.microsoft.com/office/powerpoint/2010/main" val="3719962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F27A8D-13B8-BC36-0CF2-031FDD87EA37}"/>
              </a:ext>
            </a:extLst>
          </p:cNvPr>
          <p:cNvSpPr txBox="1"/>
          <p:nvPr/>
        </p:nvSpPr>
        <p:spPr>
          <a:xfrm>
            <a:off x="1141413" y="618518"/>
            <a:ext cx="9905998" cy="147857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5400" kern="1200" cap="all" baseline="0" dirty="0">
                <a:latin typeface="+mj-lt"/>
                <a:ea typeface="+mj-ea"/>
                <a:cs typeface="+mj-cs"/>
              </a:rPr>
              <a:t>Algorithms for Modeling</a:t>
            </a:r>
          </a:p>
        </p:txBody>
      </p:sp>
      <p:sp>
        <p:nvSpPr>
          <p:cNvPr id="3" name="TextBox 2">
            <a:extLst>
              <a:ext uri="{FF2B5EF4-FFF2-40B4-BE49-F238E27FC236}">
                <a16:creationId xmlns:a16="http://schemas.microsoft.com/office/drawing/2014/main" id="{1DD15877-F33B-CF62-E992-EA60B27F240B}"/>
              </a:ext>
            </a:extLst>
          </p:cNvPr>
          <p:cNvSpPr txBox="1"/>
          <p:nvPr/>
        </p:nvSpPr>
        <p:spPr>
          <a:xfrm>
            <a:off x="1007706" y="2249486"/>
            <a:ext cx="5012093" cy="3541714"/>
          </a:xfrm>
          <a:prstGeom prst="rect">
            <a:avLst/>
          </a:prstGeom>
        </p:spPr>
        <p:txBody>
          <a:bodyPr vert="horz" lIns="91440" tIns="45720" rIns="91440" bIns="45720" rtlCol="0">
            <a:normAutofit fontScale="92500" lnSpcReduction="20000"/>
          </a:bodyPr>
          <a:lstStyle/>
          <a:p>
            <a:pPr algn="just" defTabSz="914400">
              <a:lnSpc>
                <a:spcPct val="110000"/>
              </a:lnSpc>
              <a:spcBef>
                <a:spcPts val="1000"/>
              </a:spcBef>
              <a:buSzPct val="125000"/>
            </a:pPr>
            <a:r>
              <a:rPr lang="en-US" sz="2600" b="1"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Support Vector Machine (SVM) :-</a:t>
            </a:r>
            <a:endParaRPr lang="en-US" b="1" dirty="0">
              <a:latin typeface="Times New Roman" panose="02020603050405020304" pitchFamily="18" charset="0"/>
              <a:cs typeface="Times New Roman" panose="02020603050405020304" pitchFamily="18" charset="0"/>
            </a:endParaRPr>
          </a:p>
          <a:p>
            <a:pPr marL="228600" indent="-228600" algn="just" defTabSz="914400">
              <a:lnSpc>
                <a:spcPct val="110000"/>
              </a:lnSpc>
              <a:spcBef>
                <a:spcPts val="1000"/>
              </a:spcBef>
              <a:buSzPct val="12500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28600" indent="-228600" algn="just" defTabSz="914400">
              <a:lnSpc>
                <a:spcPct val="110000"/>
              </a:lnSpc>
              <a:spcBef>
                <a:spcPts val="1000"/>
              </a:spcBef>
              <a:buSzPct val="125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A support vector machine (SVM) is a supervised machine learning algorithm that classifies data by finding an optimal line or hyperplane that maximizes the distance between each class in an N-dimensional space.</a:t>
            </a:r>
          </a:p>
          <a:p>
            <a:pPr marL="228600" indent="-228600" algn="just" defTabSz="914400">
              <a:lnSpc>
                <a:spcPct val="110000"/>
              </a:lnSpc>
              <a:spcBef>
                <a:spcPts val="1000"/>
              </a:spcBef>
              <a:buSzPct val="1250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SVM is widely used in </a:t>
            </a:r>
            <a:r>
              <a:rPr lang="en-US" sz="1900" b="1" dirty="0">
                <a:latin typeface="Times New Roman" panose="02020603050405020304" pitchFamily="18" charset="0"/>
                <a:cs typeface="Times New Roman" panose="02020603050405020304" pitchFamily="18" charset="0"/>
              </a:rPr>
              <a:t>cancer detection</a:t>
            </a:r>
            <a:r>
              <a:rPr lang="en-US" sz="1900" dirty="0">
                <a:latin typeface="Times New Roman" panose="02020603050405020304" pitchFamily="18" charset="0"/>
                <a:cs typeface="Times New Roman" panose="02020603050405020304" pitchFamily="18" charset="0"/>
              </a:rPr>
              <a:t> due to its high performance on classification tasks, especially with high-dimensional data like medical features.</a:t>
            </a:r>
          </a:p>
        </p:txBody>
      </p:sp>
      <p:pic>
        <p:nvPicPr>
          <p:cNvPr id="2050" name="Picture 2" descr="Finding the max margin to generate optimal hyperplane ">
            <a:extLst>
              <a:ext uri="{FF2B5EF4-FFF2-40B4-BE49-F238E27FC236}">
                <a16:creationId xmlns:a16="http://schemas.microsoft.com/office/drawing/2014/main" id="{CD6B17F9-CA4B-DDC3-39A1-26BF896F48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8122" y="2606531"/>
            <a:ext cx="4609289" cy="2827623"/>
          </a:xfrm>
          <a:prstGeom prst="rect">
            <a:avLst/>
          </a:prstGeom>
          <a:solidFill>
            <a:srgbClr val="FFFFFF"/>
          </a:solidFill>
        </p:spPr>
      </p:pic>
    </p:spTree>
    <p:extLst>
      <p:ext uri="{BB962C8B-B14F-4D97-AF65-F5344CB8AC3E}">
        <p14:creationId xmlns:p14="http://schemas.microsoft.com/office/powerpoint/2010/main" val="2278961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5B052E8F-0E99-BAA3-0179-934DB0128F50}"/>
              </a:ext>
            </a:extLst>
          </p:cNvPr>
          <p:cNvGraphicFramePr>
            <a:graphicFrameLocks noGrp="1"/>
          </p:cNvGraphicFramePr>
          <p:nvPr>
            <p:extLst>
              <p:ext uri="{D42A27DB-BD31-4B8C-83A1-F6EECF244321}">
                <p14:modId xmlns:p14="http://schemas.microsoft.com/office/powerpoint/2010/main" val="2095411112"/>
              </p:ext>
            </p:extLst>
          </p:nvPr>
        </p:nvGraphicFramePr>
        <p:xfrm>
          <a:off x="1502229" y="354563"/>
          <a:ext cx="9433249" cy="2808517"/>
        </p:xfrm>
        <a:graphic>
          <a:graphicData uri="http://schemas.openxmlformats.org/drawingml/2006/table">
            <a:tbl>
              <a:tblPr firstRow="1" bandRow="1">
                <a:tableStyleId>{5C22544A-7EE6-4342-B048-85BDC9FD1C3A}</a:tableStyleId>
              </a:tblPr>
              <a:tblGrid>
                <a:gridCol w="4496398">
                  <a:extLst>
                    <a:ext uri="{9D8B030D-6E8A-4147-A177-3AD203B41FA5}">
                      <a16:colId xmlns:a16="http://schemas.microsoft.com/office/drawing/2014/main" val="538218335"/>
                    </a:ext>
                  </a:extLst>
                </a:gridCol>
                <a:gridCol w="4936851">
                  <a:extLst>
                    <a:ext uri="{9D8B030D-6E8A-4147-A177-3AD203B41FA5}">
                      <a16:colId xmlns:a16="http://schemas.microsoft.com/office/drawing/2014/main" val="3862977977"/>
                    </a:ext>
                  </a:extLst>
                </a:gridCol>
              </a:tblGrid>
              <a:tr h="598913">
                <a:tc gridSpan="2">
                  <a:txBody>
                    <a:bodyPr/>
                    <a:lstStyle/>
                    <a:p>
                      <a:pPr algn="ctr"/>
                      <a:r>
                        <a:rPr lang="en-US" sz="3200" b="1" dirty="0">
                          <a:latin typeface="Times New Roman" panose="02020603050405020304" pitchFamily="18" charset="0"/>
                          <a:cs typeface="Times New Roman" panose="02020603050405020304" pitchFamily="18" charset="0"/>
                        </a:rPr>
                        <a:t>Why SVM Works Well in Cancer Detection</a:t>
                      </a:r>
                      <a:endParaRPr lang="en-IN" sz="3200" b="1"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1382400119"/>
                  </a:ext>
                </a:extLst>
              </a:tr>
              <a:tr h="386912">
                <a:tc>
                  <a:txBody>
                    <a:bodyPr/>
                    <a:lstStyle/>
                    <a:p>
                      <a:pPr algn="ctr"/>
                      <a:r>
                        <a:rPr lang="en-IN" dirty="0">
                          <a:latin typeface="Times New Roman" panose="02020603050405020304" pitchFamily="18" charset="0"/>
                          <a:cs typeface="Times New Roman" panose="02020603050405020304" pitchFamily="18" charset="0"/>
                        </a:rPr>
                        <a:t>Feature</a:t>
                      </a:r>
                    </a:p>
                  </a:txBody>
                  <a:tcPr anchor="ctr">
                    <a:solidFill>
                      <a:schemeClr val="accent5">
                        <a:lumMod val="60000"/>
                        <a:lumOff val="40000"/>
                      </a:schemeClr>
                    </a:solidFill>
                  </a:tcPr>
                </a:tc>
                <a:tc>
                  <a:txBody>
                    <a:bodyPr/>
                    <a:lstStyle/>
                    <a:p>
                      <a:pPr algn="ctr"/>
                      <a:r>
                        <a:rPr lang="en-IN" dirty="0">
                          <a:latin typeface="Times New Roman" panose="02020603050405020304" pitchFamily="18" charset="0"/>
                          <a:cs typeface="Times New Roman" panose="02020603050405020304" pitchFamily="18" charset="0"/>
                        </a:rPr>
                        <a:t>Benefit</a:t>
                      </a:r>
                    </a:p>
                  </a:txBody>
                  <a:tcPr anchor="ctr">
                    <a:solidFill>
                      <a:schemeClr val="accent5">
                        <a:lumMod val="60000"/>
                        <a:lumOff val="40000"/>
                      </a:schemeClr>
                    </a:solidFill>
                  </a:tcPr>
                </a:tc>
                <a:extLst>
                  <a:ext uri="{0D108BD9-81ED-4DB2-BD59-A6C34878D82A}">
                    <a16:rowId xmlns:a16="http://schemas.microsoft.com/office/drawing/2014/main" val="770834585"/>
                  </a:ext>
                </a:extLst>
              </a:tr>
              <a:tr h="661956">
                <a:tc>
                  <a:txBody>
                    <a:bodyPr/>
                    <a:lstStyle/>
                    <a:p>
                      <a:pPr algn="ctr"/>
                      <a:r>
                        <a:rPr lang="en-IN" b="0" dirty="0">
                          <a:latin typeface="Times New Roman" panose="02020603050405020304" pitchFamily="18" charset="0"/>
                          <a:cs typeface="Times New Roman" panose="02020603050405020304" pitchFamily="18" charset="0"/>
                        </a:rPr>
                        <a:t>Handles High-Dimension Data</a:t>
                      </a:r>
                    </a:p>
                  </a:txBody>
                  <a:tcPr anchor="ctr"/>
                </a:tc>
                <a:tc>
                  <a:txBody>
                    <a:bodyPr/>
                    <a:lstStyle/>
                    <a:p>
                      <a:pPr algn="ctr"/>
                      <a:r>
                        <a:rPr lang="en-US" b="0" dirty="0">
                          <a:latin typeface="Times New Roman" panose="02020603050405020304" pitchFamily="18" charset="0"/>
                          <a:cs typeface="Times New Roman" panose="02020603050405020304" pitchFamily="18" charset="0"/>
                        </a:rPr>
                        <a:t>Works well with medical datasets that have many features</a:t>
                      </a:r>
                    </a:p>
                  </a:txBody>
                  <a:tcPr anchor="ctr"/>
                </a:tc>
                <a:extLst>
                  <a:ext uri="{0D108BD9-81ED-4DB2-BD59-A6C34878D82A}">
                    <a16:rowId xmlns:a16="http://schemas.microsoft.com/office/drawing/2014/main" val="1419707890"/>
                  </a:ext>
                </a:extLst>
              </a:tr>
              <a:tr h="386912">
                <a:tc>
                  <a:txBody>
                    <a:bodyPr/>
                    <a:lstStyle/>
                    <a:p>
                      <a:pPr algn="ctr"/>
                      <a:r>
                        <a:rPr lang="en-IN" b="0" dirty="0">
                          <a:latin typeface="Times New Roman" panose="02020603050405020304" pitchFamily="18" charset="0"/>
                          <a:cs typeface="Times New Roman" panose="02020603050405020304" pitchFamily="18" charset="0"/>
                        </a:rPr>
                        <a:t>Margin Maximization</a:t>
                      </a:r>
                    </a:p>
                  </a:txBody>
                  <a:tcPr anchor="ctr"/>
                </a:tc>
                <a:tc>
                  <a:txBody>
                    <a:bodyPr/>
                    <a:lstStyle/>
                    <a:p>
                      <a:pPr algn="ctr"/>
                      <a:r>
                        <a:rPr lang="en-IN" b="0" dirty="0">
                          <a:latin typeface="Times New Roman" panose="02020603050405020304" pitchFamily="18" charset="0"/>
                          <a:cs typeface="Times New Roman" panose="02020603050405020304" pitchFamily="18" charset="0"/>
                        </a:rPr>
                        <a:t>Reduces overfitting in smaller datasets</a:t>
                      </a:r>
                    </a:p>
                  </a:txBody>
                  <a:tcPr anchor="ctr"/>
                </a:tc>
                <a:extLst>
                  <a:ext uri="{0D108BD9-81ED-4DB2-BD59-A6C34878D82A}">
                    <a16:rowId xmlns:a16="http://schemas.microsoft.com/office/drawing/2014/main" val="1158907180"/>
                  </a:ext>
                </a:extLst>
              </a:tr>
              <a:tr h="386912">
                <a:tc>
                  <a:txBody>
                    <a:bodyPr/>
                    <a:lstStyle/>
                    <a:p>
                      <a:pPr algn="ctr"/>
                      <a:r>
                        <a:rPr lang="en-IN" b="0" dirty="0">
                          <a:latin typeface="Times New Roman" panose="02020603050405020304" pitchFamily="18" charset="0"/>
                          <a:cs typeface="Times New Roman" panose="02020603050405020304" pitchFamily="18" charset="0"/>
                        </a:rPr>
                        <a:t>Robust to Outliers</a:t>
                      </a:r>
                    </a:p>
                  </a:txBody>
                  <a:tcPr anchor="ctr"/>
                </a:tc>
                <a:tc>
                  <a:txBody>
                    <a:bodyPr/>
                    <a:lstStyle/>
                    <a:p>
                      <a:pPr algn="ctr"/>
                      <a:r>
                        <a:rPr lang="en-US" b="0" dirty="0">
                          <a:latin typeface="Times New Roman" panose="02020603050405020304" pitchFamily="18" charset="0"/>
                          <a:cs typeface="Times New Roman" panose="02020603050405020304" pitchFamily="18" charset="0"/>
                        </a:rPr>
                        <a:t>Especially using soft margin parameter</a:t>
                      </a:r>
                      <a:endParaRPr lang="en-IN"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80282261"/>
                  </a:ext>
                </a:extLst>
              </a:tr>
              <a:tr h="386912">
                <a:tc>
                  <a:txBody>
                    <a:bodyPr/>
                    <a:lstStyle/>
                    <a:p>
                      <a:pPr algn="ctr"/>
                      <a:r>
                        <a:rPr lang="en-IN" b="0" dirty="0">
                          <a:latin typeface="Times New Roman" panose="02020603050405020304" pitchFamily="18" charset="0"/>
                          <a:cs typeface="Times New Roman" panose="02020603050405020304" pitchFamily="18" charset="0"/>
                        </a:rPr>
                        <a:t>Kernel Trick</a:t>
                      </a:r>
                    </a:p>
                  </a:txBody>
                  <a:tcPr anchor="ctr"/>
                </a:tc>
                <a:tc>
                  <a:txBody>
                    <a:bodyPr/>
                    <a:lstStyle/>
                    <a:p>
                      <a:pPr algn="ctr"/>
                      <a:r>
                        <a:rPr lang="en-IN" b="0" dirty="0">
                          <a:latin typeface="Times New Roman" panose="02020603050405020304" pitchFamily="18" charset="0"/>
                          <a:cs typeface="Times New Roman" panose="02020603050405020304" pitchFamily="18" charset="0"/>
                        </a:rPr>
                        <a:t>Allows non-linear separation in complex datasets</a:t>
                      </a:r>
                    </a:p>
                  </a:txBody>
                  <a:tcPr anchor="ctr"/>
                </a:tc>
                <a:extLst>
                  <a:ext uri="{0D108BD9-81ED-4DB2-BD59-A6C34878D82A}">
                    <a16:rowId xmlns:a16="http://schemas.microsoft.com/office/drawing/2014/main" val="4120410682"/>
                  </a:ext>
                </a:extLst>
              </a:tr>
            </a:tbl>
          </a:graphicData>
        </a:graphic>
      </p:graphicFrame>
      <p:graphicFrame>
        <p:nvGraphicFramePr>
          <p:cNvPr id="15" name="Table 14">
            <a:extLst>
              <a:ext uri="{FF2B5EF4-FFF2-40B4-BE49-F238E27FC236}">
                <a16:creationId xmlns:a16="http://schemas.microsoft.com/office/drawing/2014/main" id="{F37B3734-9703-BF10-5F1A-B52B96B18A65}"/>
              </a:ext>
            </a:extLst>
          </p:cNvPr>
          <p:cNvGraphicFramePr>
            <a:graphicFrameLocks noGrp="1"/>
          </p:cNvGraphicFramePr>
          <p:nvPr>
            <p:extLst>
              <p:ext uri="{D42A27DB-BD31-4B8C-83A1-F6EECF244321}">
                <p14:modId xmlns:p14="http://schemas.microsoft.com/office/powerpoint/2010/main" val="2763822883"/>
              </p:ext>
            </p:extLst>
          </p:nvPr>
        </p:nvGraphicFramePr>
        <p:xfrm>
          <a:off x="1502229" y="3429000"/>
          <a:ext cx="9433248" cy="2654560"/>
        </p:xfrm>
        <a:graphic>
          <a:graphicData uri="http://schemas.openxmlformats.org/drawingml/2006/table">
            <a:tbl>
              <a:tblPr/>
              <a:tblGrid>
                <a:gridCol w="4716624">
                  <a:extLst>
                    <a:ext uri="{9D8B030D-6E8A-4147-A177-3AD203B41FA5}">
                      <a16:colId xmlns:a16="http://schemas.microsoft.com/office/drawing/2014/main" val="526550293"/>
                    </a:ext>
                  </a:extLst>
                </a:gridCol>
                <a:gridCol w="4716624">
                  <a:extLst>
                    <a:ext uri="{9D8B030D-6E8A-4147-A177-3AD203B41FA5}">
                      <a16:colId xmlns:a16="http://schemas.microsoft.com/office/drawing/2014/main" val="1443588868"/>
                    </a:ext>
                  </a:extLst>
                </a:gridCol>
              </a:tblGrid>
              <a:tr h="530912">
                <a:tc>
                  <a:txBody>
                    <a:bodyPr/>
                    <a:lstStyle/>
                    <a:p>
                      <a:r>
                        <a:rPr lang="en-IN" dirty="0"/>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r>
                        <a:rPr lang="en-IN"/>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572184551"/>
                  </a:ext>
                </a:extLst>
              </a:tr>
              <a:tr h="530912">
                <a:tc>
                  <a:txBody>
                    <a:bodyPr/>
                    <a:lstStyle/>
                    <a:p>
                      <a:r>
                        <a:rPr lang="en-IN" dirty="0"/>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alpha val="0"/>
                      </a:schemeClr>
                    </a:solidFill>
                  </a:tcPr>
                </a:tc>
                <a:extLst>
                  <a:ext uri="{0D108BD9-81ED-4DB2-BD59-A6C34878D82A}">
                    <a16:rowId xmlns:a16="http://schemas.microsoft.com/office/drawing/2014/main" val="4210285080"/>
                  </a:ext>
                </a:extLst>
              </a:tr>
              <a:tr h="530912">
                <a:tc>
                  <a:txBody>
                    <a:bodyPr/>
                    <a:lstStyle/>
                    <a:p>
                      <a:r>
                        <a:rPr lang="en-IN" dirty="0"/>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r>
                        <a:rPr lang="en-IN" dirty="0"/>
                        <a:t>~97%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688129383"/>
                  </a:ext>
                </a:extLst>
              </a:tr>
              <a:tr h="530912">
                <a:tc>
                  <a:txBody>
                    <a:bodyPr/>
                    <a:lstStyle/>
                    <a:p>
                      <a:r>
                        <a:rPr lang="en-IN" dirty="0"/>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alpha val="0"/>
                      </a:schemeClr>
                    </a:solidFill>
                  </a:tcPr>
                </a:tc>
                <a:tc>
                  <a:txBody>
                    <a:bodyPr/>
                    <a:lstStyle/>
                    <a:p>
                      <a:r>
                        <a:rPr lang="en-IN" dirty="0"/>
                        <a:t>~96%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alpha val="0"/>
                      </a:schemeClr>
                    </a:solidFill>
                  </a:tcPr>
                </a:tc>
                <a:extLst>
                  <a:ext uri="{0D108BD9-81ED-4DB2-BD59-A6C34878D82A}">
                    <a16:rowId xmlns:a16="http://schemas.microsoft.com/office/drawing/2014/main" val="2249442831"/>
                  </a:ext>
                </a:extLst>
              </a:tr>
              <a:tr h="530912">
                <a:tc>
                  <a:txBody>
                    <a:bodyPr/>
                    <a:lstStyle/>
                    <a:p>
                      <a:r>
                        <a:rPr lang="en-IN" dirty="0"/>
                        <a:t>F1-score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tc>
                  <a:txBody>
                    <a:bodyPr/>
                    <a:lstStyle/>
                    <a:p>
                      <a:r>
                        <a:rPr lang="en-IN" dirty="0"/>
                        <a:t>~96%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352719976"/>
                  </a:ext>
                </a:extLst>
              </a:tr>
            </a:tbl>
          </a:graphicData>
        </a:graphic>
      </p:graphicFrame>
      <p:sp>
        <p:nvSpPr>
          <p:cNvPr id="2" name="TextBox 1">
            <a:extLst>
              <a:ext uri="{FF2B5EF4-FFF2-40B4-BE49-F238E27FC236}">
                <a16:creationId xmlns:a16="http://schemas.microsoft.com/office/drawing/2014/main" id="{0E8F271E-318D-7EE3-A635-B8BC1B5F6E45}"/>
              </a:ext>
            </a:extLst>
          </p:cNvPr>
          <p:cNvSpPr txBox="1"/>
          <p:nvPr/>
        </p:nvSpPr>
        <p:spPr>
          <a:xfrm>
            <a:off x="1502229" y="6242181"/>
            <a:ext cx="5682342" cy="369332"/>
          </a:xfrm>
          <a:prstGeom prst="rect">
            <a:avLst/>
          </a:prstGeom>
          <a:noFill/>
        </p:spPr>
        <p:txBody>
          <a:bodyPr wrap="square" rtlCol="0">
            <a:spAutoFit/>
          </a:bodyPr>
          <a:lstStyle/>
          <a:p>
            <a:r>
              <a:rPr lang="en-IN" dirty="0"/>
              <a:t>* From reference 1 &amp; 2 </a:t>
            </a:r>
          </a:p>
        </p:txBody>
      </p:sp>
    </p:spTree>
    <p:extLst>
      <p:ext uri="{BB962C8B-B14F-4D97-AF65-F5344CB8AC3E}">
        <p14:creationId xmlns:p14="http://schemas.microsoft.com/office/powerpoint/2010/main" val="957076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E5004C-2074-9E69-47BE-3D7A85494E4E}"/>
              </a:ext>
            </a:extLst>
          </p:cNvPr>
          <p:cNvSpPr txBox="1"/>
          <p:nvPr/>
        </p:nvSpPr>
        <p:spPr>
          <a:xfrm>
            <a:off x="1287624" y="1334278"/>
            <a:ext cx="9675845" cy="5078313"/>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2)</a:t>
            </a:r>
            <a:r>
              <a:rPr lang="en-IN" sz="2400" b="1"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Logistic Regression:-  </a:t>
            </a:r>
            <a:endParaRPr lang="en-IN" sz="2400"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Logistic Regression is a supervised machine learning algorithm used for classification problems. Unlike linear regression which predicts continuous values it predicts the probability that an input belongs to a specific class. It is used for binary classification where the output can be one of two possible categories such as Yes/No, True/False or 0/1. It uses sigmoid function to convert inputs into a probability value between 0 and 1.</a:t>
            </a:r>
          </a:p>
          <a:p>
            <a:pPr>
              <a:lnSpc>
                <a:spcPct val="150000"/>
              </a:lnSpc>
            </a:pPr>
            <a:r>
              <a:rPr lang="en-US" sz="2400" b="1" dirty="0">
                <a:latin typeface="Times New Roman" panose="02020603050405020304" pitchFamily="18" charset="0"/>
                <a:cs typeface="Times New Roman" panose="02020603050405020304" pitchFamily="18" charset="0"/>
              </a:rPr>
              <a:t>Purpose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create a breast cancer risk estimation model based on the descriptors of National Mammography Database (NMD) format using logistic regression that can aid in decision-making for early detection of breast cancer. (3)</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221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316DD5-17FF-BF60-45FF-CC0782D186DD}"/>
              </a:ext>
            </a:extLst>
          </p:cNvPr>
          <p:cNvSpPr txBox="1"/>
          <p:nvPr/>
        </p:nvSpPr>
        <p:spPr>
          <a:xfrm>
            <a:off x="1278293" y="755779"/>
            <a:ext cx="9955763" cy="5792868"/>
          </a:xfrm>
          <a:prstGeom prst="rect">
            <a:avLst/>
          </a:prstGeom>
          <a:noFill/>
        </p:spPr>
        <p:txBody>
          <a:bodyPr wrap="square">
            <a:spAutoFit/>
          </a:bodyPr>
          <a:lstStyle/>
          <a:p>
            <a:pPr algn="just">
              <a:lnSpc>
                <a:spcPts val="2250"/>
              </a:lnSpc>
              <a:buNone/>
            </a:pPr>
            <a:r>
              <a:rPr lang="en-US" sz="2400" b="1" dirty="0">
                <a:effectLst/>
                <a:latin typeface="Times New Roman" panose="02020603050405020304" pitchFamily="18" charset="0"/>
                <a:cs typeface="Times New Roman" panose="02020603050405020304" pitchFamily="18" charset="0"/>
              </a:rPr>
              <a:t>Material and Methods</a:t>
            </a:r>
          </a:p>
          <a:p>
            <a:pPr marL="285750" indent="-285750" algn="just">
              <a:lnSpc>
                <a:spcPct val="150000"/>
              </a:lnSpc>
              <a:spcBef>
                <a:spcPts val="2250"/>
              </a:spcBef>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Institutional Review Board waived this HIPAA-compliant retrospective study from requiring informed consent. </a:t>
            </a:r>
          </a:p>
          <a:p>
            <a:pPr marL="285750" indent="-285750" algn="just">
              <a:lnSpc>
                <a:spcPct val="150000"/>
              </a:lnSpc>
              <a:spcBef>
                <a:spcPts val="2250"/>
              </a:spcBef>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We created two logistic regression models based on the mammography features and demographic data for 62,219 consecutive cases of mammography records from 48,744 studies in 18,270 patients reported using the Breast Imaging-Reporting and Data System (BI-RADS) lexicon and NMD format between 4/5/1999 and 2/9/2004. </a:t>
            </a:r>
          </a:p>
          <a:p>
            <a:pPr marL="285750" indent="-285750" algn="just">
              <a:lnSpc>
                <a:spcPct val="150000"/>
              </a:lnSpc>
              <a:spcBef>
                <a:spcPts val="2250"/>
              </a:spcBef>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State cancer registry outcomes matched with our data served as the reference standard. The probability of cancer was the outcome in both models. Model-2 was built using all variables in Model-1 plus radiologists’ BI-RADS assessment codes. We used 10-fold cross-validation to train and test the model and calculate the area under the receiver operating characteristic (ROC) curves (A</a:t>
            </a:r>
            <a:r>
              <a:rPr lang="en-US" baseline="-25000" dirty="0">
                <a:effectLst/>
                <a:latin typeface="Times New Roman" panose="02020603050405020304" pitchFamily="18" charset="0"/>
                <a:cs typeface="Times New Roman" panose="02020603050405020304" pitchFamily="18" charset="0"/>
              </a:rPr>
              <a:t>z</a:t>
            </a:r>
            <a:r>
              <a:rPr lang="en-US" dirty="0">
                <a:effectLst/>
                <a:latin typeface="Times New Roman" panose="02020603050405020304" pitchFamily="18" charset="0"/>
                <a:cs typeface="Times New Roman" panose="02020603050405020304" pitchFamily="18" charset="0"/>
              </a:rPr>
              <a:t>) to measure the performance. Both models were compared to the radiologists’ BI-RADS assessments.</a:t>
            </a:r>
          </a:p>
        </p:txBody>
      </p:sp>
    </p:spTree>
    <p:extLst>
      <p:ext uri="{BB962C8B-B14F-4D97-AF65-F5344CB8AC3E}">
        <p14:creationId xmlns:p14="http://schemas.microsoft.com/office/powerpoint/2010/main" val="3528838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CE4895-2515-1079-8A27-BB28F3BAB5EA}"/>
              </a:ext>
            </a:extLst>
          </p:cNvPr>
          <p:cNvSpPr txBox="1"/>
          <p:nvPr/>
        </p:nvSpPr>
        <p:spPr>
          <a:xfrm>
            <a:off x="1222311" y="1138335"/>
            <a:ext cx="7380514" cy="5636415"/>
          </a:xfrm>
          <a:prstGeom prst="rect">
            <a:avLst/>
          </a:prstGeom>
          <a:noFill/>
        </p:spPr>
        <p:txBody>
          <a:bodyPr wrap="square">
            <a:spAutoFit/>
          </a:bodyPr>
          <a:lstStyle/>
          <a:p>
            <a:pPr>
              <a:lnSpc>
                <a:spcPts val="2250"/>
              </a:lnSpc>
              <a:buNone/>
            </a:pPr>
            <a:r>
              <a:rPr lang="en-US" sz="2400" b="1" dirty="0">
                <a:effectLst/>
                <a:latin typeface="Times New Roman" panose="02020603050405020304" pitchFamily="18" charset="0"/>
                <a:cs typeface="Times New Roman" panose="02020603050405020304" pitchFamily="18" charset="0"/>
              </a:rPr>
              <a:t>Results</a:t>
            </a:r>
          </a:p>
          <a:p>
            <a:pPr algn="just">
              <a:lnSpc>
                <a:spcPct val="150000"/>
              </a:lnSpc>
              <a:spcBef>
                <a:spcPts val="2250"/>
              </a:spcBef>
              <a:buNone/>
            </a:pPr>
            <a:r>
              <a:rPr lang="en-US" dirty="0">
                <a:effectLst/>
                <a:latin typeface="Times New Roman" panose="02020603050405020304" pitchFamily="18" charset="0"/>
                <a:cs typeface="Times New Roman" panose="02020603050405020304" pitchFamily="18" charset="0"/>
              </a:rPr>
              <a:t>Radiologists achieved an A</a:t>
            </a:r>
            <a:r>
              <a:rPr lang="en-US" baseline="-25000" dirty="0">
                <a:effectLst/>
                <a:latin typeface="Times New Roman" panose="02020603050405020304" pitchFamily="18" charset="0"/>
                <a:cs typeface="Times New Roman" panose="02020603050405020304" pitchFamily="18" charset="0"/>
              </a:rPr>
              <a:t>z</a:t>
            </a:r>
            <a:r>
              <a:rPr lang="en-US" dirty="0">
                <a:effectLst/>
                <a:latin typeface="Times New Roman" panose="02020603050405020304" pitchFamily="18" charset="0"/>
                <a:cs typeface="Times New Roman" panose="02020603050405020304" pitchFamily="18" charset="0"/>
              </a:rPr>
              <a:t> value of 0.939 ± 0.011. The A</a:t>
            </a:r>
            <a:r>
              <a:rPr lang="en-US" baseline="-25000" dirty="0">
                <a:effectLst/>
                <a:latin typeface="Times New Roman" panose="02020603050405020304" pitchFamily="18" charset="0"/>
                <a:cs typeface="Times New Roman" panose="02020603050405020304" pitchFamily="18" charset="0"/>
              </a:rPr>
              <a:t>z</a:t>
            </a:r>
            <a:r>
              <a:rPr lang="en-US" dirty="0">
                <a:effectLst/>
                <a:latin typeface="Times New Roman" panose="02020603050405020304" pitchFamily="18" charset="0"/>
                <a:cs typeface="Times New Roman" panose="02020603050405020304" pitchFamily="18" charset="0"/>
              </a:rPr>
              <a:t> was 0.927 ± 0.015 for Model-1 and 0.963 ± 0.009 for Model-2. At 90% specificity, the sensitivity of Model-2 (90%) was significantly better (P&lt;0.001) than that of radiologists (82%) and Model-1 (83%). At 85% sensitivity, the specificity of Model 2 (96%) was significantly better (P&lt;0.001) than that of radiologists (88%) and Model-1 (87%).</a:t>
            </a:r>
          </a:p>
          <a:p>
            <a:pPr algn="just">
              <a:lnSpc>
                <a:spcPct val="150000"/>
              </a:lnSpc>
              <a:buNone/>
            </a:pPr>
            <a:endParaRPr lang="en-US" dirty="0">
              <a:effectLst/>
              <a:latin typeface="Times New Roman" panose="02020603050405020304" pitchFamily="18" charset="0"/>
              <a:cs typeface="Times New Roman" panose="02020603050405020304" pitchFamily="18" charset="0"/>
            </a:endParaRPr>
          </a:p>
          <a:p>
            <a:pPr algn="just">
              <a:lnSpc>
                <a:spcPct val="150000"/>
              </a:lnSpc>
              <a:buNone/>
            </a:pPr>
            <a:r>
              <a:rPr lang="en-US" sz="2400" b="1" dirty="0">
                <a:effectLst/>
                <a:latin typeface="Times New Roman" panose="02020603050405020304" pitchFamily="18" charset="0"/>
                <a:cs typeface="Times New Roman" panose="02020603050405020304" pitchFamily="18" charset="0"/>
              </a:rPr>
              <a:t>Conclusions</a:t>
            </a:r>
          </a:p>
          <a:p>
            <a:pPr algn="just">
              <a:lnSpc>
                <a:spcPct val="150000"/>
              </a:lnSpc>
              <a:spcBef>
                <a:spcPts val="2250"/>
              </a:spcBef>
            </a:pPr>
            <a:r>
              <a:rPr lang="en-US" dirty="0">
                <a:effectLst/>
                <a:latin typeface="Times New Roman" panose="02020603050405020304" pitchFamily="18" charset="0"/>
                <a:cs typeface="Times New Roman" panose="02020603050405020304" pitchFamily="18" charset="0"/>
              </a:rPr>
              <a:t>Our logistic regression model can effectively discriminate between benign and malignant breast disease and identify the most important features associated with breast cancer.</a:t>
            </a:r>
          </a:p>
        </p:txBody>
      </p:sp>
      <p:pic>
        <p:nvPicPr>
          <p:cNvPr id="4" name="Picture 3" descr="A chart of a color chart&#10;&#10;AI-generated content may be incorrect.">
            <a:extLst>
              <a:ext uri="{FF2B5EF4-FFF2-40B4-BE49-F238E27FC236}">
                <a16:creationId xmlns:a16="http://schemas.microsoft.com/office/drawing/2014/main" id="{118C06CB-C736-D111-DCC8-823348B39B17}"/>
              </a:ext>
            </a:extLst>
          </p:cNvPr>
          <p:cNvPicPr>
            <a:picLocks noChangeAspect="1"/>
          </p:cNvPicPr>
          <p:nvPr/>
        </p:nvPicPr>
        <p:blipFill>
          <a:blip r:embed="rId2"/>
          <a:stretch>
            <a:fillRect/>
          </a:stretch>
        </p:blipFill>
        <p:spPr>
          <a:xfrm>
            <a:off x="8910736" y="1990141"/>
            <a:ext cx="3008630" cy="2600519"/>
          </a:xfrm>
          <a:prstGeom prst="rect">
            <a:avLst/>
          </a:prstGeom>
        </p:spPr>
      </p:pic>
    </p:spTree>
    <p:extLst>
      <p:ext uri="{BB962C8B-B14F-4D97-AF65-F5344CB8AC3E}">
        <p14:creationId xmlns:p14="http://schemas.microsoft.com/office/powerpoint/2010/main" val="1340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91A21-367A-4778-E2C0-DA607B34DE8B}"/>
              </a:ext>
            </a:extLst>
          </p:cNvPr>
          <p:cNvSpPr txBox="1"/>
          <p:nvPr/>
        </p:nvSpPr>
        <p:spPr>
          <a:xfrm>
            <a:off x="1315617" y="1166327"/>
            <a:ext cx="6214188" cy="4751557"/>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3) Random Forest:-</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is a machine learning algorithm that uses many decision trees to make better predictions. Each tree looks at different random parts of the data and their results are combined by voting for classification or averaging for regression. This helps in improving accuracy and reducing the error.</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 Forest (RF) is a powerful ensemble machine learning algorithm widely used in cancer detection models due to its high accuracy, robustness to noise, and ability to handle complex, nonlinear relationships.</a:t>
            </a:r>
            <a:endParaRPr lang="en-IN" dirty="0">
              <a:latin typeface="Times New Roman" panose="02020603050405020304" pitchFamily="18" charset="0"/>
              <a:cs typeface="Times New Roman" panose="02020603050405020304" pitchFamily="18" charset="0"/>
            </a:endParaRPr>
          </a:p>
        </p:txBody>
      </p:sp>
      <p:sp>
        <p:nvSpPr>
          <p:cNvPr id="4" name="AutoShape 4" descr="Flow diagram of random forest classifier for prediction of cancer disease.  | Download Scientific Diagram">
            <a:extLst>
              <a:ext uri="{FF2B5EF4-FFF2-40B4-BE49-F238E27FC236}">
                <a16:creationId xmlns:a16="http://schemas.microsoft.com/office/drawing/2014/main" id="{0316F2F3-E09F-9806-D78E-B01F86795456}"/>
              </a:ext>
            </a:extLst>
          </p:cNvPr>
          <p:cNvSpPr>
            <a:spLocks noChangeAspect="1" noChangeArrowheads="1"/>
          </p:cNvSpPr>
          <p:nvPr/>
        </p:nvSpPr>
        <p:spPr bwMode="auto">
          <a:xfrm>
            <a:off x="6096000" y="3799114"/>
            <a:ext cx="2049624" cy="20496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descr="Overall architecture diagram of MLR-RFC technique.">
            <a:extLst>
              <a:ext uri="{FF2B5EF4-FFF2-40B4-BE49-F238E27FC236}">
                <a16:creationId xmlns:a16="http://schemas.microsoft.com/office/drawing/2014/main" id="{4523300E-83D2-3423-721B-017D0A61A8E4}"/>
              </a:ext>
            </a:extLst>
          </p:cNvPr>
          <p:cNvSpPr>
            <a:spLocks noChangeAspect="1" noChangeArrowheads="1"/>
          </p:cNvSpPr>
          <p:nvPr/>
        </p:nvSpPr>
        <p:spPr bwMode="auto">
          <a:xfrm>
            <a:off x="5943600" y="3276600"/>
            <a:ext cx="1696616" cy="169661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descr="A diagram of a tree&#10;&#10;AI-generated content may be incorrect.">
            <a:extLst>
              <a:ext uri="{FF2B5EF4-FFF2-40B4-BE49-F238E27FC236}">
                <a16:creationId xmlns:a16="http://schemas.microsoft.com/office/drawing/2014/main" id="{7A388894-2751-5C7B-1D63-4990675D03F9}"/>
              </a:ext>
            </a:extLst>
          </p:cNvPr>
          <p:cNvPicPr>
            <a:picLocks noChangeAspect="1"/>
          </p:cNvPicPr>
          <p:nvPr/>
        </p:nvPicPr>
        <p:blipFill>
          <a:blip r:embed="rId2"/>
          <a:srcRect b="8041"/>
          <a:stretch>
            <a:fillRect/>
          </a:stretch>
        </p:blipFill>
        <p:spPr>
          <a:xfrm>
            <a:off x="7906525" y="2055296"/>
            <a:ext cx="3818654" cy="2442608"/>
          </a:xfrm>
          <a:prstGeom prst="rect">
            <a:avLst/>
          </a:prstGeom>
        </p:spPr>
      </p:pic>
    </p:spTree>
    <p:extLst>
      <p:ext uri="{BB962C8B-B14F-4D97-AF65-F5344CB8AC3E}">
        <p14:creationId xmlns:p14="http://schemas.microsoft.com/office/powerpoint/2010/main" val="3303354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forest disease">
            <a:extLst>
              <a:ext uri="{FF2B5EF4-FFF2-40B4-BE49-F238E27FC236}">
                <a16:creationId xmlns:a16="http://schemas.microsoft.com/office/drawing/2014/main" id="{FC347C9D-B6AB-F659-316A-0636DAAE1FE3}"/>
              </a:ext>
            </a:extLst>
          </p:cNvPr>
          <p:cNvPicPr>
            <a:picLocks noChangeAspect="1"/>
          </p:cNvPicPr>
          <p:nvPr/>
        </p:nvPicPr>
        <p:blipFill>
          <a:blip r:embed="rId2"/>
          <a:srcRect r="2" b="728"/>
          <a:stretch>
            <a:fillRect/>
          </a:stretch>
        </p:blipFill>
        <p:spPr>
          <a:xfrm>
            <a:off x="7380721" y="774440"/>
            <a:ext cx="3666690" cy="5016760"/>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5" name="TextBox 4">
            <a:extLst>
              <a:ext uri="{FF2B5EF4-FFF2-40B4-BE49-F238E27FC236}">
                <a16:creationId xmlns:a16="http://schemas.microsoft.com/office/drawing/2014/main" id="{D5666150-3F7B-2B6E-4384-28EAA116AA1A}"/>
              </a:ext>
            </a:extLst>
          </p:cNvPr>
          <p:cNvSpPr txBox="1"/>
          <p:nvPr/>
        </p:nvSpPr>
        <p:spPr>
          <a:xfrm>
            <a:off x="989044" y="774440"/>
            <a:ext cx="6055568" cy="2400657"/>
          </a:xfrm>
          <a:prstGeom prst="rect">
            <a:avLst/>
          </a:prstGeom>
          <a:noFill/>
        </p:spPr>
        <p:txBody>
          <a:bodyPr wrap="square">
            <a:spAutoFit/>
          </a:bodyPr>
          <a:lstStyle/>
          <a:p>
            <a:pPr algn="just">
              <a:buNone/>
            </a:pPr>
            <a:r>
              <a:rPr lang="en-US" sz="2400" b="1" dirty="0">
                <a:latin typeface="Times New Roman" panose="02020603050405020304" pitchFamily="18" charset="0"/>
                <a:cs typeface="Times New Roman" panose="02020603050405020304" pitchFamily="18" charset="0"/>
              </a:rPr>
              <a:t>Real-World Use Cases :- </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Breast cancer detection</a:t>
            </a:r>
            <a:r>
              <a:rPr lang="en-US" dirty="0">
                <a:latin typeface="Times New Roman" panose="02020603050405020304" pitchFamily="18" charset="0"/>
                <a:cs typeface="Times New Roman" panose="02020603050405020304" pitchFamily="18" charset="0"/>
              </a:rPr>
              <a:t> using mammography or biopsy-derived measurements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Lung cancer detection</a:t>
            </a:r>
            <a:r>
              <a:rPr lang="en-US" dirty="0">
                <a:latin typeface="Times New Roman" panose="02020603050405020304" pitchFamily="18" charset="0"/>
                <a:cs typeface="Times New Roman" panose="02020603050405020304" pitchFamily="18" charset="0"/>
              </a:rPr>
              <a:t> from CT or PET scan features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Cancer subtype classification</a:t>
            </a:r>
            <a:r>
              <a:rPr lang="en-US" dirty="0">
                <a:latin typeface="Times New Roman" panose="02020603050405020304" pitchFamily="18" charset="0"/>
                <a:cs typeface="Times New Roman" panose="02020603050405020304" pitchFamily="18" charset="0"/>
              </a:rPr>
              <a:t> using genetic or molecular biomarkers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Early screening systems</a:t>
            </a:r>
            <a:r>
              <a:rPr lang="en-US" dirty="0">
                <a:latin typeface="Times New Roman" panose="02020603050405020304" pitchFamily="18" charset="0"/>
                <a:cs typeface="Times New Roman" panose="02020603050405020304" pitchFamily="18" charset="0"/>
              </a:rPr>
              <a:t> combining imaging and demographic data</a:t>
            </a:r>
          </a:p>
        </p:txBody>
      </p:sp>
      <p:pic>
        <p:nvPicPr>
          <p:cNvPr id="8" name="Picture 7" descr="A chart of a color spectrum&#10;&#10;AI-generated content may be incorrect.">
            <a:extLst>
              <a:ext uri="{FF2B5EF4-FFF2-40B4-BE49-F238E27FC236}">
                <a16:creationId xmlns:a16="http://schemas.microsoft.com/office/drawing/2014/main" id="{B1262131-0D43-D4A7-42D5-FDFEB7C094F8}"/>
              </a:ext>
            </a:extLst>
          </p:cNvPr>
          <p:cNvPicPr>
            <a:picLocks noChangeAspect="1"/>
          </p:cNvPicPr>
          <p:nvPr/>
        </p:nvPicPr>
        <p:blipFill>
          <a:blip r:embed="rId3"/>
          <a:stretch>
            <a:fillRect/>
          </a:stretch>
        </p:blipFill>
        <p:spPr>
          <a:xfrm>
            <a:off x="1754544" y="3282820"/>
            <a:ext cx="3853154" cy="3220136"/>
          </a:xfrm>
          <a:prstGeom prst="rect">
            <a:avLst/>
          </a:prstGeom>
        </p:spPr>
      </p:pic>
    </p:spTree>
    <p:extLst>
      <p:ext uri="{BB962C8B-B14F-4D97-AF65-F5344CB8AC3E}">
        <p14:creationId xmlns:p14="http://schemas.microsoft.com/office/powerpoint/2010/main" val="828828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F70FF01-AEBD-A814-E728-433017B38092}"/>
              </a:ext>
            </a:extLst>
          </p:cNvPr>
          <p:cNvGraphicFramePr>
            <a:graphicFrameLocks noGrp="1"/>
          </p:cNvGraphicFramePr>
          <p:nvPr>
            <p:extLst>
              <p:ext uri="{D42A27DB-BD31-4B8C-83A1-F6EECF244321}">
                <p14:modId xmlns:p14="http://schemas.microsoft.com/office/powerpoint/2010/main" val="1765272744"/>
              </p:ext>
            </p:extLst>
          </p:nvPr>
        </p:nvGraphicFramePr>
        <p:xfrm>
          <a:off x="1184987" y="634482"/>
          <a:ext cx="9834466" cy="3562404"/>
        </p:xfrm>
        <a:graphic>
          <a:graphicData uri="http://schemas.openxmlformats.org/drawingml/2006/table">
            <a:tbl>
              <a:tblPr/>
              <a:tblGrid>
                <a:gridCol w="4917233">
                  <a:extLst>
                    <a:ext uri="{9D8B030D-6E8A-4147-A177-3AD203B41FA5}">
                      <a16:colId xmlns:a16="http://schemas.microsoft.com/office/drawing/2014/main" val="720254424"/>
                    </a:ext>
                  </a:extLst>
                </a:gridCol>
                <a:gridCol w="4917233">
                  <a:extLst>
                    <a:ext uri="{9D8B030D-6E8A-4147-A177-3AD203B41FA5}">
                      <a16:colId xmlns:a16="http://schemas.microsoft.com/office/drawing/2014/main" val="1260669347"/>
                    </a:ext>
                  </a:extLst>
                </a:gridCol>
              </a:tblGrid>
              <a:tr h="358634">
                <a:tc>
                  <a:txBody>
                    <a:bodyPr/>
                    <a:lstStyle/>
                    <a:p>
                      <a:r>
                        <a:rPr lang="en-IN" sz="1800" dirty="0"/>
                        <a:t>Feature</a:t>
                      </a:r>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tc>
                  <a:txBody>
                    <a:bodyPr/>
                    <a:lstStyle/>
                    <a:p>
                      <a:r>
                        <a:rPr lang="en-IN" sz="1800" dirty="0"/>
                        <a:t>Benefit</a:t>
                      </a:r>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1458326866"/>
                  </a:ext>
                </a:extLst>
              </a:tr>
              <a:tr h="628069">
                <a:tc>
                  <a:txBody>
                    <a:bodyPr/>
                    <a:lstStyle/>
                    <a:p>
                      <a:r>
                        <a:rPr lang="en-IN" sz="1800" b="1" dirty="0"/>
                        <a:t>Handles High-Dimensional Data</a:t>
                      </a:r>
                      <a:endParaRPr lang="en-IN" sz="1800" dirty="0"/>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Works well with many features like tumor measurements, gene data, etc.</a:t>
                      </a:r>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7994819"/>
                  </a:ext>
                </a:extLst>
              </a:tr>
              <a:tr h="628069">
                <a:tc>
                  <a:txBody>
                    <a:bodyPr/>
                    <a:lstStyle/>
                    <a:p>
                      <a:r>
                        <a:rPr lang="en-IN" sz="1800" b="1" dirty="0"/>
                        <a:t>Ensemble Learning</a:t>
                      </a:r>
                      <a:endParaRPr lang="en-IN" sz="1800" dirty="0"/>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tc>
                  <a:txBody>
                    <a:bodyPr/>
                    <a:lstStyle/>
                    <a:p>
                      <a:r>
                        <a:rPr lang="en-US" sz="1800" dirty="0"/>
                        <a:t>Reduces overfitting compared to single decision trees</a:t>
                      </a:r>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1946077729"/>
                  </a:ext>
                </a:extLst>
              </a:tr>
              <a:tr h="628069">
                <a:tc>
                  <a:txBody>
                    <a:bodyPr/>
                    <a:lstStyle/>
                    <a:p>
                      <a:r>
                        <a:rPr lang="en-IN" sz="1800" b="1" dirty="0"/>
                        <a:t>Nonlinear Capability</a:t>
                      </a:r>
                      <a:endParaRPr lang="en-IN" sz="1800" dirty="0"/>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Learns complex relationships between features and malignancy</a:t>
                      </a:r>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9483063"/>
                  </a:ext>
                </a:extLst>
              </a:tr>
              <a:tr h="628069">
                <a:tc>
                  <a:txBody>
                    <a:bodyPr/>
                    <a:lstStyle/>
                    <a:p>
                      <a:r>
                        <a:rPr lang="en-IN" sz="1800" b="1" dirty="0"/>
                        <a:t>Feature Importance</a:t>
                      </a:r>
                      <a:endParaRPr lang="en-IN" sz="1800" dirty="0"/>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tc>
                  <a:txBody>
                    <a:bodyPr/>
                    <a:lstStyle/>
                    <a:p>
                      <a:r>
                        <a:rPr lang="en-US" sz="1800" dirty="0"/>
                        <a:t>Shows which features (e.g., tumor radius, texture) are most important</a:t>
                      </a:r>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1137947419"/>
                  </a:ext>
                </a:extLst>
              </a:tr>
              <a:tr h="628069">
                <a:tc>
                  <a:txBody>
                    <a:bodyPr/>
                    <a:lstStyle/>
                    <a:p>
                      <a:r>
                        <a:rPr lang="en-US" sz="1800" b="1"/>
                        <a:t>Works on Both Categorical &amp; Continuous Data</a:t>
                      </a:r>
                      <a:endParaRPr lang="en-US" sz="1800"/>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Useful in combining image-derived + patient-specific features</a:t>
                      </a:r>
                    </a:p>
                  </a:txBody>
                  <a:tcPr marL="90813" marR="90813" marT="45407" marB="454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7019306"/>
                  </a:ext>
                </a:extLst>
              </a:tr>
            </a:tbl>
          </a:graphicData>
        </a:graphic>
      </p:graphicFrame>
      <p:graphicFrame>
        <p:nvGraphicFramePr>
          <p:cNvPr id="3" name="Table 2">
            <a:extLst>
              <a:ext uri="{FF2B5EF4-FFF2-40B4-BE49-F238E27FC236}">
                <a16:creationId xmlns:a16="http://schemas.microsoft.com/office/drawing/2014/main" id="{5B5B2E50-E07F-2305-78CF-656C5FD2EEC1}"/>
              </a:ext>
            </a:extLst>
          </p:cNvPr>
          <p:cNvGraphicFramePr>
            <a:graphicFrameLocks noGrp="1"/>
          </p:cNvGraphicFramePr>
          <p:nvPr>
            <p:extLst>
              <p:ext uri="{D42A27DB-BD31-4B8C-83A1-F6EECF244321}">
                <p14:modId xmlns:p14="http://schemas.microsoft.com/office/powerpoint/2010/main" val="4071161732"/>
              </p:ext>
            </p:extLst>
          </p:nvPr>
        </p:nvGraphicFramePr>
        <p:xfrm>
          <a:off x="1418253" y="4346175"/>
          <a:ext cx="9227976" cy="2129265"/>
        </p:xfrm>
        <a:graphic>
          <a:graphicData uri="http://schemas.openxmlformats.org/drawingml/2006/table">
            <a:tbl>
              <a:tblPr/>
              <a:tblGrid>
                <a:gridCol w="4613988">
                  <a:extLst>
                    <a:ext uri="{9D8B030D-6E8A-4147-A177-3AD203B41FA5}">
                      <a16:colId xmlns:a16="http://schemas.microsoft.com/office/drawing/2014/main" val="3459826151"/>
                    </a:ext>
                  </a:extLst>
                </a:gridCol>
                <a:gridCol w="4613988">
                  <a:extLst>
                    <a:ext uri="{9D8B030D-6E8A-4147-A177-3AD203B41FA5}">
                      <a16:colId xmlns:a16="http://schemas.microsoft.com/office/drawing/2014/main" val="4129531475"/>
                    </a:ext>
                  </a:extLst>
                </a:gridCol>
              </a:tblGrid>
              <a:tr h="425853">
                <a:tc>
                  <a:txBody>
                    <a:bodyPr/>
                    <a:lstStyle/>
                    <a:p>
                      <a:r>
                        <a:rPr lang="en-IN" dirty="0"/>
                        <a:t>Metric</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IN"/>
                        <a:t>Value</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361981"/>
                  </a:ext>
                </a:extLst>
              </a:tr>
              <a:tr h="425853">
                <a:tc>
                  <a:txBody>
                    <a:bodyPr/>
                    <a:lstStyle/>
                    <a:p>
                      <a:r>
                        <a:rPr lang="en-IN" dirty="0"/>
                        <a:t>Accuracy</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~96–99%</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6472218"/>
                  </a:ext>
                </a:extLst>
              </a:tr>
              <a:tr h="425853">
                <a:tc>
                  <a:txBody>
                    <a:bodyPr/>
                    <a:lstStyle/>
                    <a:p>
                      <a:r>
                        <a:rPr lang="en-IN"/>
                        <a:t>Precision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~96–98%</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798440"/>
                  </a:ext>
                </a:extLst>
              </a:tr>
              <a:tr h="425853">
                <a:tc>
                  <a:txBody>
                    <a:bodyPr/>
                    <a:lstStyle/>
                    <a:p>
                      <a:r>
                        <a:rPr lang="en-IN"/>
                        <a:t>Recall</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~95–98%</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394615"/>
                  </a:ext>
                </a:extLst>
              </a:tr>
              <a:tr h="425853">
                <a:tc>
                  <a:txBody>
                    <a:bodyPr/>
                    <a:lstStyle/>
                    <a:p>
                      <a:r>
                        <a:rPr lang="en-IN"/>
                        <a:t>F1-Score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IN" dirty="0"/>
                        <a:t>~95–98%</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809914053"/>
                  </a:ext>
                </a:extLst>
              </a:tr>
            </a:tbl>
          </a:graphicData>
        </a:graphic>
      </p:graphicFrame>
    </p:spTree>
    <p:extLst>
      <p:ext uri="{BB962C8B-B14F-4D97-AF65-F5344CB8AC3E}">
        <p14:creationId xmlns:p14="http://schemas.microsoft.com/office/powerpoint/2010/main" val="4196494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D62FB1-1571-083E-6047-549FEED94164}"/>
              </a:ext>
            </a:extLst>
          </p:cNvPr>
          <p:cNvSpPr txBox="1"/>
          <p:nvPr/>
        </p:nvSpPr>
        <p:spPr>
          <a:xfrm>
            <a:off x="1352939" y="893434"/>
            <a:ext cx="8434873" cy="2674065"/>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Evaluation Metrics</a:t>
            </a:r>
            <a:endParaRPr lang="en-US" sz="2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Accuracy: Overall correctness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Precision: TP / (TP + FP)</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Recall (Sensitivity): TP / (TP + FN)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F1-Score: Harmonic mean of Precision and Recall</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ROC-AUC: Performance trade-off visualization</a:t>
            </a:r>
          </a:p>
        </p:txBody>
      </p:sp>
      <p:sp>
        <p:nvSpPr>
          <p:cNvPr id="5" name="TextBox 4">
            <a:extLst>
              <a:ext uri="{FF2B5EF4-FFF2-40B4-BE49-F238E27FC236}">
                <a16:creationId xmlns:a16="http://schemas.microsoft.com/office/drawing/2014/main" id="{7EC7778D-B50C-1201-66CD-F9FB00FE3229}"/>
              </a:ext>
            </a:extLst>
          </p:cNvPr>
          <p:cNvSpPr txBox="1"/>
          <p:nvPr/>
        </p:nvSpPr>
        <p:spPr>
          <a:xfrm>
            <a:off x="1352939" y="3620278"/>
            <a:ext cx="8434873" cy="3089564"/>
          </a:xfrm>
          <a:prstGeom prst="rect">
            <a:avLst/>
          </a:prstGeom>
          <a:noFill/>
        </p:spPr>
        <p:txBody>
          <a:bodyPr wrap="square">
            <a:spAutoFit/>
          </a:bodyPr>
          <a:lstStyle/>
          <a:p>
            <a:pPr algn="just">
              <a:lnSpc>
                <a:spcPct val="150000"/>
              </a:lnSpc>
              <a:buNone/>
            </a:pPr>
            <a:r>
              <a:rPr lang="en-IN" sz="2400" b="1" dirty="0">
                <a:latin typeface="Times New Roman" panose="02020603050405020304" pitchFamily="18" charset="0"/>
                <a:cs typeface="Times New Roman" panose="02020603050405020304" pitchFamily="18" charset="0"/>
              </a:rPr>
              <a:t>Strategy for Implementation</a:t>
            </a:r>
            <a:endParaRPr lang="en-IN" sz="24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 for example :- Breast Cancer Wisconsin Dataset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Tools: Python, Scikit-learn, Pandas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Pipeline:</a:t>
            </a:r>
          </a:p>
          <a:p>
            <a:pPr marL="742950" lvl="1"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Cleaning → Feature Selection → Model Training → Validation → Deployment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 Selection: Based on cross-validation results</a:t>
            </a:r>
          </a:p>
        </p:txBody>
      </p:sp>
    </p:spTree>
    <p:extLst>
      <p:ext uri="{BB962C8B-B14F-4D97-AF65-F5344CB8AC3E}">
        <p14:creationId xmlns:p14="http://schemas.microsoft.com/office/powerpoint/2010/main" val="2033702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0B09C5-50E6-1BA8-D95B-DEB8134E3BBA}"/>
              </a:ext>
            </a:extLst>
          </p:cNvPr>
          <p:cNvSpPr txBox="1"/>
          <p:nvPr/>
        </p:nvSpPr>
        <p:spPr>
          <a:xfrm>
            <a:off x="1306287" y="197693"/>
            <a:ext cx="10011746" cy="1200329"/>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Comparative Analysis </a:t>
            </a:r>
          </a:p>
          <a:p>
            <a:pPr algn="ctr"/>
            <a:r>
              <a:rPr lang="en-IN" sz="3200" b="1" dirty="0">
                <a:latin typeface="Times New Roman" panose="02020603050405020304" pitchFamily="18" charset="0"/>
                <a:cs typeface="Times New Roman" panose="02020603050405020304" pitchFamily="18" charset="0"/>
              </a:rPr>
              <a:t>(2</a:t>
            </a:r>
            <a:r>
              <a:rPr lang="en-IN" sz="3200" b="1" baseline="30000" dirty="0">
                <a:latin typeface="Times New Roman" panose="02020603050405020304" pitchFamily="18" charset="0"/>
                <a:cs typeface="Times New Roman" panose="02020603050405020304" pitchFamily="18" charset="0"/>
              </a:rPr>
              <a:t>nd</a:t>
            </a:r>
            <a:r>
              <a:rPr lang="en-IN" sz="32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presentation [26/06/2025])</a:t>
            </a:r>
            <a:endParaRPr lang="en-IN" sz="4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E2A1FB9-7A27-69CA-D279-9918E7292936}"/>
              </a:ext>
            </a:extLst>
          </p:cNvPr>
          <p:cNvSpPr txBox="1"/>
          <p:nvPr/>
        </p:nvSpPr>
        <p:spPr>
          <a:xfrm>
            <a:off x="1306287" y="1750142"/>
            <a:ext cx="4870578" cy="5074723"/>
          </a:xfrm>
          <a:prstGeom prst="rect">
            <a:avLst/>
          </a:prstGeom>
          <a:noFill/>
        </p:spPr>
        <p:txBody>
          <a:bodyPr wrap="square">
            <a:spAutoFit/>
          </a:bodyPr>
          <a:lstStyle/>
          <a:p>
            <a:pPr algn="just">
              <a:lnSpc>
                <a:spcPct val="150000"/>
              </a:lnSpc>
              <a:buNone/>
            </a:pPr>
            <a:r>
              <a:rPr lang="en-IN" sz="2000" dirty="0">
                <a:latin typeface="Times New Roman" panose="02020603050405020304" pitchFamily="18" charset="0"/>
                <a:cs typeface="Times New Roman" panose="02020603050405020304" pitchFamily="18" charset="0"/>
              </a:rPr>
              <a:t>Here’s a comparative analysis of cancer detection models using Support Vector Machine (SVM), Logistic Regression (LR), and Random Forest (RF) on various standard datasets including:</a:t>
            </a:r>
          </a:p>
          <a:p>
            <a:pPr>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Wisconsin Breast Cancer Dataset (WBCD)</a:t>
            </a:r>
          </a:p>
          <a:p>
            <a:pPr>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LIDC-IDRI (Lung Cancer)</a:t>
            </a:r>
          </a:p>
          <a:p>
            <a:pPr>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HAM10000 (Skin Cancer)</a:t>
            </a:r>
          </a:p>
          <a:p>
            <a:pPr>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Colorectal Histology Dataset</a:t>
            </a:r>
          </a:p>
          <a:p>
            <a:pPr>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Prostate MRI dataset (PROMISE12)</a:t>
            </a:r>
          </a:p>
          <a:p>
            <a:pPr lvl="8">
              <a:lnSpc>
                <a:spcPct val="150000"/>
              </a:lnSpc>
            </a:pP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8DA02B1-72C7-6F0D-517C-75EB957EC8D3}"/>
              </a:ext>
            </a:extLst>
          </p:cNvPr>
          <p:cNvSpPr txBox="1"/>
          <p:nvPr/>
        </p:nvSpPr>
        <p:spPr>
          <a:xfrm>
            <a:off x="6764694" y="1875452"/>
            <a:ext cx="4488023" cy="3273204"/>
          </a:xfrm>
          <a:prstGeom prst="rect">
            <a:avLst/>
          </a:prstGeom>
          <a:noFill/>
        </p:spPr>
        <p:txBody>
          <a:bodyPr wrap="square">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Comparative Analysis will be done across this common evaluation metrics:</a:t>
            </a:r>
          </a:p>
          <a:p>
            <a:pPr>
              <a:lnSpc>
                <a:spcPct val="150000"/>
              </a:lnSpc>
            </a:pPr>
            <a:r>
              <a:rPr lang="en-IN" sz="2000" dirty="0">
                <a:latin typeface="Times New Roman" panose="02020603050405020304" pitchFamily="18" charset="0"/>
                <a:cs typeface="Times New Roman" panose="02020603050405020304" pitchFamily="18" charset="0"/>
              </a:rPr>
              <a:t>1) Accuracy</a:t>
            </a:r>
          </a:p>
          <a:p>
            <a:pPr>
              <a:lnSpc>
                <a:spcPct val="150000"/>
              </a:lnSpc>
            </a:pPr>
            <a:r>
              <a:rPr lang="en-IN" sz="2000" dirty="0">
                <a:latin typeface="Times New Roman" panose="02020603050405020304" pitchFamily="18" charset="0"/>
                <a:cs typeface="Times New Roman" panose="02020603050405020304" pitchFamily="18" charset="0"/>
              </a:rPr>
              <a:t>2) Precision</a:t>
            </a:r>
          </a:p>
          <a:p>
            <a:pPr>
              <a:lnSpc>
                <a:spcPct val="150000"/>
              </a:lnSpc>
            </a:pPr>
            <a:r>
              <a:rPr lang="en-IN" sz="2000" dirty="0">
                <a:latin typeface="Times New Roman" panose="02020603050405020304" pitchFamily="18" charset="0"/>
                <a:cs typeface="Times New Roman" panose="02020603050405020304" pitchFamily="18" charset="0"/>
              </a:rPr>
              <a:t>3) Recall</a:t>
            </a:r>
          </a:p>
          <a:p>
            <a:pPr>
              <a:lnSpc>
                <a:spcPct val="150000"/>
              </a:lnSpc>
            </a:pPr>
            <a:r>
              <a:rPr lang="en-IN" sz="2000" dirty="0">
                <a:latin typeface="Times New Roman" panose="02020603050405020304" pitchFamily="18" charset="0"/>
                <a:cs typeface="Times New Roman" panose="02020603050405020304" pitchFamily="18" charset="0"/>
              </a:rPr>
              <a:t>4) F1-Score</a:t>
            </a:r>
          </a:p>
          <a:p>
            <a:pPr>
              <a:lnSpc>
                <a:spcPct val="150000"/>
              </a:lnSpc>
            </a:pPr>
            <a:r>
              <a:rPr lang="en-IN" sz="2000" dirty="0">
                <a:latin typeface="Times New Roman" panose="02020603050405020304" pitchFamily="18" charset="0"/>
                <a:cs typeface="Times New Roman" panose="02020603050405020304" pitchFamily="18" charset="0"/>
              </a:rPr>
              <a:t>5) Early Detection Capability</a:t>
            </a:r>
            <a:endParaRPr lang="en-IN" dirty="0"/>
          </a:p>
        </p:txBody>
      </p:sp>
    </p:spTree>
    <p:extLst>
      <p:ext uri="{BB962C8B-B14F-4D97-AF65-F5344CB8AC3E}">
        <p14:creationId xmlns:p14="http://schemas.microsoft.com/office/powerpoint/2010/main" val="753714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725A0C6-194E-3D53-F9CD-9DED0CDF2AA7}"/>
              </a:ext>
            </a:extLst>
          </p:cNvPr>
          <p:cNvGraphicFramePr>
            <a:graphicFrameLocks noGrp="1"/>
          </p:cNvGraphicFramePr>
          <p:nvPr>
            <p:extLst>
              <p:ext uri="{D42A27DB-BD31-4B8C-83A1-F6EECF244321}">
                <p14:modId xmlns:p14="http://schemas.microsoft.com/office/powerpoint/2010/main" val="3618392037"/>
              </p:ext>
            </p:extLst>
          </p:nvPr>
        </p:nvGraphicFramePr>
        <p:xfrm>
          <a:off x="1166327" y="1464906"/>
          <a:ext cx="9881088" cy="3807729"/>
        </p:xfrm>
        <a:graphic>
          <a:graphicData uri="http://schemas.openxmlformats.org/drawingml/2006/table">
            <a:tbl>
              <a:tblPr/>
              <a:tblGrid>
                <a:gridCol w="1646848">
                  <a:extLst>
                    <a:ext uri="{9D8B030D-6E8A-4147-A177-3AD203B41FA5}">
                      <a16:colId xmlns:a16="http://schemas.microsoft.com/office/drawing/2014/main" val="907860785"/>
                    </a:ext>
                  </a:extLst>
                </a:gridCol>
                <a:gridCol w="1646848">
                  <a:extLst>
                    <a:ext uri="{9D8B030D-6E8A-4147-A177-3AD203B41FA5}">
                      <a16:colId xmlns:a16="http://schemas.microsoft.com/office/drawing/2014/main" val="3243205927"/>
                    </a:ext>
                  </a:extLst>
                </a:gridCol>
                <a:gridCol w="1646848">
                  <a:extLst>
                    <a:ext uri="{9D8B030D-6E8A-4147-A177-3AD203B41FA5}">
                      <a16:colId xmlns:a16="http://schemas.microsoft.com/office/drawing/2014/main" val="4225158130"/>
                    </a:ext>
                  </a:extLst>
                </a:gridCol>
                <a:gridCol w="1646848">
                  <a:extLst>
                    <a:ext uri="{9D8B030D-6E8A-4147-A177-3AD203B41FA5}">
                      <a16:colId xmlns:a16="http://schemas.microsoft.com/office/drawing/2014/main" val="3992104229"/>
                    </a:ext>
                  </a:extLst>
                </a:gridCol>
                <a:gridCol w="1646848">
                  <a:extLst>
                    <a:ext uri="{9D8B030D-6E8A-4147-A177-3AD203B41FA5}">
                      <a16:colId xmlns:a16="http://schemas.microsoft.com/office/drawing/2014/main" val="87629469"/>
                    </a:ext>
                  </a:extLst>
                </a:gridCol>
                <a:gridCol w="1646848">
                  <a:extLst>
                    <a:ext uri="{9D8B030D-6E8A-4147-A177-3AD203B41FA5}">
                      <a16:colId xmlns:a16="http://schemas.microsoft.com/office/drawing/2014/main" val="2303775952"/>
                    </a:ext>
                  </a:extLst>
                </a:gridCol>
              </a:tblGrid>
              <a:tr h="1035563">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F1-Score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Early Detection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562556232"/>
                  </a:ext>
                </a:extLst>
              </a:tr>
              <a:tr h="1035563">
                <a:tc>
                  <a:txBody>
                    <a:bodyPr/>
                    <a:lstStyle/>
                    <a:p>
                      <a:pPr algn="ctr"/>
                      <a:r>
                        <a:rPr lang="en-IN" sz="2000" dirty="0">
                          <a:latin typeface="Times New Roman" panose="02020603050405020304" pitchFamily="18" charset="0"/>
                          <a:cs typeface="Times New Roman" panose="02020603050405020304" pitchFamily="18" charset="0"/>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96.5%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95.8%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97.1%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96.4%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High (simple &amp; interpretable)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13055393"/>
                  </a:ext>
                </a:extLst>
              </a:tr>
              <a:tr h="1035563">
                <a:tc>
                  <a:txBody>
                    <a:bodyPr/>
                    <a:lstStyle/>
                    <a:p>
                      <a:pPr algn="ctr"/>
                      <a:r>
                        <a:rPr lang="en-IN" sz="2000">
                          <a:latin typeface="Times New Roman" panose="02020603050405020304" pitchFamily="18" charset="0"/>
                          <a:cs typeface="Times New Roman" panose="02020603050405020304" pitchFamily="18" charset="0"/>
                        </a:rPr>
                        <a:t>SVM (RBF Kernel)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97.1%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96.5%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97.8%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97.1%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180073798"/>
                  </a:ext>
                </a:extLst>
              </a:tr>
              <a:tr h="591750">
                <a:tc>
                  <a:txBody>
                    <a:bodyPr/>
                    <a:lstStyle/>
                    <a:p>
                      <a:pPr algn="ctr"/>
                      <a:r>
                        <a:rPr lang="en-IN" sz="2000" dirty="0">
                          <a:latin typeface="Times New Roman" panose="02020603050405020304" pitchFamily="18" charset="0"/>
                          <a:cs typeface="Times New Roman" panose="02020603050405020304" pitchFamily="18" charset="0"/>
                        </a:rPr>
                        <a:t>Random Forest (RF)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98.2%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98.0%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98.5%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98.2%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130184176"/>
                  </a:ext>
                </a:extLst>
              </a:tr>
            </a:tbl>
          </a:graphicData>
        </a:graphic>
      </p:graphicFrame>
      <p:sp>
        <p:nvSpPr>
          <p:cNvPr id="4" name="TextBox 3">
            <a:extLst>
              <a:ext uri="{FF2B5EF4-FFF2-40B4-BE49-F238E27FC236}">
                <a16:creationId xmlns:a16="http://schemas.microsoft.com/office/drawing/2014/main" id="{92B0B536-534E-7CA3-1595-32609BBAF561}"/>
              </a:ext>
            </a:extLst>
          </p:cNvPr>
          <p:cNvSpPr txBox="1"/>
          <p:nvPr/>
        </p:nvSpPr>
        <p:spPr>
          <a:xfrm>
            <a:off x="1057437" y="793102"/>
            <a:ext cx="8000253"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 </a:t>
            </a:r>
            <a:r>
              <a:rPr lang="en-US" sz="2400" b="1" u="sng" dirty="0">
                <a:latin typeface="Times New Roman" panose="02020603050405020304" pitchFamily="18" charset="0"/>
                <a:cs typeface="Times New Roman" panose="02020603050405020304" pitchFamily="18" charset="0"/>
              </a:rPr>
              <a:t>Wisconsin Breast Cancer Dataset (WBCD) :-</a:t>
            </a:r>
            <a:endParaRPr lang="en-IN" sz="24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82A9519-939B-CAFC-C97E-F6A3660C0066}"/>
              </a:ext>
            </a:extLst>
          </p:cNvPr>
          <p:cNvSpPr txBox="1"/>
          <p:nvPr/>
        </p:nvSpPr>
        <p:spPr>
          <a:xfrm>
            <a:off x="1576873" y="5570376"/>
            <a:ext cx="8882743" cy="707886"/>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Observation:</a:t>
            </a:r>
            <a:r>
              <a:rPr lang="en-US" sz="2000" dirty="0">
                <a:latin typeface="Times New Roman" panose="02020603050405020304" pitchFamily="18" charset="0"/>
                <a:cs typeface="Times New Roman" panose="02020603050405020304" pitchFamily="18" charset="0"/>
              </a:rPr>
              <a:t> WBCD being a clean, balanced dataset favors RF the most. SVM performs slightly worse due to overfitting in smaller samples.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393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FBC3F4-9AC6-0E68-7127-98ED510A81D3}"/>
              </a:ext>
            </a:extLst>
          </p:cNvPr>
          <p:cNvSpPr txBox="1"/>
          <p:nvPr/>
        </p:nvSpPr>
        <p:spPr>
          <a:xfrm>
            <a:off x="1175657" y="718457"/>
            <a:ext cx="7966009" cy="461665"/>
          </a:xfrm>
          <a:prstGeom prst="rect">
            <a:avLst/>
          </a:prstGeom>
          <a:noFill/>
        </p:spPr>
        <p:txBody>
          <a:bodyPr wrap="square">
            <a:spAutoFit/>
          </a:bodyPr>
          <a:lstStyle/>
          <a:p>
            <a:r>
              <a:rPr lang="it-IT" sz="2400" b="1" dirty="0">
                <a:latin typeface="Times New Roman" panose="02020603050405020304" pitchFamily="18" charset="0"/>
                <a:cs typeface="Times New Roman" panose="02020603050405020304" pitchFamily="18" charset="0"/>
              </a:rPr>
              <a:t>2</a:t>
            </a:r>
            <a:r>
              <a:rPr lang="it-IT" sz="2400" dirty="0">
                <a:latin typeface="Times New Roman" panose="02020603050405020304" pitchFamily="18" charset="0"/>
                <a:cs typeface="Times New Roman" panose="02020603050405020304" pitchFamily="18" charset="0"/>
              </a:rPr>
              <a:t>. </a:t>
            </a:r>
            <a:r>
              <a:rPr lang="it-IT" sz="2400" b="1" u="sng" dirty="0">
                <a:latin typeface="Times New Roman" panose="02020603050405020304" pitchFamily="18" charset="0"/>
                <a:cs typeface="Times New Roman" panose="02020603050405020304" pitchFamily="18" charset="0"/>
              </a:rPr>
              <a:t>LIDC-IDRI (Lung</a:t>
            </a:r>
            <a:r>
              <a:rPr lang="en-IN" sz="2400" u="sng" dirty="0"/>
              <a:t> 🫁</a:t>
            </a:r>
            <a:r>
              <a:rPr lang="it-IT" sz="2400" b="1" u="sng" dirty="0">
                <a:latin typeface="Times New Roman" panose="02020603050405020304" pitchFamily="18" charset="0"/>
                <a:cs typeface="Times New Roman" panose="02020603050405020304" pitchFamily="18" charset="0"/>
              </a:rPr>
              <a:t> Cancer CT Scans Dataset) :-</a:t>
            </a:r>
            <a:endParaRPr lang="en-IN" sz="2400" u="sng"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9BF6B6D-FBCD-971E-45AA-1E6905FF9168}"/>
              </a:ext>
            </a:extLst>
          </p:cNvPr>
          <p:cNvGraphicFramePr>
            <a:graphicFrameLocks noGrp="1"/>
          </p:cNvGraphicFramePr>
          <p:nvPr>
            <p:extLst>
              <p:ext uri="{D42A27DB-BD31-4B8C-83A1-F6EECF244321}">
                <p14:modId xmlns:p14="http://schemas.microsoft.com/office/powerpoint/2010/main" val="16240947"/>
              </p:ext>
            </p:extLst>
          </p:nvPr>
        </p:nvGraphicFramePr>
        <p:xfrm>
          <a:off x="1287623" y="1268963"/>
          <a:ext cx="9636972" cy="4226246"/>
        </p:xfrm>
        <a:graphic>
          <a:graphicData uri="http://schemas.openxmlformats.org/drawingml/2006/table">
            <a:tbl>
              <a:tblPr/>
              <a:tblGrid>
                <a:gridCol w="1606162">
                  <a:extLst>
                    <a:ext uri="{9D8B030D-6E8A-4147-A177-3AD203B41FA5}">
                      <a16:colId xmlns:a16="http://schemas.microsoft.com/office/drawing/2014/main" val="3216377037"/>
                    </a:ext>
                  </a:extLst>
                </a:gridCol>
                <a:gridCol w="1606162">
                  <a:extLst>
                    <a:ext uri="{9D8B030D-6E8A-4147-A177-3AD203B41FA5}">
                      <a16:colId xmlns:a16="http://schemas.microsoft.com/office/drawing/2014/main" val="337780"/>
                    </a:ext>
                  </a:extLst>
                </a:gridCol>
                <a:gridCol w="1606162">
                  <a:extLst>
                    <a:ext uri="{9D8B030D-6E8A-4147-A177-3AD203B41FA5}">
                      <a16:colId xmlns:a16="http://schemas.microsoft.com/office/drawing/2014/main" val="1001846923"/>
                    </a:ext>
                  </a:extLst>
                </a:gridCol>
                <a:gridCol w="1606162">
                  <a:extLst>
                    <a:ext uri="{9D8B030D-6E8A-4147-A177-3AD203B41FA5}">
                      <a16:colId xmlns:a16="http://schemas.microsoft.com/office/drawing/2014/main" val="3890001649"/>
                    </a:ext>
                  </a:extLst>
                </a:gridCol>
                <a:gridCol w="1606162">
                  <a:extLst>
                    <a:ext uri="{9D8B030D-6E8A-4147-A177-3AD203B41FA5}">
                      <a16:colId xmlns:a16="http://schemas.microsoft.com/office/drawing/2014/main" val="1842661256"/>
                    </a:ext>
                  </a:extLst>
                </a:gridCol>
                <a:gridCol w="1606162">
                  <a:extLst>
                    <a:ext uri="{9D8B030D-6E8A-4147-A177-3AD203B41FA5}">
                      <a16:colId xmlns:a16="http://schemas.microsoft.com/office/drawing/2014/main" val="2078239505"/>
                    </a:ext>
                  </a:extLst>
                </a:gridCol>
              </a:tblGrid>
              <a:tr h="918310">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Model</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Accuracy</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Precision</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Recall</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F1-Score</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1800" b="1" dirty="0">
                          <a:solidFill>
                            <a:schemeClr val="bg1"/>
                          </a:solidFill>
                          <a:latin typeface="Times New Roman" panose="02020603050405020304" pitchFamily="18" charset="0"/>
                          <a:cs typeface="Times New Roman" panose="02020603050405020304" pitchFamily="18" charset="0"/>
                        </a:rPr>
                        <a:t>Early Detection Capability</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3878504447"/>
                  </a:ext>
                </a:extLst>
              </a:tr>
              <a:tr h="941573">
                <a:tc>
                  <a:txBody>
                    <a:bodyPr/>
                    <a:lstStyle/>
                    <a:p>
                      <a:pPr algn="ctr"/>
                      <a:r>
                        <a:rPr lang="en-IN" sz="1600" dirty="0">
                          <a:latin typeface="Times New Roman" panose="02020603050405020304" pitchFamily="18" charset="0"/>
                          <a:cs typeface="Times New Roman" panose="02020603050405020304" pitchFamily="18" charset="0"/>
                        </a:rPr>
                        <a:t>Logistic Regression</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dirty="0">
                          <a:latin typeface="Times New Roman" panose="02020603050405020304" pitchFamily="18" charset="0"/>
                          <a:cs typeface="Times New Roman" panose="02020603050405020304" pitchFamily="18" charset="0"/>
                        </a:rPr>
                        <a:t>85.2%</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dirty="0">
                          <a:latin typeface="Times New Roman" panose="02020603050405020304" pitchFamily="18" charset="0"/>
                          <a:cs typeface="Times New Roman" panose="02020603050405020304" pitchFamily="18" charset="0"/>
                        </a:rPr>
                        <a:t>82.4%</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dirty="0">
                          <a:latin typeface="Times New Roman" panose="02020603050405020304" pitchFamily="18" charset="0"/>
                          <a:cs typeface="Times New Roman" panose="02020603050405020304" pitchFamily="18" charset="0"/>
                        </a:rPr>
                        <a:t>84.1%</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dirty="0">
                          <a:latin typeface="Times New Roman" panose="02020603050405020304" pitchFamily="18" charset="0"/>
                          <a:cs typeface="Times New Roman" panose="02020603050405020304" pitchFamily="18" charset="0"/>
                        </a:rPr>
                        <a:t>83.2%</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600" dirty="0">
                          <a:latin typeface="Times New Roman" panose="02020603050405020304" pitchFamily="18" charset="0"/>
                          <a:cs typeface="Times New Roman" panose="02020603050405020304" pitchFamily="18" charset="0"/>
                        </a:rPr>
                        <a:t>Moderate (features hard to linearly separate)</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740020181"/>
                  </a:ext>
                </a:extLst>
              </a:tr>
              <a:tr h="886435">
                <a:tc>
                  <a:txBody>
                    <a:bodyPr/>
                    <a:lstStyle/>
                    <a:p>
                      <a:pPr algn="ctr"/>
                      <a:r>
                        <a:rPr lang="en-IN" sz="1600">
                          <a:latin typeface="Times New Roman" panose="02020603050405020304" pitchFamily="18" charset="0"/>
                          <a:cs typeface="Times New Roman" panose="02020603050405020304" pitchFamily="18" charset="0"/>
                        </a:rPr>
                        <a:t>SVM</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a:latin typeface="Times New Roman" panose="02020603050405020304" pitchFamily="18" charset="0"/>
                          <a:cs typeface="Times New Roman" panose="02020603050405020304" pitchFamily="18" charset="0"/>
                        </a:rPr>
                        <a:t>87.6%</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dirty="0">
                          <a:latin typeface="Times New Roman" panose="02020603050405020304" pitchFamily="18" charset="0"/>
                          <a:cs typeface="Times New Roman" panose="02020603050405020304" pitchFamily="18" charset="0"/>
                        </a:rPr>
                        <a:t>86.1%</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dirty="0">
                          <a:latin typeface="Times New Roman" panose="02020603050405020304" pitchFamily="18" charset="0"/>
                          <a:cs typeface="Times New Roman" panose="02020603050405020304" pitchFamily="18" charset="0"/>
                        </a:rPr>
                        <a:t>85.4%</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dirty="0">
                          <a:latin typeface="Times New Roman" panose="02020603050405020304" pitchFamily="18" charset="0"/>
                          <a:cs typeface="Times New Roman" panose="02020603050405020304" pitchFamily="18" charset="0"/>
                        </a:rPr>
                        <a:t>85.7%</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600" dirty="0">
                          <a:latin typeface="Times New Roman" panose="02020603050405020304" pitchFamily="18" charset="0"/>
                          <a:cs typeface="Times New Roman" panose="02020603050405020304" pitchFamily="18" charset="0"/>
                        </a:rPr>
                        <a:t>High (especially with deep features)</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626657110"/>
                  </a:ext>
                </a:extLst>
              </a:tr>
              <a:tr h="1479928">
                <a:tc>
                  <a:txBody>
                    <a:bodyPr/>
                    <a:lstStyle/>
                    <a:p>
                      <a:pPr algn="ctr"/>
                      <a:r>
                        <a:rPr lang="en-IN" sz="1600">
                          <a:latin typeface="Times New Roman" panose="02020603050405020304" pitchFamily="18" charset="0"/>
                          <a:cs typeface="Times New Roman" panose="02020603050405020304" pitchFamily="18" charset="0"/>
                        </a:rPr>
                        <a:t>Random Forest</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b="0" dirty="0">
                          <a:latin typeface="Times New Roman" panose="02020603050405020304" pitchFamily="18" charset="0"/>
                          <a:cs typeface="Times New Roman" panose="02020603050405020304" pitchFamily="18" charset="0"/>
                        </a:rPr>
                        <a:t>89.3%</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b="0" dirty="0">
                          <a:latin typeface="Times New Roman" panose="02020603050405020304" pitchFamily="18" charset="0"/>
                          <a:cs typeface="Times New Roman" panose="02020603050405020304" pitchFamily="18" charset="0"/>
                        </a:rPr>
                        <a:t>88.4%</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b="0" dirty="0">
                          <a:latin typeface="Times New Roman" panose="02020603050405020304" pitchFamily="18" charset="0"/>
                          <a:cs typeface="Times New Roman" panose="02020603050405020304" pitchFamily="18" charset="0"/>
                        </a:rPr>
                        <a:t>88.7%</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1600" b="0" dirty="0">
                          <a:latin typeface="Times New Roman" panose="02020603050405020304" pitchFamily="18" charset="0"/>
                          <a:cs typeface="Times New Roman" panose="02020603050405020304" pitchFamily="18" charset="0"/>
                        </a:rPr>
                        <a:t>88.5%</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600" dirty="0">
                          <a:latin typeface="Times New Roman" panose="02020603050405020304" pitchFamily="18" charset="0"/>
                          <a:cs typeface="Times New Roman" panose="02020603050405020304" pitchFamily="18" charset="0"/>
                        </a:rPr>
                        <a:t>Very High (handles feature diversity well)</a:t>
                      </a:r>
                    </a:p>
                  </a:txBody>
                  <a:tcPr marL="82365" marR="82365" marT="41183" marB="411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258820759"/>
                  </a:ext>
                </a:extLst>
              </a:tr>
            </a:tbl>
          </a:graphicData>
        </a:graphic>
      </p:graphicFrame>
      <p:sp>
        <p:nvSpPr>
          <p:cNvPr id="6" name="TextBox 5">
            <a:extLst>
              <a:ext uri="{FF2B5EF4-FFF2-40B4-BE49-F238E27FC236}">
                <a16:creationId xmlns:a16="http://schemas.microsoft.com/office/drawing/2014/main" id="{41AC9189-BDA0-8566-FDF8-BE3147CBDFEB}"/>
              </a:ext>
            </a:extLst>
          </p:cNvPr>
          <p:cNvSpPr txBox="1"/>
          <p:nvPr/>
        </p:nvSpPr>
        <p:spPr>
          <a:xfrm>
            <a:off x="2183363" y="5682343"/>
            <a:ext cx="7800391" cy="1015663"/>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Observation:</a:t>
            </a:r>
            <a:r>
              <a:rPr lang="en-US" sz="2000" dirty="0">
                <a:latin typeface="Times New Roman" panose="02020603050405020304" pitchFamily="18" charset="0"/>
                <a:cs typeface="Times New Roman" panose="02020603050405020304" pitchFamily="18" charset="0"/>
              </a:rPr>
              <a:t> The high dimensionality and image features make Random Forest and SVM preferable. Logistic regression underperforms due to linear assumptions.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8337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01CDC1-96FE-0475-C311-539EF82BD27D}"/>
              </a:ext>
            </a:extLst>
          </p:cNvPr>
          <p:cNvSpPr txBox="1"/>
          <p:nvPr/>
        </p:nvSpPr>
        <p:spPr>
          <a:xfrm>
            <a:off x="1073020" y="671805"/>
            <a:ext cx="8021993"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3. </a:t>
            </a:r>
            <a:r>
              <a:rPr lang="en-IN" sz="2400" b="1" u="sng" dirty="0">
                <a:latin typeface="Times New Roman" panose="02020603050405020304" pitchFamily="18" charset="0"/>
                <a:cs typeface="Times New Roman" panose="02020603050405020304" pitchFamily="18" charset="0"/>
              </a:rPr>
              <a:t>HAM10000 (Skin Lesion Dataset) :-</a:t>
            </a:r>
          </a:p>
        </p:txBody>
      </p:sp>
      <p:graphicFrame>
        <p:nvGraphicFramePr>
          <p:cNvPr id="4" name="Table 3">
            <a:extLst>
              <a:ext uri="{FF2B5EF4-FFF2-40B4-BE49-F238E27FC236}">
                <a16:creationId xmlns:a16="http://schemas.microsoft.com/office/drawing/2014/main" id="{60341A60-2E44-7177-F741-D918E1599959}"/>
              </a:ext>
            </a:extLst>
          </p:cNvPr>
          <p:cNvGraphicFramePr>
            <a:graphicFrameLocks noGrp="1"/>
          </p:cNvGraphicFramePr>
          <p:nvPr>
            <p:extLst>
              <p:ext uri="{D42A27DB-BD31-4B8C-83A1-F6EECF244321}">
                <p14:modId xmlns:p14="http://schemas.microsoft.com/office/powerpoint/2010/main" val="1137956476"/>
              </p:ext>
            </p:extLst>
          </p:nvPr>
        </p:nvGraphicFramePr>
        <p:xfrm>
          <a:off x="1156995" y="1296955"/>
          <a:ext cx="9890418" cy="3948807"/>
        </p:xfrm>
        <a:graphic>
          <a:graphicData uri="http://schemas.openxmlformats.org/drawingml/2006/table">
            <a:tbl>
              <a:tblPr/>
              <a:tblGrid>
                <a:gridCol w="1648403">
                  <a:extLst>
                    <a:ext uri="{9D8B030D-6E8A-4147-A177-3AD203B41FA5}">
                      <a16:colId xmlns:a16="http://schemas.microsoft.com/office/drawing/2014/main" val="1608417761"/>
                    </a:ext>
                  </a:extLst>
                </a:gridCol>
                <a:gridCol w="1648403">
                  <a:extLst>
                    <a:ext uri="{9D8B030D-6E8A-4147-A177-3AD203B41FA5}">
                      <a16:colId xmlns:a16="http://schemas.microsoft.com/office/drawing/2014/main" val="422508268"/>
                    </a:ext>
                  </a:extLst>
                </a:gridCol>
                <a:gridCol w="1648403">
                  <a:extLst>
                    <a:ext uri="{9D8B030D-6E8A-4147-A177-3AD203B41FA5}">
                      <a16:colId xmlns:a16="http://schemas.microsoft.com/office/drawing/2014/main" val="144190631"/>
                    </a:ext>
                  </a:extLst>
                </a:gridCol>
                <a:gridCol w="1648403">
                  <a:extLst>
                    <a:ext uri="{9D8B030D-6E8A-4147-A177-3AD203B41FA5}">
                      <a16:colId xmlns:a16="http://schemas.microsoft.com/office/drawing/2014/main" val="2609431531"/>
                    </a:ext>
                  </a:extLst>
                </a:gridCol>
                <a:gridCol w="1648403">
                  <a:extLst>
                    <a:ext uri="{9D8B030D-6E8A-4147-A177-3AD203B41FA5}">
                      <a16:colId xmlns:a16="http://schemas.microsoft.com/office/drawing/2014/main" val="1648818262"/>
                    </a:ext>
                  </a:extLst>
                </a:gridCol>
                <a:gridCol w="1648403">
                  <a:extLst>
                    <a:ext uri="{9D8B030D-6E8A-4147-A177-3AD203B41FA5}">
                      <a16:colId xmlns:a16="http://schemas.microsoft.com/office/drawing/2014/main" val="749094444"/>
                    </a:ext>
                  </a:extLst>
                </a:gridCol>
              </a:tblGrid>
              <a:tr h="1082589">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F1-Score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Early Detection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863669013"/>
                  </a:ext>
                </a:extLst>
              </a:tr>
              <a:tr h="1546556">
                <a:tc>
                  <a:txBody>
                    <a:bodyPr/>
                    <a:lstStyle/>
                    <a:p>
                      <a:pPr algn="ctr"/>
                      <a:r>
                        <a:rPr lang="en-IN" sz="2000" dirty="0">
                          <a:latin typeface="Times New Roman" panose="02020603050405020304" pitchFamily="18" charset="0"/>
                          <a:cs typeface="Times New Roman" panose="02020603050405020304" pitchFamily="18" charset="0"/>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a:latin typeface="Times New Roman" panose="02020603050405020304" pitchFamily="18" charset="0"/>
                          <a:cs typeface="Times New Roman" panose="02020603050405020304" pitchFamily="18" charset="0"/>
                        </a:rPr>
                        <a:t>Low (multiclass, image data 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70462026"/>
                  </a:ext>
                </a:extLst>
              </a:tr>
              <a:tr h="618622">
                <a:tc>
                  <a:txBody>
                    <a:bodyPr/>
                    <a:lstStyle/>
                    <a:p>
                      <a:pPr algn="ctr"/>
                      <a:r>
                        <a:rPr lang="en-IN" sz="2000">
                          <a:latin typeface="Times New Roman" panose="02020603050405020304" pitchFamily="18" charset="0"/>
                          <a:cs typeface="Times New Roman" panose="02020603050405020304" pitchFamily="18" charset="0"/>
                        </a:rPr>
                        <a:t>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78.5%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77.8%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718725065"/>
                  </a:ext>
                </a:extLst>
              </a:tr>
              <a:tr h="618622">
                <a:tc>
                  <a:txBody>
                    <a:bodyPr/>
                    <a:lstStyle/>
                    <a:p>
                      <a:pPr algn="ctr"/>
                      <a:r>
                        <a:rPr lang="en-IN" sz="2000">
                          <a:latin typeface="Times New Roman" panose="02020603050405020304" pitchFamily="18" charset="0"/>
                          <a:cs typeface="Times New Roman" panose="02020603050405020304" pitchFamily="18"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51960657"/>
                  </a:ext>
                </a:extLst>
              </a:tr>
            </a:tbl>
          </a:graphicData>
        </a:graphic>
      </p:graphicFrame>
      <p:sp>
        <p:nvSpPr>
          <p:cNvPr id="6" name="TextBox 5">
            <a:extLst>
              <a:ext uri="{FF2B5EF4-FFF2-40B4-BE49-F238E27FC236}">
                <a16:creationId xmlns:a16="http://schemas.microsoft.com/office/drawing/2014/main" id="{98350308-314D-9968-5059-EA00338A3DF5}"/>
              </a:ext>
            </a:extLst>
          </p:cNvPr>
          <p:cNvSpPr txBox="1"/>
          <p:nvPr/>
        </p:nvSpPr>
        <p:spPr>
          <a:xfrm>
            <a:off x="2006082" y="5561045"/>
            <a:ext cx="8761445" cy="1015663"/>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Observation:</a:t>
            </a:r>
            <a:r>
              <a:rPr lang="en-US" sz="2000" dirty="0">
                <a:latin typeface="Times New Roman" panose="02020603050405020304" pitchFamily="18" charset="0"/>
                <a:cs typeface="Times New Roman" panose="02020603050405020304" pitchFamily="18" charset="0"/>
              </a:rPr>
              <a:t> For multiclass, image-based datasets, Random Forest excels with proper preprocessing (e.g., feature extraction from CNNs). SVM is viable but slower.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703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B47F6C-FF22-038D-7992-DDA54C979469}"/>
              </a:ext>
            </a:extLst>
          </p:cNvPr>
          <p:cNvSpPr txBox="1"/>
          <p:nvPr/>
        </p:nvSpPr>
        <p:spPr>
          <a:xfrm>
            <a:off x="1222310" y="755779"/>
            <a:ext cx="7947348"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 </a:t>
            </a:r>
            <a:r>
              <a:rPr lang="en-IN" sz="2400" b="1" u="sng" dirty="0">
                <a:latin typeface="Times New Roman" panose="02020603050405020304" pitchFamily="18" charset="0"/>
                <a:cs typeface="Times New Roman" panose="02020603050405020304" pitchFamily="18" charset="0"/>
              </a:rPr>
              <a:t>Colorectal Histology Dataset :-</a:t>
            </a:r>
          </a:p>
        </p:txBody>
      </p:sp>
      <p:graphicFrame>
        <p:nvGraphicFramePr>
          <p:cNvPr id="4" name="Table 3">
            <a:extLst>
              <a:ext uri="{FF2B5EF4-FFF2-40B4-BE49-F238E27FC236}">
                <a16:creationId xmlns:a16="http://schemas.microsoft.com/office/drawing/2014/main" id="{9B217272-9C35-CB86-9631-F310CF2F2E2B}"/>
              </a:ext>
            </a:extLst>
          </p:cNvPr>
          <p:cNvGraphicFramePr>
            <a:graphicFrameLocks noGrp="1"/>
          </p:cNvGraphicFramePr>
          <p:nvPr>
            <p:extLst>
              <p:ext uri="{D42A27DB-BD31-4B8C-83A1-F6EECF244321}">
                <p14:modId xmlns:p14="http://schemas.microsoft.com/office/powerpoint/2010/main" val="1228375870"/>
              </p:ext>
            </p:extLst>
          </p:nvPr>
        </p:nvGraphicFramePr>
        <p:xfrm>
          <a:off x="1362269" y="1548882"/>
          <a:ext cx="9685146" cy="3624678"/>
        </p:xfrm>
        <a:graphic>
          <a:graphicData uri="http://schemas.openxmlformats.org/drawingml/2006/table">
            <a:tbl>
              <a:tblPr/>
              <a:tblGrid>
                <a:gridCol w="1614191">
                  <a:extLst>
                    <a:ext uri="{9D8B030D-6E8A-4147-A177-3AD203B41FA5}">
                      <a16:colId xmlns:a16="http://schemas.microsoft.com/office/drawing/2014/main" val="519258656"/>
                    </a:ext>
                  </a:extLst>
                </a:gridCol>
                <a:gridCol w="1614191">
                  <a:extLst>
                    <a:ext uri="{9D8B030D-6E8A-4147-A177-3AD203B41FA5}">
                      <a16:colId xmlns:a16="http://schemas.microsoft.com/office/drawing/2014/main" val="121766972"/>
                    </a:ext>
                  </a:extLst>
                </a:gridCol>
                <a:gridCol w="1614191">
                  <a:extLst>
                    <a:ext uri="{9D8B030D-6E8A-4147-A177-3AD203B41FA5}">
                      <a16:colId xmlns:a16="http://schemas.microsoft.com/office/drawing/2014/main" val="2674268417"/>
                    </a:ext>
                  </a:extLst>
                </a:gridCol>
                <a:gridCol w="1614191">
                  <a:extLst>
                    <a:ext uri="{9D8B030D-6E8A-4147-A177-3AD203B41FA5}">
                      <a16:colId xmlns:a16="http://schemas.microsoft.com/office/drawing/2014/main" val="2469568359"/>
                    </a:ext>
                  </a:extLst>
                </a:gridCol>
                <a:gridCol w="1614191">
                  <a:extLst>
                    <a:ext uri="{9D8B030D-6E8A-4147-A177-3AD203B41FA5}">
                      <a16:colId xmlns:a16="http://schemas.microsoft.com/office/drawing/2014/main" val="398019076"/>
                    </a:ext>
                  </a:extLst>
                </a:gridCol>
                <a:gridCol w="1614191">
                  <a:extLst>
                    <a:ext uri="{9D8B030D-6E8A-4147-A177-3AD203B41FA5}">
                      <a16:colId xmlns:a16="http://schemas.microsoft.com/office/drawing/2014/main" val="3996948710"/>
                    </a:ext>
                  </a:extLst>
                </a:gridCol>
              </a:tblGrid>
              <a:tr h="1184987">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F1-Score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Early Detection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35478183"/>
                  </a:ext>
                </a:extLst>
              </a:tr>
              <a:tr h="1106414">
                <a:tc>
                  <a:txBody>
                    <a:bodyPr/>
                    <a:lstStyle/>
                    <a:p>
                      <a:pPr algn="ctr"/>
                      <a:r>
                        <a:rPr lang="en-IN" sz="2000">
                          <a:latin typeface="Times New Roman" panose="02020603050405020304" pitchFamily="18" charset="0"/>
                          <a:cs typeface="Times New Roman" panose="02020603050405020304" pitchFamily="18" charset="0"/>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79.8%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588247410"/>
                  </a:ext>
                </a:extLst>
              </a:tr>
              <a:tr h="632237">
                <a:tc>
                  <a:txBody>
                    <a:bodyPr/>
                    <a:lstStyle/>
                    <a:p>
                      <a:pPr algn="ctr"/>
                      <a:r>
                        <a:rPr lang="en-IN" sz="2000">
                          <a:latin typeface="Times New Roman" panose="02020603050405020304" pitchFamily="18" charset="0"/>
                          <a:cs typeface="Times New Roman" panose="02020603050405020304" pitchFamily="18" charset="0"/>
                        </a:rPr>
                        <a:t>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550379963"/>
                  </a:ext>
                </a:extLst>
              </a:tr>
              <a:tr h="632237">
                <a:tc>
                  <a:txBody>
                    <a:bodyPr/>
                    <a:lstStyle/>
                    <a:p>
                      <a:pPr algn="ctr"/>
                      <a:r>
                        <a:rPr lang="en-IN" sz="2000">
                          <a:latin typeface="Times New Roman" panose="02020603050405020304" pitchFamily="18" charset="0"/>
                          <a:cs typeface="Times New Roman" panose="02020603050405020304" pitchFamily="18"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34220590"/>
                  </a:ext>
                </a:extLst>
              </a:tr>
            </a:tbl>
          </a:graphicData>
        </a:graphic>
      </p:graphicFrame>
      <p:sp>
        <p:nvSpPr>
          <p:cNvPr id="6" name="TextBox 5">
            <a:extLst>
              <a:ext uri="{FF2B5EF4-FFF2-40B4-BE49-F238E27FC236}">
                <a16:creationId xmlns:a16="http://schemas.microsoft.com/office/drawing/2014/main" id="{2C254A23-7867-34B7-539B-F53599BDA563}"/>
              </a:ext>
            </a:extLst>
          </p:cNvPr>
          <p:cNvSpPr txBox="1"/>
          <p:nvPr/>
        </p:nvSpPr>
        <p:spPr>
          <a:xfrm>
            <a:off x="1931437" y="5504998"/>
            <a:ext cx="8546841" cy="707886"/>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Observation:</a:t>
            </a:r>
            <a:r>
              <a:rPr lang="en-US" sz="2000" dirty="0">
                <a:latin typeface="Times New Roman" panose="02020603050405020304" pitchFamily="18" charset="0"/>
                <a:cs typeface="Times New Roman" panose="02020603050405020304" pitchFamily="18" charset="0"/>
              </a:rPr>
              <a:t> Here the accuracy, precision, recall and F1-Score results are better for the random forest with high early detection capability same as SVM.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02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3DCEA8-420A-E434-2B56-25E7D7A91156}"/>
              </a:ext>
            </a:extLst>
          </p:cNvPr>
          <p:cNvSpPr txBox="1"/>
          <p:nvPr/>
        </p:nvSpPr>
        <p:spPr>
          <a:xfrm>
            <a:off x="1175657" y="783771"/>
            <a:ext cx="7966009" cy="461665"/>
          </a:xfrm>
          <a:prstGeom prst="rect">
            <a:avLst/>
          </a:prstGeom>
          <a:noFill/>
        </p:spPr>
        <p:txBody>
          <a:bodyPr wrap="square">
            <a:spAutoFit/>
          </a:bodyPr>
          <a:lstStyle/>
          <a:p>
            <a:r>
              <a:rPr lang="it-IT" sz="2400" b="1" dirty="0">
                <a:latin typeface="Times New Roman" panose="02020603050405020304" pitchFamily="18" charset="0"/>
                <a:cs typeface="Times New Roman" panose="02020603050405020304" pitchFamily="18" charset="0"/>
              </a:rPr>
              <a:t>5. PROMISE12 (Prostate MRI Dataset) :-</a:t>
            </a:r>
            <a:endParaRPr lang="en-IN" sz="24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8A48028-8A8F-E7EF-882D-B4AF953EADD9}"/>
              </a:ext>
            </a:extLst>
          </p:cNvPr>
          <p:cNvGraphicFramePr>
            <a:graphicFrameLocks noGrp="1"/>
          </p:cNvGraphicFramePr>
          <p:nvPr>
            <p:extLst>
              <p:ext uri="{D42A27DB-BD31-4B8C-83A1-F6EECF244321}">
                <p14:modId xmlns:p14="http://schemas.microsoft.com/office/powerpoint/2010/main" val="1712966320"/>
              </p:ext>
            </p:extLst>
          </p:nvPr>
        </p:nvGraphicFramePr>
        <p:xfrm>
          <a:off x="1315615" y="1427584"/>
          <a:ext cx="9731796" cy="3839079"/>
        </p:xfrm>
        <a:graphic>
          <a:graphicData uri="http://schemas.openxmlformats.org/drawingml/2006/table">
            <a:tbl>
              <a:tblPr/>
              <a:tblGrid>
                <a:gridCol w="1621966">
                  <a:extLst>
                    <a:ext uri="{9D8B030D-6E8A-4147-A177-3AD203B41FA5}">
                      <a16:colId xmlns:a16="http://schemas.microsoft.com/office/drawing/2014/main" val="3819776420"/>
                    </a:ext>
                  </a:extLst>
                </a:gridCol>
                <a:gridCol w="1621966">
                  <a:extLst>
                    <a:ext uri="{9D8B030D-6E8A-4147-A177-3AD203B41FA5}">
                      <a16:colId xmlns:a16="http://schemas.microsoft.com/office/drawing/2014/main" val="1449568246"/>
                    </a:ext>
                  </a:extLst>
                </a:gridCol>
                <a:gridCol w="1621966">
                  <a:extLst>
                    <a:ext uri="{9D8B030D-6E8A-4147-A177-3AD203B41FA5}">
                      <a16:colId xmlns:a16="http://schemas.microsoft.com/office/drawing/2014/main" val="2616865804"/>
                    </a:ext>
                  </a:extLst>
                </a:gridCol>
                <a:gridCol w="1621966">
                  <a:extLst>
                    <a:ext uri="{9D8B030D-6E8A-4147-A177-3AD203B41FA5}">
                      <a16:colId xmlns:a16="http://schemas.microsoft.com/office/drawing/2014/main" val="4206172968"/>
                    </a:ext>
                  </a:extLst>
                </a:gridCol>
                <a:gridCol w="1621966">
                  <a:extLst>
                    <a:ext uri="{9D8B030D-6E8A-4147-A177-3AD203B41FA5}">
                      <a16:colId xmlns:a16="http://schemas.microsoft.com/office/drawing/2014/main" val="2786892509"/>
                    </a:ext>
                  </a:extLst>
                </a:gridCol>
                <a:gridCol w="1621966">
                  <a:extLst>
                    <a:ext uri="{9D8B030D-6E8A-4147-A177-3AD203B41FA5}">
                      <a16:colId xmlns:a16="http://schemas.microsoft.com/office/drawing/2014/main" val="2825668943"/>
                    </a:ext>
                  </a:extLst>
                </a:gridCol>
              </a:tblGrid>
              <a:tr h="1046013">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F1-Score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IN" sz="2000" b="1" dirty="0">
                          <a:solidFill>
                            <a:schemeClr val="bg1"/>
                          </a:solidFill>
                          <a:latin typeface="Times New Roman" panose="02020603050405020304" pitchFamily="18" charset="0"/>
                          <a:cs typeface="Times New Roman" panose="02020603050405020304" pitchFamily="18" charset="0"/>
                        </a:rPr>
                        <a:t>Early Detection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05080651"/>
                  </a:ext>
                </a:extLst>
              </a:tr>
              <a:tr h="1494304">
                <a:tc>
                  <a:txBody>
                    <a:bodyPr/>
                    <a:lstStyle/>
                    <a:p>
                      <a:pPr algn="ctr"/>
                      <a:r>
                        <a:rPr lang="en-IN" sz="2000">
                          <a:latin typeface="Times New Roman" panose="02020603050405020304" pitchFamily="18" charset="0"/>
                          <a:cs typeface="Times New Roman" panose="02020603050405020304" pitchFamily="18" charset="0"/>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75.5%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2000" dirty="0">
                          <a:latin typeface="Times New Roman" panose="02020603050405020304" pitchFamily="18" charset="0"/>
                          <a:cs typeface="Times New Roman" panose="02020603050405020304" pitchFamily="18" charset="0"/>
                        </a:rPr>
                        <a:t>Low (not robust for volumetric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158916451"/>
                  </a:ext>
                </a:extLst>
              </a:tr>
              <a:tr h="597722">
                <a:tc>
                  <a:txBody>
                    <a:bodyPr/>
                    <a:lstStyle/>
                    <a:p>
                      <a:pPr algn="ctr"/>
                      <a:r>
                        <a:rPr lang="en-IN" sz="2000">
                          <a:latin typeface="Times New Roman" panose="02020603050405020304" pitchFamily="18" charset="0"/>
                          <a:cs typeface="Times New Roman" panose="02020603050405020304" pitchFamily="18" charset="0"/>
                        </a:rPr>
                        <a:t>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a:latin typeface="Times New Roman" panose="02020603050405020304" pitchFamily="18" charset="0"/>
                          <a:cs typeface="Times New Roman" panose="02020603050405020304" pitchFamily="18" charset="0"/>
                        </a:rPr>
                        <a:t>80.8%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15096497"/>
                  </a:ext>
                </a:extLst>
              </a:tr>
              <a:tr h="597722">
                <a:tc>
                  <a:txBody>
                    <a:bodyPr/>
                    <a:lstStyle/>
                    <a:p>
                      <a:pPr algn="ctr"/>
                      <a:r>
                        <a:rPr lang="en-IN" sz="2000">
                          <a:latin typeface="Times New Roman" panose="02020603050405020304" pitchFamily="18" charset="0"/>
                          <a:cs typeface="Times New Roman" panose="02020603050405020304" pitchFamily="18"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b="0" dirty="0">
                          <a:latin typeface="Times New Roman" panose="02020603050405020304" pitchFamily="18" charset="0"/>
                          <a:cs typeface="Times New Roman" panose="02020603050405020304" pitchFamily="18" charset="0"/>
                        </a:rPr>
                        <a:t>83.9%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60884139"/>
                  </a:ext>
                </a:extLst>
              </a:tr>
            </a:tbl>
          </a:graphicData>
        </a:graphic>
      </p:graphicFrame>
      <p:sp>
        <p:nvSpPr>
          <p:cNvPr id="8" name="TextBox 7">
            <a:extLst>
              <a:ext uri="{FF2B5EF4-FFF2-40B4-BE49-F238E27FC236}">
                <a16:creationId xmlns:a16="http://schemas.microsoft.com/office/drawing/2014/main" id="{B7716B80-302E-A318-5404-EC4DD8753D20}"/>
              </a:ext>
            </a:extLst>
          </p:cNvPr>
          <p:cNvSpPr txBox="1"/>
          <p:nvPr/>
        </p:nvSpPr>
        <p:spPr>
          <a:xfrm>
            <a:off x="1698171" y="5833750"/>
            <a:ext cx="8836090" cy="646331"/>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Observation:</a:t>
            </a:r>
            <a:r>
              <a:rPr lang="en-US" sz="1800" dirty="0">
                <a:latin typeface="Times New Roman" panose="02020603050405020304" pitchFamily="18" charset="0"/>
                <a:cs typeface="Times New Roman" panose="02020603050405020304" pitchFamily="18" charset="0"/>
              </a:rPr>
              <a:t> Here the results of logistic regression are not better in compare with SVM and random forest with moderate &amp; high early detection capability.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0217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26A520-FCAD-7C46-AFC0-910C6A35BDE5}"/>
              </a:ext>
            </a:extLst>
          </p:cNvPr>
          <p:cNvSpPr txBox="1"/>
          <p:nvPr/>
        </p:nvSpPr>
        <p:spPr>
          <a:xfrm>
            <a:off x="1558212" y="298581"/>
            <a:ext cx="9246637" cy="1676869"/>
          </a:xfrm>
          <a:prstGeom prst="rect">
            <a:avLst/>
          </a:prstGeom>
          <a:noFill/>
        </p:spPr>
        <p:txBody>
          <a:bodyPr wrap="square" rtlCol="0">
            <a:spAutoFit/>
          </a:bodyPr>
          <a:lstStyle/>
          <a:p>
            <a:pPr algn="ctr">
              <a:lnSpc>
                <a:spcPct val="150000"/>
              </a:lnSpc>
            </a:pPr>
            <a:r>
              <a:rPr lang="en-IN" sz="4400" b="1" u="sng" dirty="0">
                <a:latin typeface="Times New Roman" panose="02020603050405020304" pitchFamily="18" charset="0"/>
                <a:cs typeface="Times New Roman" panose="02020603050405020304" pitchFamily="18" charset="0"/>
              </a:rPr>
              <a:t>Skin Cancer</a:t>
            </a:r>
          </a:p>
          <a:p>
            <a:pPr algn="ctr">
              <a:lnSpc>
                <a:spcPct val="150000"/>
              </a:lnSpc>
            </a:pPr>
            <a:r>
              <a:rPr lang="en-IN" sz="2800" b="1" dirty="0">
                <a:latin typeface="Times New Roman" panose="02020603050405020304" pitchFamily="18" charset="0"/>
                <a:cs typeface="Times New Roman" panose="02020603050405020304" pitchFamily="18" charset="0"/>
              </a:rPr>
              <a:t>(3</a:t>
            </a:r>
            <a:r>
              <a:rPr lang="en-IN" sz="2800" b="1" baseline="30000" dirty="0">
                <a:latin typeface="Times New Roman" panose="02020603050405020304" pitchFamily="18" charset="0"/>
                <a:cs typeface="Times New Roman" panose="02020603050405020304" pitchFamily="18" charset="0"/>
              </a:rPr>
              <a:t>rd</a:t>
            </a:r>
            <a:r>
              <a:rPr lang="en-IN" sz="2800" b="1" dirty="0">
                <a:latin typeface="Times New Roman" panose="02020603050405020304" pitchFamily="18" charset="0"/>
                <a:cs typeface="Times New Roman" panose="02020603050405020304" pitchFamily="18" charset="0"/>
              </a:rPr>
              <a:t> presentation [07/07/2025])</a:t>
            </a:r>
          </a:p>
        </p:txBody>
      </p:sp>
      <p:sp>
        <p:nvSpPr>
          <p:cNvPr id="3" name="TextBox 2">
            <a:extLst>
              <a:ext uri="{FF2B5EF4-FFF2-40B4-BE49-F238E27FC236}">
                <a16:creationId xmlns:a16="http://schemas.microsoft.com/office/drawing/2014/main" id="{DACD335C-6AB9-8E92-2F4F-600C071CC90B}"/>
              </a:ext>
            </a:extLst>
          </p:cNvPr>
          <p:cNvSpPr txBox="1"/>
          <p:nvPr/>
        </p:nvSpPr>
        <p:spPr>
          <a:xfrm>
            <a:off x="1474237" y="2640563"/>
            <a:ext cx="9414587" cy="295850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Available Datasets for skin cancer</a:t>
            </a:r>
          </a:p>
          <a:p>
            <a:pPr marL="285750" indent="-28575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Drawbacks from available reference papers</a:t>
            </a:r>
          </a:p>
          <a:p>
            <a:pPr marL="285750" indent="-28575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The possible solution of drawbacks</a:t>
            </a:r>
          </a:p>
          <a:p>
            <a:pPr marL="285750" indent="-28575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Required Libraries</a:t>
            </a:r>
          </a:p>
        </p:txBody>
      </p:sp>
    </p:spTree>
    <p:extLst>
      <p:ext uri="{BB962C8B-B14F-4D97-AF65-F5344CB8AC3E}">
        <p14:creationId xmlns:p14="http://schemas.microsoft.com/office/powerpoint/2010/main" val="2357591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64542B-6D1E-E253-6B63-8054EDFDDEC6}"/>
              </a:ext>
            </a:extLst>
          </p:cNvPr>
          <p:cNvSpPr txBox="1"/>
          <p:nvPr/>
        </p:nvSpPr>
        <p:spPr>
          <a:xfrm>
            <a:off x="1203649" y="1642188"/>
            <a:ext cx="9759820" cy="5028556"/>
          </a:xfrm>
          <a:prstGeom prst="rect">
            <a:avLst/>
          </a:prstGeom>
          <a:noFill/>
        </p:spPr>
        <p:txBody>
          <a:bodyPr wrap="square">
            <a:spAutoFit/>
          </a:bodyPr>
          <a:lstStyle/>
          <a:p>
            <a:pPr algn="just">
              <a:lnSpc>
                <a:spcPct val="150000"/>
              </a:lnSpc>
              <a:buNone/>
            </a:pPr>
            <a:r>
              <a:rPr lang="en-IN" dirty="0">
                <a:latin typeface="Times New Roman" panose="02020603050405020304" pitchFamily="18" charset="0"/>
                <a:cs typeface="Times New Roman" panose="02020603050405020304" pitchFamily="18" charset="0"/>
              </a:rPr>
              <a:t>1) HAM10000 (10,015 dermoscopic images)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Kaggle (Skin Cancer MNIST) – ~10K well- labeled images across 7 lesion types</a:t>
            </a:r>
          </a:p>
          <a:p>
            <a:pPr algn="just">
              <a:lnSpc>
                <a:spcPct val="150000"/>
              </a:lnSpc>
            </a:pPr>
            <a:r>
              <a:rPr lang="en-IN"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ISIC Archive (13k+ dermoscopic images)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ISIC Challenge Portal – segmented and classified ISIC datasets from 2016–2020</a:t>
            </a:r>
          </a:p>
          <a:p>
            <a:pPr algn="just">
              <a:lnSpc>
                <a:spcPct val="150000"/>
              </a:lnSpc>
            </a:pPr>
            <a:r>
              <a:rPr lang="en-IN" dirty="0">
                <a:latin typeface="Times New Roman" panose="02020603050405020304" pitchFamily="18" charset="0"/>
                <a:cs typeface="Times New Roman" panose="02020603050405020304" pitchFamily="18" charset="0"/>
              </a:rPr>
              <a:t>3) PH^2 Dataset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 dermoscopic dataset for melanoma analysis with over 200 images.</a:t>
            </a:r>
          </a:p>
          <a:p>
            <a:pPr algn="just">
              <a:lnSpc>
                <a:spcPct val="150000"/>
              </a:lnSpc>
            </a:pPr>
            <a:r>
              <a:rPr lang="en-IN" dirty="0">
                <a:latin typeface="Times New Roman" panose="02020603050405020304" pitchFamily="18" charset="0"/>
                <a:cs typeface="Times New Roman" panose="02020603050405020304" pitchFamily="18" charset="0"/>
              </a:rPr>
              <a:t>4) Derm7pt Dataset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Focuses on the seven-point melanoma checklist criteria with 1,011 images.</a:t>
            </a:r>
          </a:p>
          <a:p>
            <a:pPr algn="just">
              <a:lnSpc>
                <a:spcPct val="150000"/>
              </a:lnSpc>
            </a:pPr>
            <a:r>
              <a:rPr lang="en-IN" dirty="0">
                <a:latin typeface="Times New Roman" panose="02020603050405020304" pitchFamily="18" charset="0"/>
                <a:cs typeface="Times New Roman" panose="02020603050405020304" pitchFamily="18" charset="0"/>
              </a:rPr>
              <a:t>5) BCN20000</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dataset for skin cancer classification developed by the Barcelona Supercomputing Center with 26,426 images and 8 types of skin lesions.</a:t>
            </a: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0489835-A49D-5D9D-9E44-CD90A722184F}"/>
              </a:ext>
            </a:extLst>
          </p:cNvPr>
          <p:cNvSpPr txBox="1"/>
          <p:nvPr/>
        </p:nvSpPr>
        <p:spPr>
          <a:xfrm>
            <a:off x="1567543" y="401216"/>
            <a:ext cx="9759820" cy="823752"/>
          </a:xfrm>
          <a:prstGeom prst="rect">
            <a:avLst/>
          </a:prstGeom>
          <a:noFill/>
        </p:spPr>
        <p:txBody>
          <a:bodyPr wrap="square">
            <a:spAutoFit/>
          </a:bodyPr>
          <a:lstStyle/>
          <a:p>
            <a:pPr algn="ctr">
              <a:lnSpc>
                <a:spcPct val="150000"/>
              </a:lnSpc>
            </a:pPr>
            <a:r>
              <a:rPr lang="en-IN" sz="3600" b="1" dirty="0">
                <a:latin typeface="Times New Roman" panose="02020603050405020304" pitchFamily="18" charset="0"/>
                <a:cs typeface="Times New Roman" panose="02020603050405020304" pitchFamily="18" charset="0"/>
              </a:rPr>
              <a:t>Available Datasets for skin cancer</a:t>
            </a:r>
          </a:p>
        </p:txBody>
      </p:sp>
    </p:spTree>
    <p:extLst>
      <p:ext uri="{BB962C8B-B14F-4D97-AF65-F5344CB8AC3E}">
        <p14:creationId xmlns:p14="http://schemas.microsoft.com/office/powerpoint/2010/main" val="4119216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BAC5D9-7F0A-0F23-5FB8-7B461327C986}"/>
              </a:ext>
            </a:extLst>
          </p:cNvPr>
          <p:cNvSpPr txBox="1"/>
          <p:nvPr/>
        </p:nvSpPr>
        <p:spPr>
          <a:xfrm>
            <a:off x="1231641" y="363894"/>
            <a:ext cx="9871788" cy="661207"/>
          </a:xfrm>
          <a:prstGeom prst="rect">
            <a:avLst/>
          </a:prstGeom>
          <a:noFill/>
        </p:spPr>
        <p:txBody>
          <a:bodyPr wrap="square">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Drawbacks from available reference papers</a:t>
            </a:r>
          </a:p>
        </p:txBody>
      </p:sp>
      <p:sp>
        <p:nvSpPr>
          <p:cNvPr id="4" name="TextBox 3">
            <a:extLst>
              <a:ext uri="{FF2B5EF4-FFF2-40B4-BE49-F238E27FC236}">
                <a16:creationId xmlns:a16="http://schemas.microsoft.com/office/drawing/2014/main" id="{5BFB70FE-E305-5E72-BF65-793503DEDDAA}"/>
              </a:ext>
            </a:extLst>
          </p:cNvPr>
          <p:cNvSpPr txBox="1"/>
          <p:nvPr/>
        </p:nvSpPr>
        <p:spPr>
          <a:xfrm>
            <a:off x="1054359" y="1352939"/>
            <a:ext cx="9871788"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Here, the common drawbacks from various available reference papers on skin cancer.</a:t>
            </a:r>
          </a:p>
        </p:txBody>
      </p:sp>
      <p:sp>
        <p:nvSpPr>
          <p:cNvPr id="6" name="TextBox 5">
            <a:extLst>
              <a:ext uri="{FF2B5EF4-FFF2-40B4-BE49-F238E27FC236}">
                <a16:creationId xmlns:a16="http://schemas.microsoft.com/office/drawing/2014/main" id="{31CA0AD2-061D-8353-FAA7-BADB81C069EC}"/>
              </a:ext>
            </a:extLst>
          </p:cNvPr>
          <p:cNvSpPr txBox="1"/>
          <p:nvPr/>
        </p:nvSpPr>
        <p:spPr>
          <a:xfrm>
            <a:off x="1138335" y="2413338"/>
            <a:ext cx="9787812" cy="2806987"/>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1) Class Imbalance :- </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Problem</a:t>
            </a:r>
            <a:r>
              <a:rPr lang="en-US" sz="2000" dirty="0">
                <a:latin typeface="Times New Roman" panose="02020603050405020304" pitchFamily="18" charset="0"/>
                <a:cs typeface="Times New Roman" panose="02020603050405020304" pitchFamily="18" charset="0"/>
              </a:rPr>
              <a:t>: Malignant classes (like melanoma) are underrepresented compared to benign lesions.</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Effect</a:t>
            </a:r>
            <a:r>
              <a:rPr lang="en-US" sz="2000" dirty="0">
                <a:latin typeface="Times New Roman" panose="02020603050405020304" pitchFamily="18" charset="0"/>
                <a:cs typeface="Times New Roman" panose="02020603050405020304" pitchFamily="18" charset="0"/>
              </a:rPr>
              <a:t>: High overall accuracy, but </a:t>
            </a:r>
            <a:r>
              <a:rPr lang="en-US" sz="2000" b="1" dirty="0">
                <a:latin typeface="Times New Roman" panose="02020603050405020304" pitchFamily="18" charset="0"/>
                <a:cs typeface="Times New Roman" panose="02020603050405020304" pitchFamily="18" charset="0"/>
              </a:rPr>
              <a:t>low recall for melanoma</a:t>
            </a:r>
            <a:r>
              <a:rPr lang="en-US" sz="2000" dirty="0">
                <a:latin typeface="Times New Roman" panose="02020603050405020304" pitchFamily="18" charset="0"/>
                <a:cs typeface="Times New Roman" panose="02020603050405020304" pitchFamily="18" charset="0"/>
              </a:rPr>
              <a:t>—which is critical for early detection.</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Many models achieve &gt;90% accuracy but only 60–70% recall for melanoma.</a:t>
            </a:r>
          </a:p>
        </p:txBody>
      </p:sp>
    </p:spTree>
    <p:extLst>
      <p:ext uri="{BB962C8B-B14F-4D97-AF65-F5344CB8AC3E}">
        <p14:creationId xmlns:p14="http://schemas.microsoft.com/office/powerpoint/2010/main" val="3265048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72EDFE-73F3-6C73-6DDE-BE1D7D795A8D}"/>
              </a:ext>
            </a:extLst>
          </p:cNvPr>
          <p:cNvSpPr txBox="1"/>
          <p:nvPr/>
        </p:nvSpPr>
        <p:spPr>
          <a:xfrm>
            <a:off x="1026367" y="830424"/>
            <a:ext cx="9871788" cy="2345322"/>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2) Lack of Robust Validation :-</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Problem</a:t>
            </a:r>
            <a:r>
              <a:rPr lang="en-US" sz="2000" dirty="0">
                <a:latin typeface="Times New Roman" panose="02020603050405020304" pitchFamily="18" charset="0"/>
                <a:cs typeface="Times New Roman" panose="02020603050405020304" pitchFamily="18" charset="0"/>
              </a:rPr>
              <a:t>: Most papers use </a:t>
            </a:r>
            <a:r>
              <a:rPr lang="en-US" sz="2000" b="1" dirty="0">
                <a:latin typeface="Times New Roman" panose="02020603050405020304" pitchFamily="18" charset="0"/>
                <a:cs typeface="Times New Roman" panose="02020603050405020304" pitchFamily="18" charset="0"/>
              </a:rPr>
              <a:t>random 80/20 train-test splits</a:t>
            </a:r>
            <a:r>
              <a:rPr lang="en-US" sz="2000" dirty="0">
                <a:latin typeface="Times New Roman" panose="02020603050405020304" pitchFamily="18" charset="0"/>
                <a:cs typeface="Times New Roman" panose="02020603050405020304" pitchFamily="18" charset="0"/>
              </a:rPr>
              <a:t> without external validation.</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Effect</a:t>
            </a:r>
            <a:r>
              <a:rPr lang="en-US" sz="2000" dirty="0">
                <a:latin typeface="Times New Roman" panose="02020603050405020304" pitchFamily="18" charset="0"/>
                <a:cs typeface="Times New Roman" panose="02020603050405020304" pitchFamily="18" charset="0"/>
              </a:rPr>
              <a:t>: Models may overfit and fail on real-world unseen images.</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Good performance on HAM10000 test split, poor generalization on ISIC 2020 or PH2 datasets.</a:t>
            </a:r>
          </a:p>
        </p:txBody>
      </p:sp>
      <p:sp>
        <p:nvSpPr>
          <p:cNvPr id="5" name="TextBox 4">
            <a:extLst>
              <a:ext uri="{FF2B5EF4-FFF2-40B4-BE49-F238E27FC236}">
                <a16:creationId xmlns:a16="http://schemas.microsoft.com/office/drawing/2014/main" id="{6D77EC87-4396-6700-8FD1-FDEFFC6BA9ED}"/>
              </a:ext>
            </a:extLst>
          </p:cNvPr>
          <p:cNvSpPr txBox="1"/>
          <p:nvPr/>
        </p:nvSpPr>
        <p:spPr>
          <a:xfrm>
            <a:off x="1026367" y="3429000"/>
            <a:ext cx="9871788" cy="2345322"/>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3) No Metadata Utilization :-</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Problem</a:t>
            </a:r>
            <a:r>
              <a:rPr lang="en-US" sz="2000" dirty="0">
                <a:latin typeface="Times New Roman" panose="02020603050405020304" pitchFamily="18" charset="0"/>
                <a:cs typeface="Times New Roman" panose="02020603050405020304" pitchFamily="18" charset="0"/>
              </a:rPr>
              <a:t>: Age, lesion location, and sex are ignored in most ML models.</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Effect</a:t>
            </a:r>
            <a:r>
              <a:rPr lang="en-US" sz="2000" dirty="0">
                <a:latin typeface="Times New Roman" panose="02020603050405020304" pitchFamily="18" charset="0"/>
                <a:cs typeface="Times New Roman" panose="02020603050405020304" pitchFamily="18" charset="0"/>
              </a:rPr>
              <a:t>: Missed opportunity—dermatologists consider these crucial for diagnosis.</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Ignoring the fact that melanoma risk increases with age or that certain lesions are location-dependent.</a:t>
            </a:r>
          </a:p>
        </p:txBody>
      </p:sp>
      <p:sp>
        <p:nvSpPr>
          <p:cNvPr id="7" name="TextBox 6">
            <a:extLst>
              <a:ext uri="{FF2B5EF4-FFF2-40B4-BE49-F238E27FC236}">
                <a16:creationId xmlns:a16="http://schemas.microsoft.com/office/drawing/2014/main" id="{5B036231-DD59-7B3B-856D-A2B95137B62E}"/>
              </a:ext>
            </a:extLst>
          </p:cNvPr>
          <p:cNvSpPr txBox="1"/>
          <p:nvPr/>
        </p:nvSpPr>
        <p:spPr>
          <a:xfrm>
            <a:off x="2304661" y="279918"/>
            <a:ext cx="6837005" cy="498663"/>
          </a:xfrm>
          <a:prstGeom prst="rect">
            <a:avLst/>
          </a:prstGeom>
          <a:noFill/>
        </p:spPr>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Drawbacks from available reference papers</a:t>
            </a:r>
          </a:p>
        </p:txBody>
      </p:sp>
    </p:spTree>
    <p:extLst>
      <p:ext uri="{BB962C8B-B14F-4D97-AF65-F5344CB8AC3E}">
        <p14:creationId xmlns:p14="http://schemas.microsoft.com/office/powerpoint/2010/main" val="3447942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51032F0-EBC0-2991-8206-00E4D879443C}"/>
              </a:ext>
            </a:extLst>
          </p:cNvPr>
          <p:cNvSpPr txBox="1"/>
          <p:nvPr/>
        </p:nvSpPr>
        <p:spPr>
          <a:xfrm>
            <a:off x="1073019" y="1259633"/>
            <a:ext cx="10030409" cy="1883657"/>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4) Low Explainability :-</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Problem</a:t>
            </a:r>
            <a:r>
              <a:rPr lang="en-US" sz="2000" dirty="0">
                <a:latin typeface="Times New Roman" panose="02020603050405020304" pitchFamily="18" charset="0"/>
                <a:cs typeface="Times New Roman" panose="02020603050405020304" pitchFamily="18" charset="0"/>
              </a:rPr>
              <a:t>: ML models (especially RF, SVM) are used as black boxes.</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Effect</a:t>
            </a:r>
            <a:r>
              <a:rPr lang="en-US" sz="2000" dirty="0">
                <a:latin typeface="Times New Roman" panose="02020603050405020304" pitchFamily="18" charset="0"/>
                <a:cs typeface="Times New Roman" panose="02020603050405020304" pitchFamily="18" charset="0"/>
              </a:rPr>
              <a:t>: Doctors cannot trust predictions without visual/clinical justification.</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No Grad-CAM, SHAP, or LIME explanations are provided.</a:t>
            </a:r>
          </a:p>
        </p:txBody>
      </p:sp>
      <p:sp>
        <p:nvSpPr>
          <p:cNvPr id="11" name="TextBox 10">
            <a:extLst>
              <a:ext uri="{FF2B5EF4-FFF2-40B4-BE49-F238E27FC236}">
                <a16:creationId xmlns:a16="http://schemas.microsoft.com/office/drawing/2014/main" id="{0AE59A4E-A7D3-1DD2-81DC-F299C0E904F9}"/>
              </a:ext>
            </a:extLst>
          </p:cNvPr>
          <p:cNvSpPr txBox="1"/>
          <p:nvPr/>
        </p:nvSpPr>
        <p:spPr>
          <a:xfrm>
            <a:off x="1073020" y="3872204"/>
            <a:ext cx="10030408" cy="1883657"/>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5) Neglected Early Detection :-</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Problem</a:t>
            </a:r>
            <a:r>
              <a:rPr lang="en-US" sz="2000" dirty="0">
                <a:latin typeface="Times New Roman" panose="02020603050405020304" pitchFamily="18" charset="0"/>
                <a:cs typeface="Times New Roman" panose="02020603050405020304" pitchFamily="18" charset="0"/>
              </a:rPr>
              <a:t>: Early-stage melanomas are harder to classify and often misclassified.</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Effect</a:t>
            </a:r>
            <a:r>
              <a:rPr lang="en-US" sz="2000" dirty="0">
                <a:latin typeface="Times New Roman" panose="02020603050405020304" pitchFamily="18" charset="0"/>
                <a:cs typeface="Times New Roman" panose="02020603050405020304" pitchFamily="18" charset="0"/>
              </a:rPr>
              <a:t>: Reduced recall in cases that most urgently need early diagnosis.</a:t>
            </a:r>
          </a:p>
          <a:p>
            <a:pPr>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Misclassified small lesions due to poor contrast or less visible features.</a:t>
            </a:r>
          </a:p>
        </p:txBody>
      </p:sp>
      <p:sp>
        <p:nvSpPr>
          <p:cNvPr id="13" name="TextBox 12">
            <a:extLst>
              <a:ext uri="{FF2B5EF4-FFF2-40B4-BE49-F238E27FC236}">
                <a16:creationId xmlns:a16="http://schemas.microsoft.com/office/drawing/2014/main" id="{2FA93289-EC89-2F05-4228-584F779B93E2}"/>
              </a:ext>
            </a:extLst>
          </p:cNvPr>
          <p:cNvSpPr txBox="1"/>
          <p:nvPr/>
        </p:nvSpPr>
        <p:spPr>
          <a:xfrm>
            <a:off x="1464907" y="530719"/>
            <a:ext cx="7676760" cy="498663"/>
          </a:xfrm>
          <a:prstGeom prst="rect">
            <a:avLst/>
          </a:prstGeom>
          <a:noFill/>
        </p:spPr>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Drawbacks from available reference papers</a:t>
            </a:r>
          </a:p>
        </p:txBody>
      </p:sp>
    </p:spTree>
    <p:extLst>
      <p:ext uri="{BB962C8B-B14F-4D97-AF65-F5344CB8AC3E}">
        <p14:creationId xmlns:p14="http://schemas.microsoft.com/office/powerpoint/2010/main" val="2228837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603477-42D1-0BEE-00D0-2A365AD65AAA}"/>
              </a:ext>
            </a:extLst>
          </p:cNvPr>
          <p:cNvSpPr txBox="1"/>
          <p:nvPr/>
        </p:nvSpPr>
        <p:spPr>
          <a:xfrm>
            <a:off x="1455575" y="298580"/>
            <a:ext cx="9741159" cy="661207"/>
          </a:xfrm>
          <a:prstGeom prst="rect">
            <a:avLst/>
          </a:prstGeom>
          <a:noFill/>
        </p:spPr>
        <p:txBody>
          <a:bodyPr wrap="square">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The possible solution of drawbacks</a:t>
            </a:r>
          </a:p>
        </p:txBody>
      </p:sp>
      <p:sp>
        <p:nvSpPr>
          <p:cNvPr id="5" name="TextBox 4">
            <a:extLst>
              <a:ext uri="{FF2B5EF4-FFF2-40B4-BE49-F238E27FC236}">
                <a16:creationId xmlns:a16="http://schemas.microsoft.com/office/drawing/2014/main" id="{79531EA5-35F4-DE1C-44A2-01E458024993}"/>
              </a:ext>
            </a:extLst>
          </p:cNvPr>
          <p:cNvSpPr txBox="1"/>
          <p:nvPr/>
        </p:nvSpPr>
        <p:spPr>
          <a:xfrm>
            <a:off x="1455575" y="2509935"/>
            <a:ext cx="8882743" cy="4139595"/>
          </a:xfrm>
          <a:prstGeom prst="rect">
            <a:avLst/>
          </a:prstGeom>
          <a:noFill/>
        </p:spPr>
        <p:txBody>
          <a:bodyPr wrap="square">
            <a:spAutoFit/>
          </a:bodyPr>
          <a:lstStyle/>
          <a:p>
            <a:r>
              <a:rPr lang="en-IN" dirty="0"/>
              <a:t># Example for HAM10000</a:t>
            </a:r>
          </a:p>
          <a:p>
            <a:r>
              <a:rPr lang="en-IN" dirty="0"/>
              <a:t>import pandas as pd</a:t>
            </a:r>
          </a:p>
          <a:p>
            <a:r>
              <a:rPr lang="en-IN" dirty="0"/>
              <a:t>import cv2</a:t>
            </a:r>
          </a:p>
          <a:p>
            <a:r>
              <a:rPr lang="en-IN" dirty="0"/>
              <a:t>import numpy as np</a:t>
            </a:r>
          </a:p>
          <a:p>
            <a:r>
              <a:rPr lang="en-IN" dirty="0"/>
              <a:t>from sklearn.preprocessing import LabelEncoder</a:t>
            </a:r>
          </a:p>
          <a:p>
            <a:r>
              <a:rPr lang="en-IN" dirty="0"/>
              <a:t>from sklearn.model_selection import train_test_split</a:t>
            </a:r>
          </a:p>
          <a:p>
            <a:r>
              <a:rPr lang="en-IN" dirty="0"/>
              <a:t>from sklearn.utils import resample</a:t>
            </a:r>
          </a:p>
          <a:p>
            <a:endParaRPr lang="en-IN" dirty="0"/>
          </a:p>
          <a:p>
            <a:r>
              <a:rPr lang="en-IN" dirty="0"/>
              <a:t># Load metadata</a:t>
            </a:r>
          </a:p>
          <a:p>
            <a:r>
              <a:rPr lang="en-IN" dirty="0"/>
              <a:t>df = pd.read_csv("HAM10000_metadata.csv")</a:t>
            </a:r>
          </a:p>
          <a:p>
            <a:endParaRPr lang="en-IN" dirty="0"/>
          </a:p>
          <a:p>
            <a:r>
              <a:rPr lang="en-IN" dirty="0"/>
              <a:t># Remove duplicates and NaNs</a:t>
            </a:r>
          </a:p>
          <a:p>
            <a:r>
              <a:rPr lang="en-IN" dirty="0" err="1"/>
              <a:t>df.dropna</a:t>
            </a:r>
            <a:r>
              <a:rPr lang="en-IN" dirty="0"/>
              <a:t>(inplace=True)</a:t>
            </a:r>
          </a:p>
          <a:p>
            <a:r>
              <a:rPr lang="en-IN" dirty="0"/>
              <a:t>df = </a:t>
            </a:r>
            <a:r>
              <a:rPr lang="en-IN" dirty="0" err="1"/>
              <a:t>df.drop_duplicates</a:t>
            </a:r>
            <a:r>
              <a:rPr lang="en-IN" dirty="0"/>
              <a:t>()</a:t>
            </a:r>
          </a:p>
          <a:p>
            <a:endParaRPr lang="en-IN" sz="1100" dirty="0"/>
          </a:p>
        </p:txBody>
      </p:sp>
      <p:sp>
        <p:nvSpPr>
          <p:cNvPr id="6" name="TextBox 5">
            <a:extLst>
              <a:ext uri="{FF2B5EF4-FFF2-40B4-BE49-F238E27FC236}">
                <a16:creationId xmlns:a16="http://schemas.microsoft.com/office/drawing/2014/main" id="{4BE2F5BF-7F3C-E922-0E7D-B7CB29A1E649}"/>
              </a:ext>
            </a:extLst>
          </p:cNvPr>
          <p:cNvSpPr txBox="1"/>
          <p:nvPr/>
        </p:nvSpPr>
        <p:spPr>
          <a:xfrm>
            <a:off x="1455576" y="1362269"/>
            <a:ext cx="7007290" cy="138499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 Cleaning and Preprocessing :-</a:t>
            </a:r>
          </a:p>
          <a:p>
            <a:pPr>
              <a:lnSpc>
                <a:spcPct val="150000"/>
              </a:lnSpc>
            </a:pPr>
            <a:r>
              <a:rPr lang="en-IN" sz="2400" b="1" dirty="0">
                <a:latin typeface="Times New Roman" panose="02020603050405020304" pitchFamily="18" charset="0"/>
                <a:cs typeface="Times New Roman" panose="02020603050405020304" pitchFamily="18" charset="0"/>
              </a:rPr>
              <a:t>Code =&gt;</a:t>
            </a:r>
          </a:p>
          <a:p>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273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C51D7A-EF0C-E9E8-704C-B26B99604303}"/>
              </a:ext>
            </a:extLst>
          </p:cNvPr>
          <p:cNvSpPr txBox="1"/>
          <p:nvPr/>
        </p:nvSpPr>
        <p:spPr>
          <a:xfrm>
            <a:off x="1520890" y="1073020"/>
            <a:ext cx="8836090" cy="4708981"/>
          </a:xfrm>
          <a:prstGeom prst="rect">
            <a:avLst/>
          </a:prstGeom>
          <a:noFill/>
        </p:spPr>
        <p:txBody>
          <a:bodyPr wrap="square">
            <a:spAutoFit/>
          </a:bodyPr>
          <a:lstStyle/>
          <a:p>
            <a:r>
              <a:rPr lang="en-IN" sz="2000" dirty="0"/>
              <a:t># Encode labels</a:t>
            </a:r>
          </a:p>
          <a:p>
            <a:r>
              <a:rPr lang="en-IN" sz="2000" dirty="0"/>
              <a:t>le = LabelEncoder()</a:t>
            </a:r>
          </a:p>
          <a:p>
            <a:r>
              <a:rPr lang="en-IN" sz="2000" dirty="0"/>
              <a:t>df['label'] = le.fit_transform(df['dx'])  # dx = diagnosis</a:t>
            </a:r>
          </a:p>
          <a:p>
            <a:endParaRPr lang="en-IN" sz="2000" dirty="0"/>
          </a:p>
          <a:p>
            <a:r>
              <a:rPr lang="en-IN" sz="2000" dirty="0"/>
              <a:t># Resize and normalize images</a:t>
            </a:r>
          </a:p>
          <a:p>
            <a:r>
              <a:rPr lang="en-IN" sz="2000" dirty="0"/>
              <a:t>def load_images(df, img_path):</a:t>
            </a:r>
          </a:p>
          <a:p>
            <a:r>
              <a:rPr lang="en-IN" sz="2000" dirty="0"/>
              <a:t>    images = []</a:t>
            </a:r>
          </a:p>
          <a:p>
            <a:r>
              <a:rPr lang="en-IN" sz="2000" dirty="0"/>
              <a:t>    for img in df['image_id']:</a:t>
            </a:r>
          </a:p>
          <a:p>
            <a:r>
              <a:rPr lang="en-IN" sz="2000" dirty="0"/>
              <a:t>        img = cv2.imread(f"{img_path}/{img}.jpg")</a:t>
            </a:r>
          </a:p>
          <a:p>
            <a:r>
              <a:rPr lang="en-IN" sz="2000" dirty="0"/>
              <a:t>        img = cv2.resize(img, (64, 64)) / 255.0</a:t>
            </a:r>
          </a:p>
          <a:p>
            <a:r>
              <a:rPr lang="en-IN" sz="2000" dirty="0"/>
              <a:t>        images.append(img)</a:t>
            </a:r>
          </a:p>
          <a:p>
            <a:r>
              <a:rPr lang="en-IN" sz="2000" dirty="0"/>
              <a:t>    return np.array(images)</a:t>
            </a:r>
          </a:p>
          <a:p>
            <a:endParaRPr lang="en-IN" sz="2000" dirty="0"/>
          </a:p>
          <a:p>
            <a:r>
              <a:rPr lang="en-IN" sz="2000" dirty="0"/>
              <a:t>X = load_images(df, "HAM10000_images")</a:t>
            </a:r>
          </a:p>
          <a:p>
            <a:r>
              <a:rPr lang="en-IN" sz="2000" dirty="0"/>
              <a:t>y = df['label'].values</a:t>
            </a:r>
          </a:p>
        </p:txBody>
      </p:sp>
    </p:spTree>
    <p:extLst>
      <p:ext uri="{BB962C8B-B14F-4D97-AF65-F5344CB8AC3E}">
        <p14:creationId xmlns:p14="http://schemas.microsoft.com/office/powerpoint/2010/main" val="14384672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58BE3A-85C6-5983-86F7-5D5924C14C31}"/>
              </a:ext>
            </a:extLst>
          </p:cNvPr>
          <p:cNvSpPr txBox="1"/>
          <p:nvPr/>
        </p:nvSpPr>
        <p:spPr>
          <a:xfrm>
            <a:off x="1315616" y="765111"/>
            <a:ext cx="7788727"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For</a:t>
            </a:r>
            <a:r>
              <a:rPr lang="en-IN" sz="20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Class</a:t>
            </a:r>
            <a:r>
              <a:rPr lang="en-IN" sz="20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Imbalance</a:t>
            </a:r>
            <a:r>
              <a:rPr lang="en-IN" sz="2000" b="1"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3188DF92-283B-A190-1174-A52ECE7DAB82}"/>
              </a:ext>
            </a:extLst>
          </p:cNvPr>
          <p:cNvSpPr txBox="1"/>
          <p:nvPr/>
        </p:nvSpPr>
        <p:spPr>
          <a:xfrm>
            <a:off x="1352938" y="1673487"/>
            <a:ext cx="8500189" cy="1704569"/>
          </a:xfrm>
          <a:prstGeom prst="rect">
            <a:avLst/>
          </a:prstGeom>
          <a:noFill/>
        </p:spPr>
        <p:txBody>
          <a:bodyPr wrap="square">
            <a:spAutoFit/>
          </a:bodyPr>
          <a:lstStyle/>
          <a:p>
            <a:pPr algn="just">
              <a:lnSpc>
                <a:spcPct val="150000"/>
              </a:lnSpc>
              <a:buNone/>
            </a:pPr>
            <a:r>
              <a:rPr lang="en-US" b="1" dirty="0">
                <a:latin typeface="Times New Roman" panose="02020603050405020304" pitchFamily="18" charset="0"/>
                <a:cs typeface="Times New Roman" panose="02020603050405020304" pitchFamily="18" charset="0"/>
              </a:rPr>
              <a:t>Solution:</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oversampling</a:t>
            </a:r>
            <a:r>
              <a:rPr lang="en-US" dirty="0">
                <a:latin typeface="Times New Roman" panose="02020603050405020304" pitchFamily="18" charset="0"/>
                <a:cs typeface="Times New Roman" panose="02020603050405020304" pitchFamily="18" charset="0"/>
              </a:rPr>
              <a:t> (e.g., SMOTE) or </a:t>
            </a:r>
            <a:r>
              <a:rPr lang="en-US" b="1" dirty="0">
                <a:latin typeface="Times New Roman" panose="02020603050405020304" pitchFamily="18" charset="0"/>
                <a:cs typeface="Times New Roman" panose="02020603050405020304" pitchFamily="18" charset="0"/>
              </a:rPr>
              <a:t>undersampling</a:t>
            </a:r>
            <a:endParaRPr lang="en-US"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a:t>
            </a:r>
            <a:r>
              <a:rPr lang="en-US" b="1" dirty="0">
                <a:latin typeface="Times New Roman" panose="02020603050405020304" pitchFamily="18" charset="0"/>
                <a:cs typeface="Times New Roman" panose="02020603050405020304" pitchFamily="18" charset="0"/>
              </a:rPr>
              <a:t>class weights</a:t>
            </a:r>
            <a:r>
              <a:rPr lang="en-US" dirty="0">
                <a:latin typeface="Times New Roman" panose="02020603050405020304" pitchFamily="18" charset="0"/>
                <a:cs typeface="Times New Roman" panose="02020603050405020304" pitchFamily="18" charset="0"/>
              </a:rPr>
              <a:t> in models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data augmentation</a:t>
            </a:r>
            <a:r>
              <a:rPr lang="en-US" dirty="0">
                <a:latin typeface="Times New Roman" panose="02020603050405020304" pitchFamily="18" charset="0"/>
                <a:cs typeface="Times New Roman" panose="02020603050405020304" pitchFamily="18" charset="0"/>
              </a:rPr>
              <a:t> for minority class</a:t>
            </a:r>
          </a:p>
        </p:txBody>
      </p:sp>
      <p:sp>
        <p:nvSpPr>
          <p:cNvPr id="7" name="TextBox 6">
            <a:extLst>
              <a:ext uri="{FF2B5EF4-FFF2-40B4-BE49-F238E27FC236}">
                <a16:creationId xmlns:a16="http://schemas.microsoft.com/office/drawing/2014/main" id="{D5B8A78C-C1C9-C8F2-956C-685249E537F8}"/>
              </a:ext>
            </a:extLst>
          </p:cNvPr>
          <p:cNvSpPr txBox="1"/>
          <p:nvPr/>
        </p:nvSpPr>
        <p:spPr>
          <a:xfrm>
            <a:off x="1352938" y="4021493"/>
            <a:ext cx="8789437" cy="1754326"/>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from imblearn.over_sampling import SMOTE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Apply SMOTE</a:t>
            </a:r>
          </a:p>
          <a:p>
            <a:r>
              <a:rPr lang="en-IN" dirty="0">
                <a:latin typeface="Times New Roman" panose="02020603050405020304" pitchFamily="18" charset="0"/>
                <a:cs typeface="Times New Roman" panose="02020603050405020304" pitchFamily="18" charset="0"/>
              </a:rPr>
              <a:t>smote = SMOTE()</a:t>
            </a:r>
          </a:p>
          <a:p>
            <a:r>
              <a:rPr lang="en-IN" dirty="0">
                <a:latin typeface="Times New Roman" panose="02020603050405020304" pitchFamily="18" charset="0"/>
                <a:cs typeface="Times New Roman" panose="02020603050405020304" pitchFamily="18" charset="0"/>
              </a:rPr>
              <a:t>X_resampled, y_resampled = sm.fit_resample(X, 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253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1D7474-8E4E-8035-F1C2-8AB42C0E7AAF}"/>
              </a:ext>
            </a:extLst>
          </p:cNvPr>
          <p:cNvSpPr txBox="1"/>
          <p:nvPr/>
        </p:nvSpPr>
        <p:spPr>
          <a:xfrm>
            <a:off x="1259633" y="774441"/>
            <a:ext cx="7882033" cy="2258567"/>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Lack of Robust Validation :- </a:t>
            </a:r>
          </a:p>
          <a:p>
            <a:pPr>
              <a:lnSpc>
                <a:spcPct val="150000"/>
              </a:lnSpc>
              <a:buNone/>
            </a:pPr>
            <a:r>
              <a:rPr lang="en-US" b="1" dirty="0">
                <a:latin typeface="Times New Roman" panose="02020603050405020304" pitchFamily="18" charset="0"/>
                <a:cs typeface="Times New Roman" panose="02020603050405020304" pitchFamily="18" charset="0"/>
              </a:rPr>
              <a:t>Solution:</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k-fold cross-validation</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 </a:t>
            </a:r>
            <a:r>
              <a:rPr lang="en-US" b="1" dirty="0">
                <a:latin typeface="Times New Roman" panose="02020603050405020304" pitchFamily="18" charset="0"/>
                <a:cs typeface="Times New Roman" panose="02020603050405020304" pitchFamily="18" charset="0"/>
              </a:rPr>
              <a:t>external validation</a:t>
            </a:r>
            <a:r>
              <a:rPr lang="en-US" dirty="0">
                <a:latin typeface="Times New Roman" panose="02020603050405020304" pitchFamily="18" charset="0"/>
                <a:cs typeface="Times New Roman" panose="02020603050405020304" pitchFamily="18" charset="0"/>
              </a:rPr>
              <a:t> on datasets like ISIC 2020, PH2</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 only random 80/20 splits</a:t>
            </a:r>
          </a:p>
        </p:txBody>
      </p:sp>
      <p:sp>
        <p:nvSpPr>
          <p:cNvPr id="5" name="TextBox 4">
            <a:extLst>
              <a:ext uri="{FF2B5EF4-FFF2-40B4-BE49-F238E27FC236}">
                <a16:creationId xmlns:a16="http://schemas.microsoft.com/office/drawing/2014/main" id="{A029C6CF-16F4-2558-79A3-04A24F6FB858}"/>
              </a:ext>
            </a:extLst>
          </p:cNvPr>
          <p:cNvSpPr txBox="1"/>
          <p:nvPr/>
        </p:nvSpPr>
        <p:spPr>
          <a:xfrm>
            <a:off x="1259633" y="3666931"/>
            <a:ext cx="7882033" cy="1843069"/>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No Metadata Utilization :-</a:t>
            </a:r>
          </a:p>
          <a:p>
            <a:pPr>
              <a:lnSpc>
                <a:spcPct val="150000"/>
              </a:lnSpc>
              <a:buNone/>
            </a:pPr>
            <a:r>
              <a:rPr lang="en-US" b="1" dirty="0">
                <a:latin typeface="Times New Roman" panose="02020603050405020304" pitchFamily="18" charset="0"/>
                <a:cs typeface="Times New Roman" panose="02020603050405020304" pitchFamily="18" charset="0"/>
              </a:rPr>
              <a:t>Solution: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 image features + metadata (e.g., age, sex, location)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multimodal models (SVM, RF, LR)</a:t>
            </a:r>
          </a:p>
        </p:txBody>
      </p:sp>
    </p:spTree>
    <p:extLst>
      <p:ext uri="{BB962C8B-B14F-4D97-AF65-F5344CB8AC3E}">
        <p14:creationId xmlns:p14="http://schemas.microsoft.com/office/powerpoint/2010/main" val="2267879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05498C2-0510-7D9C-AEDF-EFE8BDCA970A}"/>
              </a:ext>
            </a:extLst>
          </p:cNvPr>
          <p:cNvGraphicFramePr>
            <a:graphicFrameLocks noGrp="1"/>
          </p:cNvGraphicFramePr>
          <p:nvPr>
            <p:extLst>
              <p:ext uri="{D42A27DB-BD31-4B8C-83A1-F6EECF244321}">
                <p14:modId xmlns:p14="http://schemas.microsoft.com/office/powerpoint/2010/main" val="4014529848"/>
              </p:ext>
            </p:extLst>
          </p:nvPr>
        </p:nvGraphicFramePr>
        <p:xfrm>
          <a:off x="1240971" y="1530221"/>
          <a:ext cx="10002417" cy="4935897"/>
        </p:xfrm>
        <a:graphic>
          <a:graphicData uri="http://schemas.openxmlformats.org/drawingml/2006/table">
            <a:tbl>
              <a:tblPr/>
              <a:tblGrid>
                <a:gridCol w="4950340">
                  <a:extLst>
                    <a:ext uri="{9D8B030D-6E8A-4147-A177-3AD203B41FA5}">
                      <a16:colId xmlns:a16="http://schemas.microsoft.com/office/drawing/2014/main" val="1661927427"/>
                    </a:ext>
                  </a:extLst>
                </a:gridCol>
                <a:gridCol w="5052077">
                  <a:extLst>
                    <a:ext uri="{9D8B030D-6E8A-4147-A177-3AD203B41FA5}">
                      <a16:colId xmlns:a16="http://schemas.microsoft.com/office/drawing/2014/main" val="3256421395"/>
                    </a:ext>
                  </a:extLst>
                </a:gridCol>
              </a:tblGrid>
              <a:tr h="455082">
                <a:tc>
                  <a:txBody>
                    <a:bodyPr/>
                    <a:lstStyle/>
                    <a:p>
                      <a:pPr algn="ctr"/>
                      <a:r>
                        <a:rPr lang="en-IN" sz="2000" dirty="0">
                          <a:latin typeface="Times New Roman" panose="02020603050405020304" pitchFamily="18" charset="0"/>
                          <a:cs typeface="Times New Roman" panose="02020603050405020304" pitchFamily="18" charset="0"/>
                        </a:rPr>
                        <a:t>Library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sz="2000" dirty="0">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397955384"/>
                  </a:ext>
                </a:extLst>
              </a:tr>
              <a:tr h="805147">
                <a:tc>
                  <a:txBody>
                    <a:bodyPr/>
                    <a:lstStyle/>
                    <a:p>
                      <a:pPr algn="ctr"/>
                      <a:r>
                        <a:rPr lang="en-IN" sz="2000" dirty="0">
                          <a:latin typeface="Times New Roman" panose="02020603050405020304" pitchFamily="18" charset="0"/>
                          <a:cs typeface="Times New Roman" panose="02020603050405020304" pitchFamily="18" charset="0"/>
                        </a:rPr>
                        <a:t>imbalanced-learn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a:latin typeface="Times New Roman" panose="02020603050405020304" pitchFamily="18" charset="0"/>
                          <a:cs typeface="Times New Roman" panose="02020603050405020304" pitchFamily="18" charset="0"/>
                        </a:rPr>
                        <a:t>For </a:t>
                      </a:r>
                      <a:r>
                        <a:rPr lang="en-US" sz="2000" b="1">
                          <a:latin typeface="Times New Roman" panose="02020603050405020304" pitchFamily="18" charset="0"/>
                          <a:cs typeface="Times New Roman" panose="02020603050405020304" pitchFamily="18" charset="0"/>
                        </a:rPr>
                        <a:t>SMOTE</a:t>
                      </a:r>
                      <a:r>
                        <a:rPr lang="en-US" sz="2000">
                          <a:latin typeface="Times New Roman" panose="02020603050405020304" pitchFamily="18" charset="0"/>
                          <a:cs typeface="Times New Roman" panose="02020603050405020304" pitchFamily="18" charset="0"/>
                        </a:rPr>
                        <a:t> (Synthetic Minority Over-sampling 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6884360"/>
                  </a:ext>
                </a:extLst>
              </a:tr>
              <a:tr h="805147">
                <a:tc>
                  <a:txBody>
                    <a:bodyPr/>
                    <a:lstStyle/>
                    <a:p>
                      <a:pPr algn="ctr"/>
                      <a:r>
                        <a:rPr lang="en-IN" sz="2000" dirty="0">
                          <a:latin typeface="Times New Roman" panose="02020603050405020304" pitchFamily="18" charset="0"/>
                          <a:cs typeface="Times New Roman" panose="02020603050405020304" pitchFamily="18" charset="0"/>
                        </a:rPr>
                        <a:t>opencv-python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Image preprocessing (CLAHE, resizing,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8905075"/>
                  </a:ext>
                </a:extLst>
              </a:tr>
              <a:tr h="805147">
                <a:tc>
                  <a:txBody>
                    <a:bodyPr/>
                    <a:lstStyle/>
                    <a:p>
                      <a:pPr algn="ctr"/>
                      <a:r>
                        <a:rPr lang="en-IN" sz="2000" dirty="0">
                          <a:latin typeface="Times New Roman" panose="02020603050405020304" pitchFamily="18" charset="0"/>
                          <a:cs typeface="Times New Roman" panose="02020603050405020304" pitchFamily="18" charset="0"/>
                        </a:rPr>
                        <a:t>tensorflow.keras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For using </a:t>
                      </a:r>
                      <a:r>
                        <a:rPr lang="en-US" sz="2000" b="1" dirty="0">
                          <a:latin typeface="Times New Roman" panose="02020603050405020304" pitchFamily="18" charset="0"/>
                          <a:cs typeface="Times New Roman" panose="02020603050405020304" pitchFamily="18" charset="0"/>
                        </a:rPr>
                        <a:t>ResNet50</a:t>
                      </a:r>
                      <a:r>
                        <a:rPr lang="en-US" sz="2000" dirty="0">
                          <a:latin typeface="Times New Roman" panose="02020603050405020304" pitchFamily="18" charset="0"/>
                          <a:cs typeface="Times New Roman" panose="02020603050405020304" pitchFamily="18" charset="0"/>
                        </a:rPr>
                        <a:t> to extract CNN deep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539345"/>
                  </a:ext>
                </a:extLst>
              </a:tr>
              <a:tr h="1155210">
                <a:tc>
                  <a:txBody>
                    <a:bodyPr/>
                    <a:lstStyle/>
                    <a:p>
                      <a:pPr algn="ctr"/>
                      <a:r>
                        <a:rPr lang="en-IN" sz="2000" dirty="0">
                          <a:latin typeface="Times New Roman" panose="02020603050405020304" pitchFamily="18" charset="0"/>
                          <a:cs typeface="Times New Roman" panose="02020603050405020304" pitchFamily="18" charset="0"/>
                        </a:rPr>
                        <a:t>scikit-learn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For machine learning models (SVM, Logistic Regression, Random Forest), PCA, VotingClassifier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7580269"/>
                  </a:ext>
                </a:extLst>
              </a:tr>
              <a:tr h="455082">
                <a:tc>
                  <a:txBody>
                    <a:bodyPr/>
                    <a:lstStyle/>
                    <a:p>
                      <a:pPr algn="ctr"/>
                      <a:r>
                        <a:rPr lang="en-IN" sz="2000">
                          <a:latin typeface="Times New Roman" panose="02020603050405020304" pitchFamily="18" charset="0"/>
                          <a:cs typeface="Times New Roman" panose="02020603050405020304" pitchFamily="18" charset="0"/>
                        </a:rPr>
                        <a:t>pandas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latin typeface="Times New Roman" panose="02020603050405020304" pitchFamily="18" charset="0"/>
                          <a:cs typeface="Times New Roman" panose="02020603050405020304" pitchFamily="18" charset="0"/>
                        </a:rPr>
                        <a:t>For reading metadata (age, sex, 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0446694"/>
                  </a:ext>
                </a:extLst>
              </a:tr>
              <a:tr h="455082">
                <a:tc>
                  <a:txBody>
                    <a:bodyPr/>
                    <a:lstStyle/>
                    <a:p>
                      <a:pPr algn="ctr"/>
                      <a:r>
                        <a:rPr lang="en-IN" sz="2000" dirty="0">
                          <a:latin typeface="Times New Roman" panose="02020603050405020304" pitchFamily="18" charset="0"/>
                          <a:cs typeface="Times New Roman" panose="02020603050405020304" pitchFamily="18" charset="0"/>
                        </a:rPr>
                        <a:t>numpy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000" dirty="0">
                          <a:latin typeface="Times New Roman" panose="02020603050405020304" pitchFamily="18" charset="0"/>
                          <a:cs typeface="Times New Roman" panose="02020603050405020304" pitchFamily="18" charset="0"/>
                        </a:rPr>
                        <a:t>Array manipulations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8177632"/>
                  </a:ext>
                </a:extLst>
              </a:tr>
            </a:tbl>
          </a:graphicData>
        </a:graphic>
      </p:graphicFrame>
      <p:sp>
        <p:nvSpPr>
          <p:cNvPr id="4" name="TextBox 3">
            <a:extLst>
              <a:ext uri="{FF2B5EF4-FFF2-40B4-BE49-F238E27FC236}">
                <a16:creationId xmlns:a16="http://schemas.microsoft.com/office/drawing/2014/main" id="{37EDFD63-50F4-6495-E852-8D71EB83F16D}"/>
              </a:ext>
            </a:extLst>
          </p:cNvPr>
          <p:cNvSpPr txBox="1"/>
          <p:nvPr/>
        </p:nvSpPr>
        <p:spPr>
          <a:xfrm>
            <a:off x="2313991" y="466527"/>
            <a:ext cx="7378180"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Required Libraries</a:t>
            </a:r>
          </a:p>
        </p:txBody>
      </p:sp>
    </p:spTree>
    <p:extLst>
      <p:ext uri="{BB962C8B-B14F-4D97-AF65-F5344CB8AC3E}">
        <p14:creationId xmlns:p14="http://schemas.microsoft.com/office/powerpoint/2010/main" val="2235856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8932A1-F62A-6819-A2B0-92492D0AB81C}"/>
              </a:ext>
            </a:extLst>
          </p:cNvPr>
          <p:cNvSpPr txBox="1"/>
          <p:nvPr/>
        </p:nvSpPr>
        <p:spPr>
          <a:xfrm>
            <a:off x="1347019" y="383458"/>
            <a:ext cx="9891251" cy="1323439"/>
          </a:xfrm>
          <a:prstGeom prst="rect">
            <a:avLst/>
          </a:prstGeom>
          <a:noFill/>
        </p:spPr>
        <p:txBody>
          <a:bodyPr wrap="square" rtlCol="0">
            <a:spAutoFit/>
          </a:bodyPr>
          <a:lstStyle/>
          <a:p>
            <a:pPr algn="ctr"/>
            <a:r>
              <a:rPr lang="en-IN" sz="4000" dirty="0">
                <a:latin typeface="Times New Roman" panose="02020603050405020304" pitchFamily="18" charset="0"/>
                <a:cs typeface="Times New Roman" panose="02020603050405020304" pitchFamily="18" charset="0"/>
              </a:rPr>
              <a:t>Skin Cancer</a:t>
            </a:r>
          </a:p>
          <a:p>
            <a:pPr algn="ctr"/>
            <a:r>
              <a:rPr lang="en-IN" sz="4000" dirty="0">
                <a:latin typeface="Times New Roman" panose="02020603050405020304" pitchFamily="18" charset="0"/>
                <a:cs typeface="Times New Roman" panose="02020603050405020304" pitchFamily="18" charset="0"/>
              </a:rPr>
              <a:t>(4</a:t>
            </a:r>
            <a:r>
              <a:rPr lang="en-IN" sz="4000" baseline="30000" dirty="0">
                <a:latin typeface="Times New Roman" panose="02020603050405020304" pitchFamily="18" charset="0"/>
                <a:cs typeface="Times New Roman" panose="02020603050405020304" pitchFamily="18" charset="0"/>
              </a:rPr>
              <a:t>th</a:t>
            </a:r>
            <a:r>
              <a:rPr lang="en-IN" sz="4000" dirty="0">
                <a:latin typeface="Times New Roman" panose="02020603050405020304" pitchFamily="18" charset="0"/>
                <a:cs typeface="Times New Roman" panose="02020603050405020304" pitchFamily="18" charset="0"/>
              </a:rPr>
              <a:t> presentation – Result </a:t>
            </a:r>
            <a:r>
              <a:rPr lang="en-IN" sz="2800" dirty="0">
                <a:latin typeface="Times New Roman" panose="02020603050405020304" pitchFamily="18" charset="0"/>
                <a:cs typeface="Times New Roman" panose="02020603050405020304" pitchFamily="18" charset="0"/>
              </a:rPr>
              <a:t>(19/07/2025) </a:t>
            </a:r>
            <a:r>
              <a:rPr lang="en-IN" sz="40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8C3EC691-6A6A-E3E1-A18D-CBDED4C76B3F}"/>
              </a:ext>
            </a:extLst>
          </p:cNvPr>
          <p:cNvSpPr txBox="1"/>
          <p:nvPr/>
        </p:nvSpPr>
        <p:spPr>
          <a:xfrm>
            <a:off x="1347019" y="2202426"/>
            <a:ext cx="9891251" cy="4191597"/>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Here the HAM10000 dataset is used for skin cancer model.</a:t>
            </a:r>
          </a:p>
          <a:p>
            <a:pPr>
              <a:lnSpc>
                <a:spcPct val="150000"/>
              </a:lnSpc>
            </a:pPr>
            <a:r>
              <a:rPr lang="en-IN" sz="2000" dirty="0">
                <a:latin typeface="Times New Roman" panose="02020603050405020304" pitchFamily="18" charset="0"/>
                <a:cs typeface="Times New Roman" panose="02020603050405020304" pitchFamily="18" charset="0"/>
              </a:rPr>
              <a:t>The process shows :</a:t>
            </a:r>
          </a:p>
          <a:p>
            <a:pPr>
              <a:lnSpc>
                <a:spcPct val="150000"/>
              </a:lnSpc>
            </a:pPr>
            <a:r>
              <a:rPr lang="en-IN" sz="2000" dirty="0">
                <a:latin typeface="Times New Roman" panose="02020603050405020304" pitchFamily="18" charset="0"/>
                <a:cs typeface="Times New Roman" panose="02020603050405020304" pitchFamily="18" charset="0"/>
              </a:rPr>
              <a:t>100%|██████████| 10015/10015 [01:22&lt;00:00, 121.73it/s] </a:t>
            </a:r>
          </a:p>
          <a:p>
            <a:pPr>
              <a:lnSpc>
                <a:spcPct val="150000"/>
              </a:lnSpc>
            </a:pPr>
            <a:r>
              <a:rPr lang="en-IN" sz="2000" dirty="0">
                <a:latin typeface="Times New Roman" panose="02020603050405020304" pitchFamily="18" charset="0"/>
                <a:cs typeface="Times New Roman" panose="02020603050405020304" pitchFamily="18" charset="0"/>
              </a:rPr>
              <a:t>✅ Images shape: (10015, 128, 128, 3) </a:t>
            </a:r>
          </a:p>
          <a:p>
            <a:pPr>
              <a:lnSpc>
                <a:spcPct val="150000"/>
              </a:lnSpc>
            </a:pP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After processing (PCA + SMOTE): </a:t>
            </a:r>
            <a:r>
              <a:rPr lang="en-US" sz="2000" b="1" dirty="0">
                <a:latin typeface="Times New Roman" panose="02020603050405020304" pitchFamily="18" charset="0"/>
                <a:cs typeface="Times New Roman" panose="02020603050405020304" pitchFamily="18" charset="0"/>
              </a:rPr>
              <a:t>9,359 samples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 Metadata shape: (10015, 3) </a:t>
            </a:r>
          </a:p>
          <a:p>
            <a:pPr>
              <a:lnSpc>
                <a:spcPct val="150000"/>
              </a:lnSpc>
            </a:pPr>
            <a:r>
              <a:rPr lang="en-IN" sz="2000" dirty="0">
                <a:latin typeface="Times New Roman" panose="02020603050405020304" pitchFamily="18" charset="0"/>
                <a:cs typeface="Times New Roman" panose="02020603050405020304" pitchFamily="18" charset="0"/>
              </a:rPr>
              <a:t>✅ Labels shape: (10015,) </a:t>
            </a:r>
          </a:p>
          <a:p>
            <a:pPr>
              <a:lnSpc>
                <a:spcPct val="150000"/>
              </a:lnSpc>
            </a:pP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Metadata: Age, Sex, Lesion Location</a:t>
            </a:r>
          </a:p>
          <a:p>
            <a:pPr>
              <a:lnSpc>
                <a:spcPct val="150000"/>
              </a:lnSpc>
            </a:pPr>
            <a:r>
              <a:rPr lang="en-IN" sz="2000"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Skin Lesion Classes (Balanced)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9421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skin cancer detection process&#10;&#10;AI-generated content may be incorrect.">
            <a:extLst>
              <a:ext uri="{FF2B5EF4-FFF2-40B4-BE49-F238E27FC236}">
                <a16:creationId xmlns:a16="http://schemas.microsoft.com/office/drawing/2014/main" id="{AA7AB5C6-4D3D-6AB1-31E8-1A2A48047C61}"/>
              </a:ext>
            </a:extLst>
          </p:cNvPr>
          <p:cNvPicPr>
            <a:picLocks noChangeAspect="1"/>
          </p:cNvPicPr>
          <p:nvPr/>
        </p:nvPicPr>
        <p:blipFill>
          <a:blip r:embed="rId2"/>
          <a:stretch>
            <a:fillRect/>
          </a:stretch>
        </p:blipFill>
        <p:spPr>
          <a:xfrm>
            <a:off x="1866900" y="342900"/>
            <a:ext cx="8458200" cy="6172200"/>
          </a:xfrm>
          <a:prstGeom prst="rect">
            <a:avLst/>
          </a:prstGeom>
        </p:spPr>
      </p:pic>
    </p:spTree>
    <p:extLst>
      <p:ext uri="{BB962C8B-B14F-4D97-AF65-F5344CB8AC3E}">
        <p14:creationId xmlns:p14="http://schemas.microsoft.com/office/powerpoint/2010/main" val="1788360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B76E7D-3C54-D9CA-F43E-3A9689EE488F}"/>
              </a:ext>
            </a:extLst>
          </p:cNvPr>
          <p:cNvSpPr txBox="1"/>
          <p:nvPr/>
        </p:nvSpPr>
        <p:spPr>
          <a:xfrm>
            <a:off x="1197428" y="354563"/>
            <a:ext cx="9797143" cy="707886"/>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Detailed Step-by-Step Explanation</a:t>
            </a:r>
          </a:p>
        </p:txBody>
      </p:sp>
      <p:sp>
        <p:nvSpPr>
          <p:cNvPr id="4" name="Rectangle 1">
            <a:extLst>
              <a:ext uri="{FF2B5EF4-FFF2-40B4-BE49-F238E27FC236}">
                <a16:creationId xmlns:a16="http://schemas.microsoft.com/office/drawing/2014/main" id="{BE41E396-E759-42E6-0EF2-738FE84A1F1F}"/>
              </a:ext>
            </a:extLst>
          </p:cNvPr>
          <p:cNvSpPr>
            <a:spLocks noChangeArrowheads="1"/>
          </p:cNvSpPr>
          <p:nvPr/>
        </p:nvSpPr>
        <p:spPr bwMode="auto">
          <a:xfrm>
            <a:off x="951722" y="1618585"/>
            <a:ext cx="11355355"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1: Environment Setup and Memory Management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Initialize the system with proper memory management to handle large image datasets efficiently.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Memory Management Functions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get_memory_usage(): Returns current memory percentage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clear_memory(): Runs garbage collection and clears TensorFlow session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ECAFCD66-29A7-0CDC-07A8-0683D5B638EE}"/>
              </a:ext>
            </a:extLst>
          </p:cNvPr>
          <p:cNvSpPr>
            <a:spLocks noChangeArrowheads="1"/>
          </p:cNvSpPr>
          <p:nvPr/>
        </p:nvSpPr>
        <p:spPr bwMode="auto">
          <a:xfrm>
            <a:off x="951722" y="4093366"/>
            <a:ext cx="10804848"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2: Metadata Loading and Preprocessing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CSV file containing image metadata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 out rows with missing diagnosis (dx)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 categorical diagnosis labels to numerical format using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LabelEncoder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dataset statistics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3683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093556-362D-607C-FBA9-9622CE0147CF}"/>
              </a:ext>
            </a:extLst>
          </p:cNvPr>
          <p:cNvSpPr txBox="1"/>
          <p:nvPr/>
        </p:nvSpPr>
        <p:spPr>
          <a:xfrm>
            <a:off x="1278293" y="279918"/>
            <a:ext cx="10011747" cy="707886"/>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Detailed Step-by-Step Explanation</a:t>
            </a:r>
          </a:p>
        </p:txBody>
      </p:sp>
      <p:sp>
        <p:nvSpPr>
          <p:cNvPr id="5" name="TextBox 4">
            <a:extLst>
              <a:ext uri="{FF2B5EF4-FFF2-40B4-BE49-F238E27FC236}">
                <a16:creationId xmlns:a16="http://schemas.microsoft.com/office/drawing/2014/main" id="{CA998B4B-B646-4A44-A2BC-0B33E1B44566}"/>
              </a:ext>
            </a:extLst>
          </p:cNvPr>
          <p:cNvSpPr txBox="1"/>
          <p:nvPr/>
        </p:nvSpPr>
        <p:spPr>
          <a:xfrm>
            <a:off x="1343608" y="1250302"/>
            <a:ext cx="9946432" cy="5570756"/>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Step 3: Batch Image Processing</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Image Preprocessing</a:t>
            </a:r>
            <a:r>
              <a:rPr lang="en-US" sz="2000" dirty="0">
                <a:latin typeface="Times New Roman" panose="02020603050405020304" pitchFamily="18" charset="0"/>
                <a:cs typeface="Times New Roman" panose="02020603050405020304" pitchFamily="18" charset="0"/>
              </a:rPr>
              <a:t>: Resize to 128×128 pixels</a:t>
            </a:r>
          </a:p>
          <a:p>
            <a:pPr algn="just"/>
            <a:r>
              <a:rPr lang="en-US" sz="2000" b="1" dirty="0">
                <a:latin typeface="Times New Roman" panose="02020603050405020304" pitchFamily="18" charset="0"/>
                <a:cs typeface="Times New Roman" panose="02020603050405020304" pitchFamily="18" charset="0"/>
              </a:rPr>
              <a:t>Metadata Integration</a:t>
            </a:r>
            <a:r>
              <a:rPr lang="en-US" sz="2000" dirty="0">
                <a:latin typeface="Times New Roman" panose="02020603050405020304" pitchFamily="18" charset="0"/>
                <a:cs typeface="Times New Roman" panose="02020603050405020304" pitchFamily="18" charset="0"/>
              </a:rPr>
              <a:t>: Extract age, gender, and localization features</a:t>
            </a: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4: Deep Feature Extraction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Extract high-level visual features using a pre-trained ResNet50 convolutional neural network.</a:t>
            </a:r>
          </a:p>
          <a:p>
            <a:pPr algn="just"/>
            <a:r>
              <a:rPr lang="en-US" sz="2000" b="1" dirty="0">
                <a:latin typeface="Times New Roman" panose="02020603050405020304" pitchFamily="18" charset="0"/>
                <a:cs typeface="Times New Roman" panose="02020603050405020304" pitchFamily="18" charset="0"/>
              </a:rPr>
              <a:t>Model Setup</a:t>
            </a:r>
            <a:r>
              <a:rPr lang="en-US" sz="2000" dirty="0">
                <a:latin typeface="Times New Roman" panose="02020603050405020304" pitchFamily="18" charset="0"/>
                <a:cs typeface="Times New Roman" panose="02020603050405020304" pitchFamily="18" charset="0"/>
              </a:rPr>
              <a:t>: Load ResNet50 pre-trained on ImageNet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5: Feature Combination and Scaling</a:t>
            </a: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Combine deep learning features with patient metadata to create comprehensive feature vectors.</a:t>
            </a:r>
          </a:p>
          <a:p>
            <a:pPr algn="just"/>
            <a:endParaRPr lang="en-IN"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6: Dimensionality Reduction (PCA)</a:t>
            </a: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Reduce computational complexity while preserving important information patterns.</a:t>
            </a:r>
          </a:p>
          <a:p>
            <a:pPr algn="just"/>
            <a:endParaRPr lang="en-IN" dirty="0"/>
          </a:p>
        </p:txBody>
      </p:sp>
    </p:spTree>
    <p:extLst>
      <p:ext uri="{BB962C8B-B14F-4D97-AF65-F5344CB8AC3E}">
        <p14:creationId xmlns:p14="http://schemas.microsoft.com/office/powerpoint/2010/main" val="3280298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63B0E1-38E7-5A06-2DE8-EF4765AE0F6A}"/>
              </a:ext>
            </a:extLst>
          </p:cNvPr>
          <p:cNvSpPr txBox="1"/>
          <p:nvPr/>
        </p:nvSpPr>
        <p:spPr>
          <a:xfrm>
            <a:off x="1240971" y="242596"/>
            <a:ext cx="10058400" cy="707886"/>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Detailed Step-by-Step Explanation</a:t>
            </a:r>
          </a:p>
        </p:txBody>
      </p:sp>
      <p:sp>
        <p:nvSpPr>
          <p:cNvPr id="5" name="TextBox 4">
            <a:extLst>
              <a:ext uri="{FF2B5EF4-FFF2-40B4-BE49-F238E27FC236}">
                <a16:creationId xmlns:a16="http://schemas.microsoft.com/office/drawing/2014/main" id="{65513CF0-B1B8-03EA-171C-5CBFB945B3B0}"/>
              </a:ext>
            </a:extLst>
          </p:cNvPr>
          <p:cNvSpPr txBox="1"/>
          <p:nvPr/>
        </p:nvSpPr>
        <p:spPr>
          <a:xfrm>
            <a:off x="1343607" y="1231641"/>
            <a:ext cx="10058399" cy="5570756"/>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Step 7: Class Balancing with SMOTE</a:t>
            </a:r>
          </a:p>
          <a:p>
            <a:pPr algn="just">
              <a:buNone/>
            </a:pPr>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Address class imbalance in the dataset using Synthetic Minority Oversampling Technique.</a:t>
            </a:r>
          </a:p>
          <a:p>
            <a:pPr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8: Train-Test Split</a:t>
            </a: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Divide data into training and testing sets while maintaining class proportions.</a:t>
            </a:r>
          </a:p>
          <a:p>
            <a:pPr algn="just">
              <a:buNone/>
            </a:pPr>
            <a:r>
              <a:rPr lang="en-US" altLang="en-US" sz="2000" dirty="0">
                <a:latin typeface="Times New Roman" panose="02020603050405020304" pitchFamily="18" charset="0"/>
                <a:cs typeface="Times New Roman" panose="02020603050405020304" pitchFamily="18" charset="0"/>
              </a:rPr>
              <a:t>Training: 80% of balanced data</a:t>
            </a:r>
          </a:p>
          <a:p>
            <a:pPr algn="just"/>
            <a:r>
              <a:rPr lang="en-US" altLang="en-US" sz="2000" dirty="0">
                <a:latin typeface="Times New Roman" panose="02020603050405020304" pitchFamily="18" charset="0"/>
                <a:cs typeface="Times New Roman" panose="02020603050405020304" pitchFamily="18" charset="0"/>
              </a:rPr>
              <a:t>Testing: 20% of balanced data </a:t>
            </a:r>
          </a:p>
          <a:p>
            <a:pPr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9: Model Training and Evaluation</a:t>
            </a: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Train multiple machine learning models and compare their performance like random forest, svm.</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10: Performance Visualization</a:t>
            </a: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Create comprehensive visual comparisons of model performance across all classes (confusion matrix).</a:t>
            </a:r>
          </a:p>
          <a:p>
            <a:endParaRPr lang="en-US" dirty="0"/>
          </a:p>
          <a:p>
            <a:pPr>
              <a:buNone/>
            </a:pPr>
            <a:endParaRPr lang="en-US" dirty="0"/>
          </a:p>
        </p:txBody>
      </p:sp>
      <p:sp>
        <p:nvSpPr>
          <p:cNvPr id="7" name="Rectangle 2">
            <a:extLst>
              <a:ext uri="{FF2B5EF4-FFF2-40B4-BE49-F238E27FC236}">
                <a16:creationId xmlns:a16="http://schemas.microsoft.com/office/drawing/2014/main" id="{C3C34F8C-7CFB-11B2-91BE-89FD4F873D7A}"/>
              </a:ext>
            </a:extLst>
          </p:cNvPr>
          <p:cNvSpPr>
            <a:spLocks noChangeArrowheads="1"/>
          </p:cNvSpPr>
          <p:nvPr/>
        </p:nvSpPr>
        <p:spPr bwMode="auto">
          <a:xfrm>
            <a:off x="0" y="-323166"/>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430877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153560-07CF-C263-CEC7-984BBDF49D53}"/>
              </a:ext>
            </a:extLst>
          </p:cNvPr>
          <p:cNvSpPr txBox="1"/>
          <p:nvPr/>
        </p:nvSpPr>
        <p:spPr>
          <a:xfrm>
            <a:off x="1250301" y="279918"/>
            <a:ext cx="10049069" cy="707886"/>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Detailed Step-by-Step Explanation</a:t>
            </a:r>
          </a:p>
        </p:txBody>
      </p:sp>
      <p:sp>
        <p:nvSpPr>
          <p:cNvPr id="5" name="TextBox 4">
            <a:extLst>
              <a:ext uri="{FF2B5EF4-FFF2-40B4-BE49-F238E27FC236}">
                <a16:creationId xmlns:a16="http://schemas.microsoft.com/office/drawing/2014/main" id="{A62FC73D-DF6C-DD8A-6C18-418D016B93BD}"/>
              </a:ext>
            </a:extLst>
          </p:cNvPr>
          <p:cNvSpPr txBox="1"/>
          <p:nvPr/>
        </p:nvSpPr>
        <p:spPr>
          <a:xfrm>
            <a:off x="1250301" y="1343608"/>
            <a:ext cx="10198360" cy="3139321"/>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Step 11: Grad-CAM Explainability</a:t>
            </a:r>
          </a:p>
          <a:p>
            <a:pPr algn="just">
              <a:buNone/>
            </a:pPr>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Generate visual explanations showing which image regions influenced model predictions.</a:t>
            </a:r>
          </a:p>
          <a:p>
            <a:pPr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12: SHAP (SHapley Additive exPlanations)</a:t>
            </a: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Provide quantitative feature importance explanations based on game theory.</a:t>
            </a:r>
          </a:p>
          <a:p>
            <a:pPr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Step 13: LIME (Local Interpretable Model-Agnostic Explanations)</a:t>
            </a:r>
          </a:p>
          <a:p>
            <a:pPr algn="just"/>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Generate human-interpretable explanations for individual predictions.</a:t>
            </a:r>
          </a:p>
          <a:p>
            <a:pPr>
              <a:buNone/>
            </a:pPr>
            <a:endParaRPr lang="en-US" dirty="0"/>
          </a:p>
        </p:txBody>
      </p:sp>
      <p:sp>
        <p:nvSpPr>
          <p:cNvPr id="7" name="TextBox 6">
            <a:extLst>
              <a:ext uri="{FF2B5EF4-FFF2-40B4-BE49-F238E27FC236}">
                <a16:creationId xmlns:a16="http://schemas.microsoft.com/office/drawing/2014/main" id="{3A1A67FC-EBCD-10B5-BF99-52E9743D874E}"/>
              </a:ext>
            </a:extLst>
          </p:cNvPr>
          <p:cNvSpPr txBox="1"/>
          <p:nvPr/>
        </p:nvSpPr>
        <p:spPr>
          <a:xfrm>
            <a:off x="1250301" y="4114800"/>
            <a:ext cx="10198360" cy="1908215"/>
          </a:xfrm>
          <a:prstGeom prst="rect">
            <a:avLst/>
          </a:prstGeom>
          <a:noFill/>
        </p:spPr>
        <p:txBody>
          <a:bodyPr wrap="square">
            <a:spAutoFit/>
          </a:bodyPr>
          <a:lstStyle/>
          <a:p>
            <a:endParaRPr lang="en-IN" dirty="0"/>
          </a:p>
          <a:p>
            <a:pPr algn="just"/>
            <a:r>
              <a:rPr lang="en-IN" sz="2000" b="1" dirty="0">
                <a:latin typeface="Times New Roman" panose="02020603050405020304" pitchFamily="18" charset="0"/>
                <a:cs typeface="Times New Roman" panose="02020603050405020304" pitchFamily="18" charset="0"/>
              </a:rPr>
              <a:t>System Architecture Flow</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Input Images → Batch Processing → Feature Extraction → Feature Combination → </a:t>
            </a:r>
          </a:p>
          <a:p>
            <a:pPr algn="just"/>
            <a:r>
              <a:rPr lang="en-IN" sz="2000" dirty="0">
                <a:latin typeface="Times New Roman" panose="02020603050405020304" pitchFamily="18" charset="0"/>
                <a:cs typeface="Times New Roman" panose="02020603050405020304" pitchFamily="18" charset="0"/>
              </a:rPr>
              <a:t>PCA Reduction → SMOTE Balancing → Model Training → Performance Evaluation → </a:t>
            </a:r>
          </a:p>
          <a:p>
            <a:pPr algn="just"/>
            <a:r>
              <a:rPr lang="en-IN" sz="2000" dirty="0">
                <a:latin typeface="Times New Roman" panose="02020603050405020304" pitchFamily="18" charset="0"/>
                <a:cs typeface="Times New Roman" panose="02020603050405020304" pitchFamily="18" charset="0"/>
              </a:rPr>
              <a:t>Explainability Analysis → Results Visualization</a:t>
            </a:r>
          </a:p>
        </p:txBody>
      </p:sp>
    </p:spTree>
    <p:extLst>
      <p:ext uri="{BB962C8B-B14F-4D97-AF65-F5344CB8AC3E}">
        <p14:creationId xmlns:p14="http://schemas.microsoft.com/office/powerpoint/2010/main" val="3588748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00AEEF-ABA2-4CD8-93BF-B9B03347E2D1}"/>
              </a:ext>
            </a:extLst>
          </p:cNvPr>
          <p:cNvPicPr>
            <a:picLocks noChangeAspect="1"/>
          </p:cNvPicPr>
          <p:nvPr/>
        </p:nvPicPr>
        <p:blipFill>
          <a:blip r:embed="rId2"/>
          <a:stretch>
            <a:fillRect/>
          </a:stretch>
        </p:blipFill>
        <p:spPr>
          <a:xfrm>
            <a:off x="1495425" y="1017037"/>
            <a:ext cx="9201150" cy="5337109"/>
          </a:xfrm>
          <a:prstGeom prst="rect">
            <a:avLst/>
          </a:prstGeom>
        </p:spPr>
      </p:pic>
    </p:spTree>
    <p:extLst>
      <p:ext uri="{BB962C8B-B14F-4D97-AF65-F5344CB8AC3E}">
        <p14:creationId xmlns:p14="http://schemas.microsoft.com/office/powerpoint/2010/main" val="2643992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AE1E7A-5B09-016C-D6D4-C972B756779D}"/>
              </a:ext>
            </a:extLst>
          </p:cNvPr>
          <p:cNvSpPr txBox="1"/>
          <p:nvPr/>
        </p:nvSpPr>
        <p:spPr>
          <a:xfrm>
            <a:off x="1160206" y="442452"/>
            <a:ext cx="10205884" cy="769441"/>
          </a:xfrm>
          <a:prstGeom prst="rect">
            <a:avLst/>
          </a:prstGeom>
          <a:noFill/>
        </p:spPr>
        <p:txBody>
          <a:bodyPr wrap="square" rtlCol="0">
            <a:spAutoFit/>
          </a:bodyPr>
          <a:lstStyle/>
          <a:p>
            <a:pPr algn="ctr"/>
            <a:r>
              <a:rPr lang="en-IN" sz="4400" dirty="0">
                <a:latin typeface="Times New Roman" panose="02020603050405020304" pitchFamily="18" charset="0"/>
                <a:cs typeface="Times New Roman" panose="02020603050405020304" pitchFamily="18" charset="0"/>
              </a:rPr>
              <a:t>Results</a:t>
            </a:r>
          </a:p>
        </p:txBody>
      </p:sp>
      <p:sp>
        <p:nvSpPr>
          <p:cNvPr id="3" name="TextBox 2">
            <a:extLst>
              <a:ext uri="{FF2B5EF4-FFF2-40B4-BE49-F238E27FC236}">
                <a16:creationId xmlns:a16="http://schemas.microsoft.com/office/drawing/2014/main" id="{29D5D0C5-4B3E-7D00-1D56-E49A7E0B1F91}"/>
              </a:ext>
            </a:extLst>
          </p:cNvPr>
          <p:cNvSpPr txBox="1"/>
          <p:nvPr/>
        </p:nvSpPr>
        <p:spPr>
          <a:xfrm>
            <a:off x="1160206" y="1681316"/>
            <a:ext cx="10117394" cy="4985980"/>
          </a:xfrm>
          <a:prstGeom prst="rect">
            <a:avLst/>
          </a:prstGeom>
          <a:noFill/>
        </p:spPr>
        <p:txBody>
          <a:bodyPr wrap="square" rtlCol="0">
            <a:spAutoFit/>
          </a:bodyPr>
          <a:lstStyle/>
          <a:p>
            <a:pPr algn="just">
              <a:lnSpc>
                <a:spcPct val="150000"/>
              </a:lnSpc>
            </a:pPr>
            <a:r>
              <a:rPr lang="en-US" sz="2000" b="1" u="sng" dirty="0">
                <a:latin typeface="Times New Roman" panose="02020603050405020304" pitchFamily="18" charset="0"/>
                <a:cs typeface="Times New Roman" panose="02020603050405020304" pitchFamily="18" charset="0"/>
              </a:rPr>
              <a:t>1) ResNet50 Deep Features + Metadata → 32,771 Features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a pre-trained ResNet50 model (a </a:t>
            </a:r>
            <a:r>
              <a:rPr lang="en-US" sz="2000" b="1" dirty="0">
                <a:latin typeface="Times New Roman" panose="02020603050405020304" pitchFamily="18" charset="0"/>
                <a:cs typeface="Times New Roman" panose="02020603050405020304" pitchFamily="18" charset="0"/>
              </a:rPr>
              <a:t>deep convolutional neural network</a:t>
            </a:r>
            <a:r>
              <a:rPr lang="en-US" sz="2000" dirty="0">
                <a:latin typeface="Times New Roman" panose="02020603050405020304" pitchFamily="18" charset="0"/>
                <a:cs typeface="Times New Roman" panose="02020603050405020304" pitchFamily="18" charset="0"/>
              </a:rPr>
              <a:t>) to extract deep image features from each skin lesion image.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features are high-level, abstract representations learned by the network (e.g., texture, edges, lesion shape).</a:t>
            </a:r>
          </a:p>
          <a:p>
            <a:pPr algn="just">
              <a:lnSpc>
                <a:spcPct val="150000"/>
              </a:lnSpc>
            </a:pPr>
            <a:r>
              <a:rPr lang="en-US" sz="2000" b="1" u="sng" dirty="0">
                <a:latin typeface="Times New Roman" panose="02020603050405020304" pitchFamily="18" charset="0"/>
                <a:cs typeface="Times New Roman" panose="02020603050405020304" pitchFamily="18" charset="0"/>
              </a:rPr>
              <a:t>2) PCA Reduced to 50 Principal Components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Having 32,771 features is computationally expensive and can lead to </a:t>
            </a:r>
            <a:r>
              <a:rPr lang="en-US" sz="2000" b="1" dirty="0">
                <a:latin typeface="Times New Roman" panose="02020603050405020304" pitchFamily="18" charset="0"/>
                <a:cs typeface="Times New Roman" panose="02020603050405020304" pitchFamily="18" charset="0"/>
              </a:rPr>
              <a:t>overfitting</a:t>
            </a:r>
            <a:r>
              <a:rPr lang="en-US" sz="20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 applied </a:t>
            </a:r>
            <a:r>
              <a:rPr lang="en-IN" sz="2000" b="1" dirty="0">
                <a:latin typeface="Times New Roman" panose="02020603050405020304" pitchFamily="18" charset="0"/>
                <a:cs typeface="Times New Roman" panose="02020603050405020304" pitchFamily="18" charset="0"/>
              </a:rPr>
              <a:t>Principal Component Analysis (PCA)</a:t>
            </a:r>
            <a:r>
              <a:rPr lang="en-IN" sz="2000" dirty="0">
                <a:latin typeface="Times New Roman" panose="02020603050405020304" pitchFamily="18" charset="0"/>
                <a:cs typeface="Times New Roman" panose="02020603050405020304" pitchFamily="18" charset="0"/>
              </a:rPr>
              <a:t> — a dimensionality reduction technique.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Selected the </a:t>
            </a:r>
            <a:r>
              <a:rPr lang="en-US" sz="2000" b="1" dirty="0">
                <a:latin typeface="Times New Roman" panose="02020603050405020304" pitchFamily="18" charset="0"/>
                <a:cs typeface="Times New Roman" panose="02020603050405020304" pitchFamily="18" charset="0"/>
              </a:rPr>
              <a:t>top 50 principal components</a:t>
            </a:r>
            <a:r>
              <a:rPr lang="en-US" sz="2000" dirty="0">
                <a:latin typeface="Times New Roman" panose="02020603050405020304" pitchFamily="18" charset="0"/>
                <a:cs typeface="Times New Roman" panose="02020603050405020304" pitchFamily="18" charset="0"/>
              </a:rPr>
              <a:t>, reducing dimensionality while retaining significant information.</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2871629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C6172D-B61C-13EB-0027-05A4B35724B1}"/>
              </a:ext>
            </a:extLst>
          </p:cNvPr>
          <p:cNvSpPr txBox="1"/>
          <p:nvPr/>
        </p:nvSpPr>
        <p:spPr>
          <a:xfrm>
            <a:off x="1347019" y="334297"/>
            <a:ext cx="9960078" cy="769441"/>
          </a:xfrm>
          <a:prstGeom prst="rect">
            <a:avLst/>
          </a:prstGeom>
          <a:noFill/>
        </p:spPr>
        <p:txBody>
          <a:bodyPr wrap="square">
            <a:spAutoFit/>
          </a:bodyPr>
          <a:lstStyle/>
          <a:p>
            <a:pPr algn="ctr"/>
            <a:r>
              <a:rPr lang="en-IN" sz="4400" dirty="0">
                <a:latin typeface="Times New Roman" panose="02020603050405020304" pitchFamily="18" charset="0"/>
                <a:cs typeface="Times New Roman" panose="02020603050405020304" pitchFamily="18" charset="0"/>
              </a:rPr>
              <a:t>Results</a:t>
            </a:r>
          </a:p>
        </p:txBody>
      </p:sp>
      <p:sp>
        <p:nvSpPr>
          <p:cNvPr id="7" name="TextBox 6">
            <a:extLst>
              <a:ext uri="{FF2B5EF4-FFF2-40B4-BE49-F238E27FC236}">
                <a16:creationId xmlns:a16="http://schemas.microsoft.com/office/drawing/2014/main" id="{71160E34-D641-6980-AE4D-A4B60EF08B1A}"/>
              </a:ext>
            </a:extLst>
          </p:cNvPr>
          <p:cNvSpPr txBox="1"/>
          <p:nvPr/>
        </p:nvSpPr>
        <p:spPr>
          <a:xfrm>
            <a:off x="1229033" y="1247775"/>
            <a:ext cx="9960077" cy="5119863"/>
          </a:xfrm>
          <a:prstGeom prst="rect">
            <a:avLst/>
          </a:prstGeom>
          <a:noFill/>
        </p:spPr>
        <p:txBody>
          <a:bodyPr wrap="square">
            <a:spAutoFit/>
          </a:bodyPr>
          <a:lstStyle/>
          <a:p>
            <a:pPr algn="just">
              <a:lnSpc>
                <a:spcPct val="150000"/>
              </a:lnSpc>
            </a:pPr>
            <a:r>
              <a:rPr lang="en-IN" sz="2000" b="1" u="sng" dirty="0">
                <a:latin typeface="Times New Roman" panose="02020603050405020304" pitchFamily="18" charset="0"/>
                <a:cs typeface="Times New Roman" panose="02020603050405020304" pitchFamily="18" charset="0"/>
              </a:rPr>
              <a:t>3) PCA Top Variance Contribution :-</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[0.084, 0.060, 0.054, 0.046, 0.030,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list shows how much </a:t>
            </a:r>
            <a:r>
              <a:rPr lang="en-US" sz="2000" b="1" dirty="0">
                <a:latin typeface="Times New Roman" panose="02020603050405020304" pitchFamily="18" charset="0"/>
                <a:cs typeface="Times New Roman" panose="02020603050405020304" pitchFamily="18" charset="0"/>
              </a:rPr>
              <a:t>variance (information)</a:t>
            </a:r>
            <a:r>
              <a:rPr lang="en-US" sz="2000" dirty="0">
                <a:latin typeface="Times New Roman" panose="02020603050405020304" pitchFamily="18" charset="0"/>
                <a:cs typeface="Times New Roman" panose="02020603050405020304" pitchFamily="18" charset="0"/>
              </a:rPr>
              <a:t> each principal component captures.</a:t>
            </a:r>
          </a:p>
          <a:p>
            <a:pPr algn="just">
              <a:lnSpc>
                <a:spcPct val="150000"/>
              </a:lnSpc>
            </a:pPr>
            <a:r>
              <a:rPr lang="en-US" sz="2000" dirty="0">
                <a:latin typeface="Times New Roman" panose="02020603050405020304" pitchFamily="18" charset="0"/>
                <a:cs typeface="Times New Roman" panose="02020603050405020304" pitchFamily="18" charset="0"/>
              </a:rPr>
              <a:t>For example:</a:t>
            </a:r>
          </a:p>
          <a:p>
            <a:pPr marL="285750" indent="-28575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PC1 explains </a:t>
            </a:r>
            <a:r>
              <a:rPr lang="en-US" sz="2000" b="1" dirty="0">
                <a:latin typeface="Times New Roman" panose="02020603050405020304" pitchFamily="18" charset="0"/>
                <a:cs typeface="Times New Roman" panose="02020603050405020304" pitchFamily="18" charset="0"/>
              </a:rPr>
              <a:t>8.4%</a:t>
            </a:r>
            <a:r>
              <a:rPr lang="en-US" sz="2000" dirty="0">
                <a:latin typeface="Times New Roman" panose="02020603050405020304" pitchFamily="18" charset="0"/>
                <a:cs typeface="Times New Roman" panose="02020603050405020304" pitchFamily="18" charset="0"/>
              </a:rPr>
              <a:t> of the total data variance,</a:t>
            </a:r>
          </a:p>
          <a:p>
            <a:pPr marL="285750" indent="-28575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PC2 explains </a:t>
            </a:r>
            <a:r>
              <a:rPr lang="en-US" sz="2000" b="1" dirty="0">
                <a:latin typeface="Times New Roman" panose="02020603050405020304" pitchFamily="18" charset="0"/>
                <a:cs typeface="Times New Roman" panose="02020603050405020304" pitchFamily="18" charset="0"/>
              </a:rPr>
              <a:t>6.0%</a:t>
            </a:r>
            <a:r>
              <a:rPr lang="en-US" sz="2000" dirty="0">
                <a:latin typeface="Times New Roman" panose="02020603050405020304" pitchFamily="18" charset="0"/>
                <a:cs typeface="Times New Roman" panose="02020603050405020304" pitchFamily="18" charset="0"/>
              </a:rPr>
              <a:t>, and so on.</a:t>
            </a:r>
          </a:p>
          <a:p>
            <a:pPr algn="just">
              <a:lnSpc>
                <a:spcPct val="150000"/>
              </a:lnSpc>
            </a:pPr>
            <a:r>
              <a:rPr lang="en-IN" sz="2000" b="1" u="sng" dirty="0">
                <a:latin typeface="Times New Roman" panose="02020603050405020304" pitchFamily="18" charset="0"/>
                <a:cs typeface="Times New Roman" panose="02020603050405020304" pitchFamily="18" charset="0"/>
              </a:rPr>
              <a:t>4) </a:t>
            </a:r>
            <a:r>
              <a:rPr lang="en-US" sz="2000" b="1" u="sng" dirty="0">
                <a:latin typeface="Times New Roman" panose="02020603050405020304" pitchFamily="18" charset="0"/>
                <a:cs typeface="Times New Roman" panose="02020603050405020304" pitchFamily="18" charset="0"/>
              </a:rPr>
              <a:t>Applied SMOTE to Fix Class Imbalance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dataset likely had </a:t>
            </a:r>
            <a:r>
              <a:rPr lang="en-US" sz="2000" b="1" dirty="0">
                <a:latin typeface="Times New Roman" panose="02020603050405020304" pitchFamily="18" charset="0"/>
                <a:cs typeface="Times New Roman" panose="02020603050405020304" pitchFamily="18" charset="0"/>
              </a:rPr>
              <a:t>unequal class distribution</a:t>
            </a:r>
            <a:r>
              <a:rPr lang="en-US" sz="2000" dirty="0">
                <a:latin typeface="Times New Roman" panose="02020603050405020304" pitchFamily="18" charset="0"/>
                <a:cs typeface="Times New Roman" panose="02020603050405020304" pitchFamily="18" charset="0"/>
              </a:rPr>
              <a:t> (some lesion types had fewer samples).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SMOTE (Synthetic Minority Oversampling Technique)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After applying SMOTE, each of the 7 classes had </a:t>
            </a:r>
            <a:r>
              <a:rPr lang="en-US" sz="2000" b="1" dirty="0">
                <a:latin typeface="Times New Roman" panose="02020603050405020304" pitchFamily="18" charset="0"/>
                <a:cs typeface="Times New Roman" panose="02020603050405020304" pitchFamily="18" charset="0"/>
              </a:rPr>
              <a:t>exactly 1,337 samples</a:t>
            </a:r>
            <a:r>
              <a:rPr lang="en-US" sz="2000" dirty="0">
                <a:latin typeface="Times New Roman" panose="02020603050405020304" pitchFamily="18" charset="0"/>
                <a:cs typeface="Times New Roman" panose="02020603050405020304" pitchFamily="18" charset="0"/>
              </a:rPr>
              <a:t>, creating a </a:t>
            </a:r>
            <a:r>
              <a:rPr lang="en-US" sz="2000" b="1" dirty="0">
                <a:latin typeface="Times New Roman" panose="02020603050405020304" pitchFamily="18" charset="0"/>
                <a:cs typeface="Times New Roman" panose="02020603050405020304" pitchFamily="18" charset="0"/>
              </a:rPr>
              <a:t>perfectly balanced dataset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1139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10E70AB-889B-2699-6EDF-F202EAB4DA50}"/>
              </a:ext>
            </a:extLst>
          </p:cNvPr>
          <p:cNvGraphicFramePr>
            <a:graphicFrameLocks noGrp="1"/>
          </p:cNvGraphicFramePr>
          <p:nvPr>
            <p:extLst>
              <p:ext uri="{D42A27DB-BD31-4B8C-83A1-F6EECF244321}">
                <p14:modId xmlns:p14="http://schemas.microsoft.com/office/powerpoint/2010/main" val="3707658600"/>
              </p:ext>
            </p:extLst>
          </p:nvPr>
        </p:nvGraphicFramePr>
        <p:xfrm>
          <a:off x="1315616" y="2369976"/>
          <a:ext cx="9731796" cy="3596016"/>
        </p:xfrm>
        <a:graphic>
          <a:graphicData uri="http://schemas.openxmlformats.org/drawingml/2006/table">
            <a:tbl>
              <a:tblPr>
                <a:tableStyleId>{35758FB7-9AC5-4552-8A53-C91805E547FA}</a:tableStyleId>
              </a:tblPr>
              <a:tblGrid>
                <a:gridCol w="3243932">
                  <a:extLst>
                    <a:ext uri="{9D8B030D-6E8A-4147-A177-3AD203B41FA5}">
                      <a16:colId xmlns:a16="http://schemas.microsoft.com/office/drawing/2014/main" val="946882840"/>
                    </a:ext>
                  </a:extLst>
                </a:gridCol>
                <a:gridCol w="3243932">
                  <a:extLst>
                    <a:ext uri="{9D8B030D-6E8A-4147-A177-3AD203B41FA5}">
                      <a16:colId xmlns:a16="http://schemas.microsoft.com/office/drawing/2014/main" val="1336756344"/>
                    </a:ext>
                  </a:extLst>
                </a:gridCol>
                <a:gridCol w="3243932">
                  <a:extLst>
                    <a:ext uri="{9D8B030D-6E8A-4147-A177-3AD203B41FA5}">
                      <a16:colId xmlns:a16="http://schemas.microsoft.com/office/drawing/2014/main" val="688470456"/>
                    </a:ext>
                  </a:extLst>
                </a:gridCol>
              </a:tblGrid>
              <a:tr h="410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t>Lesion Category</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dirty="0"/>
                        <a:t>Label</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b="1" dirty="0"/>
                        <a:t>Full Name</a:t>
                      </a:r>
                      <a:endParaRPr lang="en-IN" sz="20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8136337"/>
                  </a:ext>
                </a:extLst>
              </a:tr>
              <a:tr h="725512">
                <a:tc>
                  <a:txBody>
                    <a:bodyPr/>
                    <a:lstStyle/>
                    <a:p>
                      <a:pPr algn="ctr">
                        <a:buNone/>
                      </a:pPr>
                      <a:r>
                        <a:rPr lang="en-IN" sz="2000" dirty="0"/>
                        <a:t>0</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akiec</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a:t>Actinic keratoses and intraepithelial carcinoma</a:t>
                      </a:r>
                      <a:endParaRPr lang="en-US"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02263846"/>
                  </a:ext>
                </a:extLst>
              </a:tr>
              <a:tr h="410072">
                <a:tc>
                  <a:txBody>
                    <a:bodyPr/>
                    <a:lstStyle/>
                    <a:p>
                      <a:pPr algn="ctr">
                        <a:buNone/>
                      </a:pPr>
                      <a:r>
                        <a:rPr lang="en-IN" sz="2000" dirty="0"/>
                        <a:t>1</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bcc</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a:t>Basal cell carcinoma</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36974054"/>
                  </a:ext>
                </a:extLst>
              </a:tr>
              <a:tr h="410072">
                <a:tc>
                  <a:txBody>
                    <a:bodyPr/>
                    <a:lstStyle/>
                    <a:p>
                      <a:pPr algn="ctr">
                        <a:buNone/>
                      </a:pPr>
                      <a:r>
                        <a:rPr lang="en-IN" sz="2000" dirty="0"/>
                        <a:t>2</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bkl</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Benign keratosis-like lesions</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80239994"/>
                  </a:ext>
                </a:extLst>
              </a:tr>
              <a:tr h="410072">
                <a:tc>
                  <a:txBody>
                    <a:bodyPr/>
                    <a:lstStyle/>
                    <a:p>
                      <a:pPr algn="ctr">
                        <a:buNone/>
                      </a:pPr>
                      <a:r>
                        <a:rPr lang="en-IN" sz="2000" dirty="0"/>
                        <a:t>3</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df</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Dermatofibroma</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05098764"/>
                  </a:ext>
                </a:extLst>
              </a:tr>
              <a:tr h="410072">
                <a:tc>
                  <a:txBody>
                    <a:bodyPr/>
                    <a:lstStyle/>
                    <a:p>
                      <a:pPr algn="ctr">
                        <a:buNone/>
                      </a:pPr>
                      <a:r>
                        <a:rPr lang="en-IN" sz="2000" dirty="0"/>
                        <a:t>4</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a:t>mel</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Melanoma</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71011943"/>
                  </a:ext>
                </a:extLst>
              </a:tr>
              <a:tr h="410072">
                <a:tc>
                  <a:txBody>
                    <a:bodyPr/>
                    <a:lstStyle/>
                    <a:p>
                      <a:pPr algn="ctr">
                        <a:buNone/>
                      </a:pPr>
                      <a:r>
                        <a:rPr lang="en-IN" sz="2000" dirty="0"/>
                        <a:t>5</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a:t>nv</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Melanocytic nevi</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65660371"/>
                  </a:ext>
                </a:extLst>
              </a:tr>
              <a:tr h="410072">
                <a:tc>
                  <a:txBody>
                    <a:bodyPr/>
                    <a:lstStyle/>
                    <a:p>
                      <a:pPr algn="ctr">
                        <a:buNone/>
                      </a:pPr>
                      <a:r>
                        <a:rPr lang="en-IN" sz="2000" dirty="0"/>
                        <a:t>6</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a:t>vasc</a:t>
                      </a:r>
                      <a:endParaRPr lang="en-IN" sz="20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000" dirty="0"/>
                        <a:t>Vascular lesions</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30179057"/>
                  </a:ext>
                </a:extLst>
              </a:tr>
            </a:tbl>
          </a:graphicData>
        </a:graphic>
      </p:graphicFrame>
      <p:sp>
        <p:nvSpPr>
          <p:cNvPr id="4" name="TextBox 3">
            <a:extLst>
              <a:ext uri="{FF2B5EF4-FFF2-40B4-BE49-F238E27FC236}">
                <a16:creationId xmlns:a16="http://schemas.microsoft.com/office/drawing/2014/main" id="{F846DA6F-8B59-B3B8-AC12-14E91206D7F7}"/>
              </a:ext>
            </a:extLst>
          </p:cNvPr>
          <p:cNvSpPr txBox="1"/>
          <p:nvPr/>
        </p:nvSpPr>
        <p:spPr>
          <a:xfrm>
            <a:off x="1184987" y="1017037"/>
            <a:ext cx="7956679"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Classes (Skin Lesion Types):</a:t>
            </a:r>
          </a:p>
        </p:txBody>
      </p:sp>
    </p:spTree>
    <p:extLst>
      <p:ext uri="{BB962C8B-B14F-4D97-AF65-F5344CB8AC3E}">
        <p14:creationId xmlns:p14="http://schemas.microsoft.com/office/powerpoint/2010/main" val="2732077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kin cancer detection process&#10;&#10;AI-generated content may be incorrect.">
            <a:extLst>
              <a:ext uri="{FF2B5EF4-FFF2-40B4-BE49-F238E27FC236}">
                <a16:creationId xmlns:a16="http://schemas.microsoft.com/office/drawing/2014/main" id="{4EB37ADB-139B-BB17-F40C-D01776D2855B}"/>
              </a:ext>
            </a:extLst>
          </p:cNvPr>
          <p:cNvPicPr>
            <a:picLocks noChangeAspect="1"/>
          </p:cNvPicPr>
          <p:nvPr/>
        </p:nvPicPr>
        <p:blipFill>
          <a:blip r:embed="rId2"/>
          <a:stretch>
            <a:fillRect/>
          </a:stretch>
        </p:blipFill>
        <p:spPr>
          <a:xfrm>
            <a:off x="2565918" y="1324946"/>
            <a:ext cx="7100596" cy="5187821"/>
          </a:xfrm>
          <a:prstGeom prst="rect">
            <a:avLst/>
          </a:prstGeom>
        </p:spPr>
      </p:pic>
      <p:sp>
        <p:nvSpPr>
          <p:cNvPr id="5" name="TextBox 4">
            <a:extLst>
              <a:ext uri="{FF2B5EF4-FFF2-40B4-BE49-F238E27FC236}">
                <a16:creationId xmlns:a16="http://schemas.microsoft.com/office/drawing/2014/main" id="{E027FEF2-59EA-E79D-98EA-03B5255B5B5F}"/>
              </a:ext>
            </a:extLst>
          </p:cNvPr>
          <p:cNvSpPr txBox="1"/>
          <p:nvPr/>
        </p:nvSpPr>
        <p:spPr>
          <a:xfrm>
            <a:off x="1352939" y="345233"/>
            <a:ext cx="9825134" cy="769441"/>
          </a:xfrm>
          <a:prstGeom prst="rect">
            <a:avLst/>
          </a:prstGeom>
          <a:noFill/>
        </p:spPr>
        <p:txBody>
          <a:bodyPr wrap="square">
            <a:spAutoFit/>
          </a:bodyPr>
          <a:lstStyle/>
          <a:p>
            <a:pPr algn="ctr"/>
            <a:r>
              <a:rPr lang="en-IN" sz="4400" dirty="0">
                <a:latin typeface="Times New Roman" panose="02020603050405020304" pitchFamily="18" charset="0"/>
                <a:cs typeface="Times New Roman" panose="02020603050405020304" pitchFamily="18" charset="0"/>
              </a:rPr>
              <a:t>Results based on Training Models</a:t>
            </a:r>
          </a:p>
        </p:txBody>
      </p:sp>
    </p:spTree>
    <p:extLst>
      <p:ext uri="{BB962C8B-B14F-4D97-AF65-F5344CB8AC3E}">
        <p14:creationId xmlns:p14="http://schemas.microsoft.com/office/powerpoint/2010/main" val="2840729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422989-98C6-6C65-D3F3-95A844B22BA4}"/>
              </a:ext>
            </a:extLst>
          </p:cNvPr>
          <p:cNvSpPr txBox="1"/>
          <p:nvPr/>
        </p:nvSpPr>
        <p:spPr>
          <a:xfrm>
            <a:off x="1248697" y="294968"/>
            <a:ext cx="9989574" cy="707886"/>
          </a:xfrm>
          <a:prstGeom prst="rect">
            <a:avLst/>
          </a:prstGeom>
          <a:noFill/>
        </p:spPr>
        <p:txBody>
          <a:bodyPr wrap="square">
            <a:spAutoFit/>
          </a:bodyPr>
          <a:lstStyle/>
          <a:p>
            <a:pPr algn="ctr"/>
            <a:r>
              <a:rPr lang="en-IN" sz="4000" dirty="0">
                <a:latin typeface="Times New Roman" panose="02020603050405020304" pitchFamily="18" charset="0"/>
                <a:cs typeface="Times New Roman" panose="02020603050405020304" pitchFamily="18" charset="0"/>
              </a:rPr>
              <a:t>Results based on Training Models</a:t>
            </a:r>
          </a:p>
        </p:txBody>
      </p:sp>
      <p:sp>
        <p:nvSpPr>
          <p:cNvPr id="5" name="TextBox 4">
            <a:extLst>
              <a:ext uri="{FF2B5EF4-FFF2-40B4-BE49-F238E27FC236}">
                <a16:creationId xmlns:a16="http://schemas.microsoft.com/office/drawing/2014/main" id="{9152F51B-D4E9-8EA2-7A54-0062D08E913F}"/>
              </a:ext>
            </a:extLst>
          </p:cNvPr>
          <p:cNvSpPr txBox="1"/>
          <p:nvPr/>
        </p:nvSpPr>
        <p:spPr>
          <a:xfrm>
            <a:off x="1248697" y="1694125"/>
            <a:ext cx="7892845"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Random Forest :-</a:t>
            </a:r>
          </a:p>
          <a:p>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Random Forest Classification Report:</a:t>
            </a:r>
            <a:endParaRPr lang="en-IN" sz="20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EE0FFC4-AEFF-588F-3146-DE80DB90BABC}"/>
              </a:ext>
            </a:extLst>
          </p:cNvPr>
          <p:cNvGraphicFramePr>
            <a:graphicFrameLocks noGrp="1"/>
          </p:cNvGraphicFramePr>
          <p:nvPr>
            <p:extLst>
              <p:ext uri="{D42A27DB-BD31-4B8C-83A1-F6EECF244321}">
                <p14:modId xmlns:p14="http://schemas.microsoft.com/office/powerpoint/2010/main" val="2592335117"/>
              </p:ext>
            </p:extLst>
          </p:nvPr>
        </p:nvGraphicFramePr>
        <p:xfrm>
          <a:off x="1396181" y="3008670"/>
          <a:ext cx="9509945" cy="3354024"/>
        </p:xfrm>
        <a:graphic>
          <a:graphicData uri="http://schemas.openxmlformats.org/drawingml/2006/table">
            <a:tbl>
              <a:tblPr firstRow="1" bandRow="1">
                <a:tableStyleId>{5C22544A-7EE6-4342-B048-85BDC9FD1C3A}</a:tableStyleId>
              </a:tblPr>
              <a:tblGrid>
                <a:gridCol w="2160454">
                  <a:extLst>
                    <a:ext uri="{9D8B030D-6E8A-4147-A177-3AD203B41FA5}">
                      <a16:colId xmlns:a16="http://schemas.microsoft.com/office/drawing/2014/main" val="1035467520"/>
                    </a:ext>
                  </a:extLst>
                </a:gridCol>
                <a:gridCol w="1765851">
                  <a:extLst>
                    <a:ext uri="{9D8B030D-6E8A-4147-A177-3AD203B41FA5}">
                      <a16:colId xmlns:a16="http://schemas.microsoft.com/office/drawing/2014/main" val="3479704887"/>
                    </a:ext>
                  </a:extLst>
                </a:gridCol>
                <a:gridCol w="1903962">
                  <a:extLst>
                    <a:ext uri="{9D8B030D-6E8A-4147-A177-3AD203B41FA5}">
                      <a16:colId xmlns:a16="http://schemas.microsoft.com/office/drawing/2014/main" val="3869995794"/>
                    </a:ext>
                  </a:extLst>
                </a:gridCol>
                <a:gridCol w="1913827">
                  <a:extLst>
                    <a:ext uri="{9D8B030D-6E8A-4147-A177-3AD203B41FA5}">
                      <a16:colId xmlns:a16="http://schemas.microsoft.com/office/drawing/2014/main" val="2513407604"/>
                    </a:ext>
                  </a:extLst>
                </a:gridCol>
                <a:gridCol w="1765851">
                  <a:extLst>
                    <a:ext uri="{9D8B030D-6E8A-4147-A177-3AD203B41FA5}">
                      <a16:colId xmlns:a16="http://schemas.microsoft.com/office/drawing/2014/main" val="356541588"/>
                    </a:ext>
                  </a:extLst>
                </a:gridCol>
              </a:tblGrid>
              <a:tr h="419253">
                <a:tc>
                  <a:txBody>
                    <a:bodyPr/>
                    <a:lstStyle/>
                    <a:p>
                      <a:pPr algn="ctr"/>
                      <a:r>
                        <a:rPr lang="en-IN" sz="2000" dirty="0">
                          <a:latin typeface="Times New Roman" panose="02020603050405020304" pitchFamily="18" charset="0"/>
                          <a:cs typeface="Times New Roman" panose="02020603050405020304" pitchFamily="18" charset="0"/>
                        </a:rPr>
                        <a:t>Lesion Category</a:t>
                      </a:r>
                    </a:p>
                  </a:txBody>
                  <a:tcPr/>
                </a:tc>
                <a:tc>
                  <a:txBody>
                    <a:bodyPr/>
                    <a:lstStyle/>
                    <a:p>
                      <a:pPr algn="ctr"/>
                      <a:r>
                        <a:rPr lang="en-IN" sz="2000" dirty="0">
                          <a:latin typeface="Times New Roman" panose="02020603050405020304" pitchFamily="18" charset="0"/>
                          <a:cs typeface="Times New Roman" panose="02020603050405020304" pitchFamily="18" charset="0"/>
                        </a:rPr>
                        <a:t>Precision</a:t>
                      </a:r>
                    </a:p>
                  </a:txBody>
                  <a:tcPr/>
                </a:tc>
                <a:tc>
                  <a:txBody>
                    <a:bodyPr/>
                    <a:lstStyle/>
                    <a:p>
                      <a:pPr algn="ctr"/>
                      <a:r>
                        <a:rPr lang="en-IN" sz="2000" dirty="0">
                          <a:latin typeface="Times New Roman" panose="02020603050405020304" pitchFamily="18" charset="0"/>
                          <a:cs typeface="Times New Roman" panose="02020603050405020304" pitchFamily="18" charset="0"/>
                        </a:rPr>
                        <a:t>Recall</a:t>
                      </a:r>
                    </a:p>
                  </a:txBody>
                  <a:tcPr/>
                </a:tc>
                <a:tc>
                  <a:txBody>
                    <a:bodyPr/>
                    <a:lstStyle/>
                    <a:p>
                      <a:pPr algn="ctr"/>
                      <a:r>
                        <a:rPr lang="en-IN" sz="2000" dirty="0">
                          <a:latin typeface="Times New Roman" panose="02020603050405020304" pitchFamily="18" charset="0"/>
                          <a:cs typeface="Times New Roman" panose="02020603050405020304" pitchFamily="18" charset="0"/>
                        </a:rPr>
                        <a:t>f1-score</a:t>
                      </a:r>
                    </a:p>
                  </a:txBody>
                  <a:tcPr/>
                </a:tc>
                <a:tc>
                  <a:txBody>
                    <a:bodyPr/>
                    <a:lstStyle/>
                    <a:p>
                      <a:pPr algn="ctr"/>
                      <a:r>
                        <a:rPr lang="en-IN" sz="2000" dirty="0">
                          <a:latin typeface="Times New Roman" panose="02020603050405020304" pitchFamily="18" charset="0"/>
                          <a:cs typeface="Times New Roman" panose="02020603050405020304" pitchFamily="18" charset="0"/>
                        </a:rPr>
                        <a:t>support</a:t>
                      </a:r>
                    </a:p>
                  </a:txBody>
                  <a:tcPr/>
                </a:tc>
                <a:extLst>
                  <a:ext uri="{0D108BD9-81ED-4DB2-BD59-A6C34878D82A}">
                    <a16:rowId xmlns:a16="http://schemas.microsoft.com/office/drawing/2014/main" val="1954285554"/>
                  </a:ext>
                </a:extLst>
              </a:tr>
              <a:tr h="419253">
                <a:tc>
                  <a:txBody>
                    <a:bodyPr/>
                    <a:lstStyle/>
                    <a:p>
                      <a:pPr algn="ctr"/>
                      <a:r>
                        <a:rPr lang="en-IN" sz="2000" dirty="0">
                          <a:latin typeface="Times New Roman" panose="02020603050405020304" pitchFamily="18" charset="0"/>
                          <a:cs typeface="Times New Roman" panose="02020603050405020304" pitchFamily="18" charset="0"/>
                        </a:rPr>
                        <a:t>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917663789"/>
                  </a:ext>
                </a:extLst>
              </a:tr>
              <a:tr h="419253">
                <a:tc>
                  <a:txBody>
                    <a:bodyPr/>
                    <a:lstStyle/>
                    <a:p>
                      <a:pPr algn="ctr"/>
                      <a:r>
                        <a:rPr lang="en-IN" sz="2000" dirty="0">
                          <a:latin typeface="Times New Roman" panose="02020603050405020304" pitchFamily="18" charset="0"/>
                          <a:cs typeface="Times New Roman" panose="02020603050405020304" pitchFamily="18" charset="0"/>
                        </a:rPr>
                        <a:t>1</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0.99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495962071"/>
                  </a:ext>
                </a:extLst>
              </a:tr>
              <a:tr h="419253">
                <a:tc>
                  <a:txBody>
                    <a:bodyPr/>
                    <a:lstStyle/>
                    <a:p>
                      <a:pPr algn="ctr"/>
                      <a:r>
                        <a:rPr lang="en-IN" sz="2000" dirty="0">
                          <a:latin typeface="Times New Roman" panose="02020603050405020304" pitchFamily="18" charset="0"/>
                          <a:cs typeface="Times New Roman" panose="02020603050405020304" pitchFamily="18" charset="0"/>
                        </a:rPr>
                        <a:t>2</a:t>
                      </a:r>
                    </a:p>
                  </a:txBody>
                  <a:tcPr/>
                </a:tc>
                <a:tc>
                  <a:txBody>
                    <a:bodyPr/>
                    <a:lstStyle/>
                    <a:p>
                      <a:pPr algn="ctr"/>
                      <a:r>
                        <a:rPr lang="en-IN" sz="2000" dirty="0">
                          <a:latin typeface="Times New Roman" panose="02020603050405020304" pitchFamily="18" charset="0"/>
                          <a:cs typeface="Times New Roman" panose="02020603050405020304" pitchFamily="18" charset="0"/>
                        </a:rPr>
                        <a:t>0.95</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0.96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118811549"/>
                  </a:ext>
                </a:extLst>
              </a:tr>
              <a:tr h="419253">
                <a:tc>
                  <a:txBody>
                    <a:bodyPr/>
                    <a:lstStyle/>
                    <a:p>
                      <a:pPr algn="ctr"/>
                      <a:r>
                        <a:rPr lang="en-IN" sz="2000" dirty="0">
                          <a:latin typeface="Times New Roman" panose="02020603050405020304" pitchFamily="18" charset="0"/>
                          <a:cs typeface="Times New Roman" panose="02020603050405020304" pitchFamily="18" charset="0"/>
                        </a:rPr>
                        <a:t>3</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1446704424"/>
                  </a:ext>
                </a:extLst>
              </a:tr>
              <a:tr h="419253">
                <a:tc>
                  <a:txBody>
                    <a:bodyPr/>
                    <a:lstStyle/>
                    <a:p>
                      <a:pPr algn="ctr"/>
                      <a:r>
                        <a:rPr lang="en-IN" sz="2000" dirty="0">
                          <a:latin typeface="Times New Roman" panose="02020603050405020304" pitchFamily="18" charset="0"/>
                          <a:cs typeface="Times New Roman" panose="02020603050405020304" pitchFamily="18" charset="0"/>
                        </a:rPr>
                        <a:t>4</a:t>
                      </a:r>
                    </a:p>
                  </a:txBody>
                  <a:tcPr/>
                </a:tc>
                <a:tc>
                  <a:txBody>
                    <a:bodyPr/>
                    <a:lstStyle/>
                    <a:p>
                      <a:pPr algn="ctr"/>
                      <a:r>
                        <a:rPr lang="en-IN" sz="2000" dirty="0">
                          <a:latin typeface="Times New Roman" panose="02020603050405020304" pitchFamily="18" charset="0"/>
                          <a:cs typeface="Times New Roman" panose="02020603050405020304" pitchFamily="18" charset="0"/>
                        </a:rPr>
                        <a:t>0.95</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038269971"/>
                  </a:ext>
                </a:extLst>
              </a:tr>
              <a:tr h="419253">
                <a:tc>
                  <a:txBody>
                    <a:bodyPr/>
                    <a:lstStyle/>
                    <a:p>
                      <a:pPr algn="ctr"/>
                      <a:r>
                        <a:rPr lang="en-IN" sz="2000" dirty="0">
                          <a:latin typeface="Times New Roman" panose="02020603050405020304" pitchFamily="18" charset="0"/>
                          <a:cs typeface="Times New Roman" panose="02020603050405020304" pitchFamily="18" charset="0"/>
                        </a:rPr>
                        <a:t>5</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0.89</a:t>
                      </a:r>
                    </a:p>
                  </a:txBody>
                  <a:tcPr/>
                </a:tc>
                <a:tc>
                  <a:txBody>
                    <a:bodyPr/>
                    <a:lstStyle/>
                    <a:p>
                      <a:pPr algn="ctr"/>
                      <a:r>
                        <a:rPr lang="en-IN" sz="2000" dirty="0">
                          <a:latin typeface="Times New Roman" panose="02020603050405020304" pitchFamily="18" charset="0"/>
                          <a:cs typeface="Times New Roman" panose="02020603050405020304" pitchFamily="18" charset="0"/>
                        </a:rPr>
                        <a:t>0.93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375605235"/>
                  </a:ext>
                </a:extLst>
              </a:tr>
              <a:tr h="419253">
                <a:tc>
                  <a:txBody>
                    <a:bodyPr/>
                    <a:lstStyle/>
                    <a:p>
                      <a:pPr algn="ctr"/>
                      <a:r>
                        <a:rPr lang="en-IN" sz="2000" dirty="0">
                          <a:latin typeface="Times New Roman" panose="02020603050405020304" pitchFamily="18" charset="0"/>
                          <a:cs typeface="Times New Roman" panose="02020603050405020304" pitchFamily="18" charset="0"/>
                        </a:rPr>
                        <a:t>6</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299739444"/>
                  </a:ext>
                </a:extLst>
              </a:tr>
            </a:tbl>
          </a:graphicData>
        </a:graphic>
      </p:graphicFrame>
    </p:spTree>
    <p:extLst>
      <p:ext uri="{BB962C8B-B14F-4D97-AF65-F5344CB8AC3E}">
        <p14:creationId xmlns:p14="http://schemas.microsoft.com/office/powerpoint/2010/main" val="1996053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3FF0409-C9C0-5AF4-3FA2-955ABA2B8FAC}"/>
              </a:ext>
            </a:extLst>
          </p:cNvPr>
          <p:cNvGraphicFramePr>
            <a:graphicFrameLocks noGrp="1"/>
          </p:cNvGraphicFramePr>
          <p:nvPr>
            <p:extLst>
              <p:ext uri="{D42A27DB-BD31-4B8C-83A1-F6EECF244321}">
                <p14:modId xmlns:p14="http://schemas.microsoft.com/office/powerpoint/2010/main" val="3380601529"/>
              </p:ext>
            </p:extLst>
          </p:nvPr>
        </p:nvGraphicFramePr>
        <p:xfrm>
          <a:off x="1081549" y="737418"/>
          <a:ext cx="10166554" cy="2015612"/>
        </p:xfrm>
        <a:graphic>
          <a:graphicData uri="http://schemas.openxmlformats.org/drawingml/2006/table">
            <a:tbl>
              <a:tblPr firstRow="1" bandRow="1">
                <a:tableStyleId>{5C22544A-7EE6-4342-B048-85BDC9FD1C3A}</a:tableStyleId>
              </a:tblPr>
              <a:tblGrid>
                <a:gridCol w="2199911">
                  <a:extLst>
                    <a:ext uri="{9D8B030D-6E8A-4147-A177-3AD203B41FA5}">
                      <a16:colId xmlns:a16="http://schemas.microsoft.com/office/drawing/2014/main" val="2494484810"/>
                    </a:ext>
                  </a:extLst>
                </a:gridCol>
                <a:gridCol w="1798101">
                  <a:extLst>
                    <a:ext uri="{9D8B030D-6E8A-4147-A177-3AD203B41FA5}">
                      <a16:colId xmlns:a16="http://schemas.microsoft.com/office/drawing/2014/main" val="4108364364"/>
                    </a:ext>
                  </a:extLst>
                </a:gridCol>
                <a:gridCol w="1938734">
                  <a:extLst>
                    <a:ext uri="{9D8B030D-6E8A-4147-A177-3AD203B41FA5}">
                      <a16:colId xmlns:a16="http://schemas.microsoft.com/office/drawing/2014/main" val="4267943419"/>
                    </a:ext>
                  </a:extLst>
                </a:gridCol>
                <a:gridCol w="1948779">
                  <a:extLst>
                    <a:ext uri="{9D8B030D-6E8A-4147-A177-3AD203B41FA5}">
                      <a16:colId xmlns:a16="http://schemas.microsoft.com/office/drawing/2014/main" val="1396975573"/>
                    </a:ext>
                  </a:extLst>
                </a:gridCol>
                <a:gridCol w="2281029">
                  <a:extLst>
                    <a:ext uri="{9D8B030D-6E8A-4147-A177-3AD203B41FA5}">
                      <a16:colId xmlns:a16="http://schemas.microsoft.com/office/drawing/2014/main" val="976326092"/>
                    </a:ext>
                  </a:extLst>
                </a:gridCol>
              </a:tblGrid>
              <a:tr h="503903">
                <a:tc>
                  <a:txBody>
                    <a:bodyPr/>
                    <a:lstStyle/>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Precision</a:t>
                      </a:r>
                    </a:p>
                  </a:txBody>
                  <a:tcPr/>
                </a:tc>
                <a:tc>
                  <a:txBody>
                    <a:bodyPr/>
                    <a:lstStyle/>
                    <a:p>
                      <a:pPr algn="ctr"/>
                      <a:r>
                        <a:rPr lang="en-IN" sz="2000" dirty="0">
                          <a:latin typeface="Times New Roman" panose="02020603050405020304" pitchFamily="18" charset="0"/>
                          <a:cs typeface="Times New Roman" panose="02020603050405020304" pitchFamily="18" charset="0"/>
                        </a:rPr>
                        <a:t>Recall</a:t>
                      </a:r>
                    </a:p>
                  </a:txBody>
                  <a:tcPr/>
                </a:tc>
                <a:tc>
                  <a:txBody>
                    <a:bodyPr/>
                    <a:lstStyle/>
                    <a:p>
                      <a:pPr algn="ctr"/>
                      <a:r>
                        <a:rPr lang="en-IN" sz="2000" dirty="0">
                          <a:latin typeface="Times New Roman" panose="02020603050405020304" pitchFamily="18" charset="0"/>
                          <a:cs typeface="Times New Roman" panose="02020603050405020304" pitchFamily="18" charset="0"/>
                        </a:rPr>
                        <a:t>f1-score</a:t>
                      </a:r>
                    </a:p>
                  </a:txBody>
                  <a:tcPr/>
                </a:tc>
                <a:tc>
                  <a:txBody>
                    <a:bodyPr/>
                    <a:lstStyle/>
                    <a:p>
                      <a:pPr algn="ctr"/>
                      <a:r>
                        <a:rPr lang="en-IN" sz="2000" dirty="0">
                          <a:latin typeface="Times New Roman" panose="02020603050405020304" pitchFamily="18" charset="0"/>
                          <a:cs typeface="Times New Roman" panose="02020603050405020304" pitchFamily="18" charset="0"/>
                        </a:rPr>
                        <a:t>support</a:t>
                      </a:r>
                    </a:p>
                  </a:txBody>
                  <a:tcPr/>
                </a:tc>
                <a:extLst>
                  <a:ext uri="{0D108BD9-81ED-4DB2-BD59-A6C34878D82A}">
                    <a16:rowId xmlns:a16="http://schemas.microsoft.com/office/drawing/2014/main" val="1230303515"/>
                  </a:ext>
                </a:extLst>
              </a:tr>
              <a:tr h="503903">
                <a:tc>
                  <a:txBody>
                    <a:bodyPr/>
                    <a:lstStyle/>
                    <a:p>
                      <a:pPr algn="ctr"/>
                      <a:r>
                        <a:rPr lang="en-IN" sz="2000" dirty="0">
                          <a:latin typeface="Times New Roman" panose="02020603050405020304" pitchFamily="18" charset="0"/>
                          <a:cs typeface="Times New Roman" panose="02020603050405020304" pitchFamily="18" charset="0"/>
                        </a:rPr>
                        <a:t>accuracy</a:t>
                      </a:r>
                    </a:p>
                  </a:txBody>
                  <a:tcPr/>
                </a:tc>
                <a:tc>
                  <a:txBody>
                    <a:bodyPr/>
                    <a:lstStyle/>
                    <a:p>
                      <a:pPr algn="ctr"/>
                      <a:r>
                        <a:rPr lang="en-IN" sz="2000" dirty="0">
                          <a:latin typeface="Times New Roman" panose="02020603050405020304" pitchFamily="18" charset="0"/>
                          <a:cs typeface="Times New Roman" panose="02020603050405020304" pitchFamily="18" charset="0"/>
                        </a:rPr>
                        <a:t>-</a:t>
                      </a:r>
                    </a:p>
                  </a:txBody>
                  <a:tcPr/>
                </a:tc>
                <a:tc>
                  <a:txBody>
                    <a:bodyPr/>
                    <a:lstStyle/>
                    <a:p>
                      <a:pPr algn="ctr"/>
                      <a:r>
                        <a:rPr lang="en-IN" sz="2000" dirty="0">
                          <a:latin typeface="Times New Roman" panose="02020603050405020304" pitchFamily="18" charset="0"/>
                          <a:cs typeface="Times New Roman" panose="02020603050405020304" pitchFamily="18" charset="0"/>
                        </a:rPr>
                        <a:t>-</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3120669582"/>
                  </a:ext>
                </a:extLst>
              </a:tr>
              <a:tr h="503903">
                <a:tc>
                  <a:txBody>
                    <a:bodyPr/>
                    <a:lstStyle/>
                    <a:p>
                      <a:pPr algn="ctr"/>
                      <a:r>
                        <a:rPr lang="en-IN" sz="2000" dirty="0">
                          <a:latin typeface="Times New Roman" panose="02020603050405020304" pitchFamily="18" charset="0"/>
                          <a:cs typeface="Times New Roman" panose="02020603050405020304" pitchFamily="18" charset="0"/>
                        </a:rPr>
                        <a:t>macro avg.</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4015836825"/>
                  </a:ext>
                </a:extLst>
              </a:tr>
              <a:tr h="503903">
                <a:tc>
                  <a:txBody>
                    <a:bodyPr/>
                    <a:lstStyle/>
                    <a:p>
                      <a:pPr algn="ctr"/>
                      <a:r>
                        <a:rPr lang="en-IN" sz="2000" dirty="0">
                          <a:latin typeface="Times New Roman" panose="02020603050405020304" pitchFamily="18" charset="0"/>
                          <a:cs typeface="Times New Roman" panose="02020603050405020304" pitchFamily="18" charset="0"/>
                        </a:rPr>
                        <a:t>weighted avg.</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3957219087"/>
                  </a:ext>
                </a:extLst>
              </a:tr>
            </a:tbl>
          </a:graphicData>
        </a:graphic>
      </p:graphicFrame>
      <p:pic>
        <p:nvPicPr>
          <p:cNvPr id="8" name="Picture 7">
            <a:extLst>
              <a:ext uri="{FF2B5EF4-FFF2-40B4-BE49-F238E27FC236}">
                <a16:creationId xmlns:a16="http://schemas.microsoft.com/office/drawing/2014/main" id="{22A613C6-9241-0D81-2A78-EA3FD148FB94}"/>
              </a:ext>
            </a:extLst>
          </p:cNvPr>
          <p:cNvPicPr>
            <a:picLocks noChangeAspect="1"/>
          </p:cNvPicPr>
          <p:nvPr/>
        </p:nvPicPr>
        <p:blipFill>
          <a:blip r:embed="rId2"/>
          <a:stretch>
            <a:fillRect/>
          </a:stretch>
        </p:blipFill>
        <p:spPr>
          <a:xfrm>
            <a:off x="6026992" y="2871162"/>
            <a:ext cx="4933950" cy="3743325"/>
          </a:xfrm>
          <a:prstGeom prst="rect">
            <a:avLst/>
          </a:prstGeom>
        </p:spPr>
      </p:pic>
      <p:sp>
        <p:nvSpPr>
          <p:cNvPr id="3" name="TextBox 2">
            <a:extLst>
              <a:ext uri="{FF2B5EF4-FFF2-40B4-BE49-F238E27FC236}">
                <a16:creationId xmlns:a16="http://schemas.microsoft.com/office/drawing/2014/main" id="{3043A004-71B6-D8FA-F579-A5F03AAC8E4C}"/>
              </a:ext>
            </a:extLst>
          </p:cNvPr>
          <p:cNvSpPr txBox="1"/>
          <p:nvPr/>
        </p:nvSpPr>
        <p:spPr>
          <a:xfrm>
            <a:off x="1081549" y="3429000"/>
            <a:ext cx="4638116" cy="132343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a:t>
            </a:r>
            <a:r>
              <a:rPr lang="en-US" sz="2000" b="1" dirty="0">
                <a:latin typeface="Times New Roman" panose="02020603050405020304" pitchFamily="18" charset="0"/>
                <a:cs typeface="Times New Roman" panose="02020603050405020304" pitchFamily="18" charset="0"/>
              </a:rPr>
              <a:t>row</a:t>
            </a:r>
            <a:r>
              <a:rPr lang="en-US" sz="2000" dirty="0">
                <a:latin typeface="Times New Roman" panose="02020603050405020304" pitchFamily="18" charset="0"/>
                <a:cs typeface="Times New Roman" panose="02020603050405020304" pitchFamily="18" charset="0"/>
              </a:rPr>
              <a:t> = actual (ground truth) class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a:t>
            </a:r>
            <a:r>
              <a:rPr lang="en-US" sz="2000" b="1" dirty="0">
                <a:latin typeface="Times New Roman" panose="02020603050405020304" pitchFamily="18" charset="0"/>
                <a:cs typeface="Times New Roman" panose="02020603050405020304" pitchFamily="18" charset="0"/>
              </a:rPr>
              <a:t>column</a:t>
            </a:r>
            <a:r>
              <a:rPr lang="en-US" sz="2000" dirty="0">
                <a:latin typeface="Times New Roman" panose="02020603050405020304" pitchFamily="18" charset="0"/>
                <a:cs typeface="Times New Roman" panose="02020603050405020304" pitchFamily="18" charset="0"/>
              </a:rPr>
              <a:t> = predicted class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Diagonal values = correct predictions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Off-diagonal values = misclassifications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2637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skin cancer detection using svm&#10;&#10;AI-generated content may be incorrect.">
            <a:extLst>
              <a:ext uri="{FF2B5EF4-FFF2-40B4-BE49-F238E27FC236}">
                <a16:creationId xmlns:a16="http://schemas.microsoft.com/office/drawing/2014/main" id="{24F6BEE6-8954-A5DD-B46C-886A595B19FB}"/>
              </a:ext>
            </a:extLst>
          </p:cNvPr>
          <p:cNvPicPr>
            <a:picLocks noChangeAspect="1"/>
          </p:cNvPicPr>
          <p:nvPr/>
        </p:nvPicPr>
        <p:blipFill>
          <a:blip r:embed="rId2"/>
          <a:stretch>
            <a:fillRect/>
          </a:stretch>
        </p:blipFill>
        <p:spPr>
          <a:xfrm>
            <a:off x="1679510" y="1595534"/>
            <a:ext cx="9159940" cy="4919565"/>
          </a:xfrm>
          <a:prstGeom prst="rect">
            <a:avLst/>
          </a:prstGeom>
        </p:spPr>
      </p:pic>
      <p:sp>
        <p:nvSpPr>
          <p:cNvPr id="5" name="TextBox 4">
            <a:extLst>
              <a:ext uri="{FF2B5EF4-FFF2-40B4-BE49-F238E27FC236}">
                <a16:creationId xmlns:a16="http://schemas.microsoft.com/office/drawing/2014/main" id="{52858644-9C39-5A9A-4640-D1098044ADFE}"/>
              </a:ext>
            </a:extLst>
          </p:cNvPr>
          <p:cNvSpPr txBox="1"/>
          <p:nvPr/>
        </p:nvSpPr>
        <p:spPr>
          <a:xfrm>
            <a:off x="1212979" y="342901"/>
            <a:ext cx="10086391" cy="830997"/>
          </a:xfrm>
          <a:prstGeom prst="rect">
            <a:avLst/>
          </a:prstGeom>
          <a:noFill/>
        </p:spPr>
        <p:txBody>
          <a:bodyPr wrap="square">
            <a:spAutoFit/>
          </a:bodyPr>
          <a:lstStyle/>
          <a:p>
            <a:pPr algn="ctr"/>
            <a:r>
              <a:rPr lang="en-IN" sz="4800" b="1" dirty="0">
                <a:latin typeface="Times New Roman" panose="02020603050405020304" pitchFamily="18" charset="0"/>
                <a:cs typeface="Times New Roman" panose="02020603050405020304" pitchFamily="18" charset="0"/>
              </a:rPr>
              <a:t>Results based on Training Models</a:t>
            </a:r>
          </a:p>
        </p:txBody>
      </p:sp>
    </p:spTree>
    <p:extLst>
      <p:ext uri="{BB962C8B-B14F-4D97-AF65-F5344CB8AC3E}">
        <p14:creationId xmlns:p14="http://schemas.microsoft.com/office/powerpoint/2010/main" val="2138987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EC12AE-1791-45D1-BA7E-80318CD04DD1}"/>
              </a:ext>
            </a:extLst>
          </p:cNvPr>
          <p:cNvSpPr txBox="1"/>
          <p:nvPr/>
        </p:nvSpPr>
        <p:spPr>
          <a:xfrm>
            <a:off x="1081548" y="383458"/>
            <a:ext cx="10028903" cy="707886"/>
          </a:xfrm>
          <a:prstGeom prst="rect">
            <a:avLst/>
          </a:prstGeom>
          <a:noFill/>
        </p:spPr>
        <p:txBody>
          <a:bodyPr wrap="square">
            <a:spAutoFit/>
          </a:bodyPr>
          <a:lstStyle/>
          <a:p>
            <a:pPr algn="ctr"/>
            <a:r>
              <a:rPr lang="en-IN" sz="4000" dirty="0">
                <a:latin typeface="Times New Roman" panose="02020603050405020304" pitchFamily="18" charset="0"/>
                <a:cs typeface="Times New Roman" panose="02020603050405020304" pitchFamily="18" charset="0"/>
              </a:rPr>
              <a:t>Results based on Training Models</a:t>
            </a:r>
          </a:p>
        </p:txBody>
      </p:sp>
      <p:sp>
        <p:nvSpPr>
          <p:cNvPr id="7" name="TextBox 6">
            <a:extLst>
              <a:ext uri="{FF2B5EF4-FFF2-40B4-BE49-F238E27FC236}">
                <a16:creationId xmlns:a16="http://schemas.microsoft.com/office/drawing/2014/main" id="{E9FB5AEE-0701-0F84-5768-27499EEE766F}"/>
              </a:ext>
            </a:extLst>
          </p:cNvPr>
          <p:cNvSpPr txBox="1"/>
          <p:nvPr/>
        </p:nvSpPr>
        <p:spPr>
          <a:xfrm>
            <a:off x="1288026" y="1582994"/>
            <a:ext cx="7794523" cy="101566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2)  </a:t>
            </a:r>
            <a:r>
              <a:rPr lang="en-IN" sz="2000" b="1" i="0" dirty="0">
                <a:effectLst/>
                <a:latin typeface="Times New Roman" panose="02020603050405020304" pitchFamily="18" charset="0"/>
                <a:cs typeface="Times New Roman" panose="02020603050405020304" pitchFamily="18" charset="0"/>
              </a:rPr>
              <a:t>Support Vector Machine (SVM) :-</a:t>
            </a:r>
          </a:p>
          <a:p>
            <a:endParaRPr lang="en-IN" sz="2000" b="1" dirty="0">
              <a:solidFill>
                <a:srgbClr val="CCCCCC"/>
              </a:solidFill>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SVM Classification Report:</a:t>
            </a:r>
            <a:endParaRPr lang="en-IN" sz="2400"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4BEE1F80-E86A-7857-AD6E-DA1A14F1286D}"/>
              </a:ext>
            </a:extLst>
          </p:cNvPr>
          <p:cNvGraphicFramePr>
            <a:graphicFrameLocks noGrp="1"/>
          </p:cNvGraphicFramePr>
          <p:nvPr>
            <p:extLst>
              <p:ext uri="{D42A27DB-BD31-4B8C-83A1-F6EECF244321}">
                <p14:modId xmlns:p14="http://schemas.microsoft.com/office/powerpoint/2010/main" val="2099800883"/>
              </p:ext>
            </p:extLst>
          </p:nvPr>
        </p:nvGraphicFramePr>
        <p:xfrm>
          <a:off x="1386349" y="2861187"/>
          <a:ext cx="9519779" cy="3501504"/>
        </p:xfrm>
        <a:graphic>
          <a:graphicData uri="http://schemas.openxmlformats.org/drawingml/2006/table">
            <a:tbl>
              <a:tblPr firstRow="1" bandRow="1">
                <a:tableStyleId>{5C22544A-7EE6-4342-B048-85BDC9FD1C3A}</a:tableStyleId>
              </a:tblPr>
              <a:tblGrid>
                <a:gridCol w="2162688">
                  <a:extLst>
                    <a:ext uri="{9D8B030D-6E8A-4147-A177-3AD203B41FA5}">
                      <a16:colId xmlns:a16="http://schemas.microsoft.com/office/drawing/2014/main" val="1035467520"/>
                    </a:ext>
                  </a:extLst>
                </a:gridCol>
                <a:gridCol w="1767677">
                  <a:extLst>
                    <a:ext uri="{9D8B030D-6E8A-4147-A177-3AD203B41FA5}">
                      <a16:colId xmlns:a16="http://schemas.microsoft.com/office/drawing/2014/main" val="3479704887"/>
                    </a:ext>
                  </a:extLst>
                </a:gridCol>
                <a:gridCol w="1905931">
                  <a:extLst>
                    <a:ext uri="{9D8B030D-6E8A-4147-A177-3AD203B41FA5}">
                      <a16:colId xmlns:a16="http://schemas.microsoft.com/office/drawing/2014/main" val="3869995794"/>
                    </a:ext>
                  </a:extLst>
                </a:gridCol>
                <a:gridCol w="1915806">
                  <a:extLst>
                    <a:ext uri="{9D8B030D-6E8A-4147-A177-3AD203B41FA5}">
                      <a16:colId xmlns:a16="http://schemas.microsoft.com/office/drawing/2014/main" val="2513407604"/>
                    </a:ext>
                  </a:extLst>
                </a:gridCol>
                <a:gridCol w="1767677">
                  <a:extLst>
                    <a:ext uri="{9D8B030D-6E8A-4147-A177-3AD203B41FA5}">
                      <a16:colId xmlns:a16="http://schemas.microsoft.com/office/drawing/2014/main" val="356541588"/>
                    </a:ext>
                  </a:extLst>
                </a:gridCol>
              </a:tblGrid>
              <a:tr h="437688">
                <a:tc>
                  <a:txBody>
                    <a:bodyPr/>
                    <a:lstStyle/>
                    <a:p>
                      <a:pPr algn="ctr"/>
                      <a:r>
                        <a:rPr lang="en-IN" sz="2000" dirty="0">
                          <a:latin typeface="Times New Roman" panose="02020603050405020304" pitchFamily="18" charset="0"/>
                          <a:cs typeface="Times New Roman" panose="02020603050405020304" pitchFamily="18" charset="0"/>
                        </a:rPr>
                        <a:t>Lesion Category</a:t>
                      </a:r>
                    </a:p>
                  </a:txBody>
                  <a:tcPr/>
                </a:tc>
                <a:tc>
                  <a:txBody>
                    <a:bodyPr/>
                    <a:lstStyle/>
                    <a:p>
                      <a:pPr algn="ctr"/>
                      <a:r>
                        <a:rPr lang="en-IN" sz="2000" dirty="0">
                          <a:latin typeface="Times New Roman" panose="02020603050405020304" pitchFamily="18" charset="0"/>
                          <a:cs typeface="Times New Roman" panose="02020603050405020304" pitchFamily="18" charset="0"/>
                        </a:rPr>
                        <a:t>Precision</a:t>
                      </a:r>
                    </a:p>
                  </a:txBody>
                  <a:tcPr/>
                </a:tc>
                <a:tc>
                  <a:txBody>
                    <a:bodyPr/>
                    <a:lstStyle/>
                    <a:p>
                      <a:pPr algn="ctr"/>
                      <a:r>
                        <a:rPr lang="en-IN" sz="2000" dirty="0">
                          <a:latin typeface="Times New Roman" panose="02020603050405020304" pitchFamily="18" charset="0"/>
                          <a:cs typeface="Times New Roman" panose="02020603050405020304" pitchFamily="18" charset="0"/>
                        </a:rPr>
                        <a:t>Recall</a:t>
                      </a:r>
                    </a:p>
                  </a:txBody>
                  <a:tcPr/>
                </a:tc>
                <a:tc>
                  <a:txBody>
                    <a:bodyPr/>
                    <a:lstStyle/>
                    <a:p>
                      <a:pPr algn="ctr"/>
                      <a:r>
                        <a:rPr lang="en-IN" sz="2000" dirty="0">
                          <a:latin typeface="Times New Roman" panose="02020603050405020304" pitchFamily="18" charset="0"/>
                          <a:cs typeface="Times New Roman" panose="02020603050405020304" pitchFamily="18" charset="0"/>
                        </a:rPr>
                        <a:t>f1-score</a:t>
                      </a:r>
                    </a:p>
                  </a:txBody>
                  <a:tcPr/>
                </a:tc>
                <a:tc>
                  <a:txBody>
                    <a:bodyPr/>
                    <a:lstStyle/>
                    <a:p>
                      <a:pPr algn="ctr"/>
                      <a:r>
                        <a:rPr lang="en-IN" sz="2000" dirty="0">
                          <a:latin typeface="Times New Roman" panose="02020603050405020304" pitchFamily="18" charset="0"/>
                          <a:cs typeface="Times New Roman" panose="02020603050405020304" pitchFamily="18" charset="0"/>
                        </a:rPr>
                        <a:t>support</a:t>
                      </a:r>
                    </a:p>
                  </a:txBody>
                  <a:tcPr/>
                </a:tc>
                <a:extLst>
                  <a:ext uri="{0D108BD9-81ED-4DB2-BD59-A6C34878D82A}">
                    <a16:rowId xmlns:a16="http://schemas.microsoft.com/office/drawing/2014/main" val="1954285554"/>
                  </a:ext>
                </a:extLst>
              </a:tr>
              <a:tr h="437688">
                <a:tc>
                  <a:txBody>
                    <a:bodyPr/>
                    <a:lstStyle/>
                    <a:p>
                      <a:pPr algn="ctr"/>
                      <a:r>
                        <a:rPr lang="en-IN" sz="2000" dirty="0">
                          <a:latin typeface="Times New Roman" panose="02020603050405020304" pitchFamily="18" charset="0"/>
                          <a:cs typeface="Times New Roman" panose="02020603050405020304" pitchFamily="18" charset="0"/>
                        </a:rPr>
                        <a:t>0</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0.99</a:t>
                      </a:r>
                    </a:p>
                  </a:txBody>
                  <a:tcPr/>
                </a:tc>
                <a:tc>
                  <a:txBody>
                    <a:bodyPr/>
                    <a:lstStyle/>
                    <a:p>
                      <a:pPr algn="ct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917663789"/>
                  </a:ext>
                </a:extLst>
              </a:tr>
              <a:tr h="437688">
                <a:tc>
                  <a:txBody>
                    <a:bodyPr/>
                    <a:lstStyle/>
                    <a:p>
                      <a:pPr algn="ctr"/>
                      <a:r>
                        <a:rPr lang="en-IN" sz="2000" dirty="0">
                          <a:latin typeface="Times New Roman" panose="02020603050405020304" pitchFamily="18" charset="0"/>
                          <a:cs typeface="Times New Roman" panose="02020603050405020304" pitchFamily="18" charset="0"/>
                        </a:rPr>
                        <a:t>1</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495962071"/>
                  </a:ext>
                </a:extLst>
              </a:tr>
              <a:tr h="437688">
                <a:tc>
                  <a:txBody>
                    <a:bodyPr/>
                    <a:lstStyle/>
                    <a:p>
                      <a:pPr algn="ctr"/>
                      <a:r>
                        <a:rPr lang="en-IN" sz="2000" dirty="0">
                          <a:latin typeface="Times New Roman" panose="02020603050405020304" pitchFamily="18" charset="0"/>
                          <a:cs typeface="Times New Roman" panose="02020603050405020304" pitchFamily="18" charset="0"/>
                        </a:rPr>
                        <a:t>2</a:t>
                      </a:r>
                    </a:p>
                  </a:txBody>
                  <a:tcPr/>
                </a:tc>
                <a:tc>
                  <a:txBody>
                    <a:bodyPr/>
                    <a:lstStyle/>
                    <a:p>
                      <a:pPr algn="ctr"/>
                      <a:r>
                        <a:rPr lang="en-IN" sz="2000" dirty="0">
                          <a:latin typeface="Times New Roman" panose="02020603050405020304" pitchFamily="18" charset="0"/>
                          <a:cs typeface="Times New Roman" panose="02020603050405020304" pitchFamily="18" charset="0"/>
                        </a:rPr>
                        <a:t>0.95</a:t>
                      </a:r>
                    </a:p>
                  </a:txBody>
                  <a:tcPr/>
                </a:tc>
                <a:tc>
                  <a:txBody>
                    <a:bodyPr/>
                    <a:lstStyle/>
                    <a:p>
                      <a:pPr algn="ctr"/>
                      <a:r>
                        <a:rPr lang="en-IN" sz="2000" dirty="0">
                          <a:latin typeface="Times New Roman" panose="02020603050405020304" pitchFamily="18" charset="0"/>
                          <a:cs typeface="Times New Roman" panose="02020603050405020304" pitchFamily="18" charset="0"/>
                        </a:rPr>
                        <a:t>0.94</a:t>
                      </a:r>
                    </a:p>
                  </a:txBody>
                  <a:tcPr/>
                </a:tc>
                <a:tc>
                  <a:txBody>
                    <a:bodyPr/>
                    <a:lstStyle/>
                    <a:p>
                      <a:pPr algn="ctr"/>
                      <a:r>
                        <a:rPr lang="en-IN" sz="2000" dirty="0">
                          <a:latin typeface="Times New Roman" panose="02020603050405020304" pitchFamily="18" charset="0"/>
                          <a:cs typeface="Times New Roman" panose="02020603050405020304" pitchFamily="18" charset="0"/>
                        </a:rPr>
                        <a:t>0.95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118811549"/>
                  </a:ext>
                </a:extLst>
              </a:tr>
              <a:tr h="437688">
                <a:tc>
                  <a:txBody>
                    <a:bodyPr/>
                    <a:lstStyle/>
                    <a:p>
                      <a:pPr algn="ctr"/>
                      <a:r>
                        <a:rPr lang="en-IN" sz="2000" dirty="0">
                          <a:latin typeface="Times New Roman" panose="02020603050405020304" pitchFamily="18" charset="0"/>
                          <a:cs typeface="Times New Roman" panose="02020603050405020304" pitchFamily="18" charset="0"/>
                        </a:rPr>
                        <a:t>3</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1446704424"/>
                  </a:ext>
                </a:extLst>
              </a:tr>
              <a:tr h="437688">
                <a:tc>
                  <a:txBody>
                    <a:bodyPr/>
                    <a:lstStyle/>
                    <a:p>
                      <a:pPr algn="ctr"/>
                      <a:r>
                        <a:rPr lang="en-IN" sz="2000" dirty="0">
                          <a:latin typeface="Times New Roman" panose="02020603050405020304" pitchFamily="18" charset="0"/>
                          <a:cs typeface="Times New Roman" panose="02020603050405020304" pitchFamily="18" charset="0"/>
                        </a:rPr>
                        <a:t>4</a:t>
                      </a:r>
                    </a:p>
                  </a:txBody>
                  <a:tcPr/>
                </a:tc>
                <a:tc>
                  <a:txBody>
                    <a:bodyPr/>
                    <a:lstStyle/>
                    <a:p>
                      <a:pPr algn="ctr"/>
                      <a:r>
                        <a:rPr lang="en-IN" sz="2000" dirty="0">
                          <a:latin typeface="Times New Roman" panose="02020603050405020304" pitchFamily="18" charset="0"/>
                          <a:cs typeface="Times New Roman" panose="02020603050405020304" pitchFamily="18" charset="0"/>
                        </a:rPr>
                        <a:t>0.92</a:t>
                      </a:r>
                    </a:p>
                  </a:txBody>
                  <a:tcPr/>
                </a:tc>
                <a:tc>
                  <a:txBody>
                    <a:bodyPr/>
                    <a:lstStyle/>
                    <a:p>
                      <a:pPr algn="ctr"/>
                      <a:r>
                        <a:rPr lang="en-IN" sz="2000" dirty="0">
                          <a:latin typeface="Times New Roman" panose="02020603050405020304" pitchFamily="18" charset="0"/>
                          <a:cs typeface="Times New Roman" panose="02020603050405020304" pitchFamily="18" charset="0"/>
                        </a:rPr>
                        <a:t>0.96</a:t>
                      </a:r>
                    </a:p>
                  </a:txBody>
                  <a:tcPr/>
                </a:tc>
                <a:tc>
                  <a:txBody>
                    <a:bodyPr/>
                    <a:lstStyle/>
                    <a:p>
                      <a:pPr algn="ctr"/>
                      <a:r>
                        <a:rPr lang="en-IN" sz="2000" dirty="0">
                          <a:latin typeface="Times New Roman" panose="02020603050405020304" pitchFamily="18" charset="0"/>
                          <a:cs typeface="Times New Roman" panose="02020603050405020304" pitchFamily="18" charset="0"/>
                        </a:rPr>
                        <a:t>0.94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038269971"/>
                  </a:ext>
                </a:extLst>
              </a:tr>
              <a:tr h="437688">
                <a:tc>
                  <a:txBody>
                    <a:bodyPr/>
                    <a:lstStyle/>
                    <a:p>
                      <a:pPr algn="ctr"/>
                      <a:r>
                        <a:rPr lang="en-IN" sz="2000" dirty="0">
                          <a:latin typeface="Times New Roman" panose="02020603050405020304" pitchFamily="18" charset="0"/>
                          <a:cs typeface="Times New Roman" panose="02020603050405020304" pitchFamily="18" charset="0"/>
                        </a:rPr>
                        <a:t>5</a:t>
                      </a:r>
                    </a:p>
                  </a:txBody>
                  <a:tcPr/>
                </a:tc>
                <a:tc>
                  <a:txBody>
                    <a:bodyPr/>
                    <a:lstStyle/>
                    <a:p>
                      <a:pPr algn="ctr"/>
                      <a:r>
                        <a:rPr lang="en-IN" sz="2000" dirty="0">
                          <a:latin typeface="Times New Roman" panose="02020603050405020304" pitchFamily="18" charset="0"/>
                          <a:cs typeface="Times New Roman" panose="02020603050405020304" pitchFamily="18" charset="0"/>
                        </a:rPr>
                        <a:t>0.96</a:t>
                      </a:r>
                    </a:p>
                  </a:txBody>
                  <a:tcPr/>
                </a:tc>
                <a:tc>
                  <a:txBody>
                    <a:bodyPr/>
                    <a:lstStyle/>
                    <a:p>
                      <a:pPr algn="ctr"/>
                      <a:r>
                        <a:rPr lang="en-IN" sz="2000" dirty="0">
                          <a:latin typeface="Times New Roman" panose="02020603050405020304" pitchFamily="18" charset="0"/>
                          <a:cs typeface="Times New Roman" panose="02020603050405020304" pitchFamily="18" charset="0"/>
                        </a:rPr>
                        <a:t>0.88</a:t>
                      </a:r>
                    </a:p>
                  </a:txBody>
                  <a:tcPr/>
                </a:tc>
                <a:tc>
                  <a:txBody>
                    <a:bodyPr/>
                    <a:lstStyle/>
                    <a:p>
                      <a:pPr algn="ctr"/>
                      <a:r>
                        <a:rPr lang="en-IN" sz="2000" dirty="0">
                          <a:latin typeface="Times New Roman" panose="02020603050405020304" pitchFamily="18" charset="0"/>
                          <a:cs typeface="Times New Roman" panose="02020603050405020304" pitchFamily="18" charset="0"/>
                        </a:rPr>
                        <a:t>0.91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375605235"/>
                  </a:ext>
                </a:extLst>
              </a:tr>
              <a:tr h="437688">
                <a:tc>
                  <a:txBody>
                    <a:bodyPr/>
                    <a:lstStyle/>
                    <a:p>
                      <a:pPr algn="ctr"/>
                      <a:r>
                        <a:rPr lang="en-IN" sz="2000" dirty="0">
                          <a:latin typeface="Times New Roman" panose="02020603050405020304" pitchFamily="18" charset="0"/>
                          <a:cs typeface="Times New Roman" panose="02020603050405020304" pitchFamily="18" charset="0"/>
                        </a:rPr>
                        <a:t>6</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algn="ctr"/>
                      <a:r>
                        <a:rPr lang="en-IN" sz="2000" dirty="0">
                          <a:latin typeface="Times New Roman" panose="02020603050405020304" pitchFamily="18" charset="0"/>
                          <a:cs typeface="Times New Roman" panose="02020603050405020304" pitchFamily="18" charset="0"/>
                        </a:rPr>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299739444"/>
                  </a:ext>
                </a:extLst>
              </a:tr>
            </a:tbl>
          </a:graphicData>
        </a:graphic>
      </p:graphicFrame>
    </p:spTree>
    <p:extLst>
      <p:ext uri="{BB962C8B-B14F-4D97-AF65-F5344CB8AC3E}">
        <p14:creationId xmlns:p14="http://schemas.microsoft.com/office/powerpoint/2010/main" val="30750230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CE60E97-B331-BAB7-1DD6-CE71F69C3099}"/>
              </a:ext>
            </a:extLst>
          </p:cNvPr>
          <p:cNvGraphicFramePr>
            <a:graphicFrameLocks noGrp="1"/>
          </p:cNvGraphicFramePr>
          <p:nvPr>
            <p:extLst>
              <p:ext uri="{D42A27DB-BD31-4B8C-83A1-F6EECF244321}">
                <p14:modId xmlns:p14="http://schemas.microsoft.com/office/powerpoint/2010/main" val="3780691704"/>
              </p:ext>
            </p:extLst>
          </p:nvPr>
        </p:nvGraphicFramePr>
        <p:xfrm>
          <a:off x="1130710" y="737419"/>
          <a:ext cx="10177257" cy="2104104"/>
        </p:xfrm>
        <a:graphic>
          <a:graphicData uri="http://schemas.openxmlformats.org/drawingml/2006/table">
            <a:tbl>
              <a:tblPr firstRow="1" bandRow="1">
                <a:tableStyleId>{5C22544A-7EE6-4342-B048-85BDC9FD1C3A}</a:tableStyleId>
              </a:tblPr>
              <a:tblGrid>
                <a:gridCol w="2202227">
                  <a:extLst>
                    <a:ext uri="{9D8B030D-6E8A-4147-A177-3AD203B41FA5}">
                      <a16:colId xmlns:a16="http://schemas.microsoft.com/office/drawing/2014/main" val="1777598062"/>
                    </a:ext>
                  </a:extLst>
                </a:gridCol>
                <a:gridCol w="1799994">
                  <a:extLst>
                    <a:ext uri="{9D8B030D-6E8A-4147-A177-3AD203B41FA5}">
                      <a16:colId xmlns:a16="http://schemas.microsoft.com/office/drawing/2014/main" val="2652278139"/>
                    </a:ext>
                  </a:extLst>
                </a:gridCol>
                <a:gridCol w="1940775">
                  <a:extLst>
                    <a:ext uri="{9D8B030D-6E8A-4147-A177-3AD203B41FA5}">
                      <a16:colId xmlns:a16="http://schemas.microsoft.com/office/drawing/2014/main" val="2471284729"/>
                    </a:ext>
                  </a:extLst>
                </a:gridCol>
                <a:gridCol w="1950831">
                  <a:extLst>
                    <a:ext uri="{9D8B030D-6E8A-4147-A177-3AD203B41FA5}">
                      <a16:colId xmlns:a16="http://schemas.microsoft.com/office/drawing/2014/main" val="2105142643"/>
                    </a:ext>
                  </a:extLst>
                </a:gridCol>
                <a:gridCol w="2283430">
                  <a:extLst>
                    <a:ext uri="{9D8B030D-6E8A-4147-A177-3AD203B41FA5}">
                      <a16:colId xmlns:a16="http://schemas.microsoft.com/office/drawing/2014/main" val="1841671592"/>
                    </a:ext>
                  </a:extLst>
                </a:gridCol>
              </a:tblGrid>
              <a:tr h="526026">
                <a:tc>
                  <a:txBody>
                    <a:bodyPr/>
                    <a:lstStyle/>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Precision</a:t>
                      </a:r>
                    </a:p>
                  </a:txBody>
                  <a:tcPr/>
                </a:tc>
                <a:tc>
                  <a:txBody>
                    <a:bodyPr/>
                    <a:lstStyle/>
                    <a:p>
                      <a:pPr algn="ctr"/>
                      <a:r>
                        <a:rPr lang="en-IN" sz="2000" dirty="0">
                          <a:latin typeface="Times New Roman" panose="02020603050405020304" pitchFamily="18" charset="0"/>
                          <a:cs typeface="Times New Roman" panose="02020603050405020304" pitchFamily="18" charset="0"/>
                        </a:rPr>
                        <a:t>Recall</a:t>
                      </a:r>
                    </a:p>
                  </a:txBody>
                  <a:tcPr/>
                </a:tc>
                <a:tc>
                  <a:txBody>
                    <a:bodyPr/>
                    <a:lstStyle/>
                    <a:p>
                      <a:pPr algn="ctr"/>
                      <a:r>
                        <a:rPr lang="en-IN" sz="2000" dirty="0">
                          <a:latin typeface="Times New Roman" panose="02020603050405020304" pitchFamily="18" charset="0"/>
                          <a:cs typeface="Times New Roman" panose="02020603050405020304" pitchFamily="18" charset="0"/>
                        </a:rPr>
                        <a:t>f1-score</a:t>
                      </a:r>
                    </a:p>
                  </a:txBody>
                  <a:tcPr/>
                </a:tc>
                <a:tc>
                  <a:txBody>
                    <a:bodyPr/>
                    <a:lstStyle/>
                    <a:p>
                      <a:pPr algn="ctr"/>
                      <a:r>
                        <a:rPr lang="en-IN" sz="2000" dirty="0">
                          <a:latin typeface="Times New Roman" panose="02020603050405020304" pitchFamily="18" charset="0"/>
                          <a:cs typeface="Times New Roman" panose="02020603050405020304" pitchFamily="18" charset="0"/>
                        </a:rPr>
                        <a:t>support</a:t>
                      </a:r>
                    </a:p>
                  </a:txBody>
                  <a:tcPr/>
                </a:tc>
                <a:extLst>
                  <a:ext uri="{0D108BD9-81ED-4DB2-BD59-A6C34878D82A}">
                    <a16:rowId xmlns:a16="http://schemas.microsoft.com/office/drawing/2014/main" val="3750373195"/>
                  </a:ext>
                </a:extLst>
              </a:tr>
              <a:tr h="526026">
                <a:tc>
                  <a:txBody>
                    <a:bodyPr/>
                    <a:lstStyle/>
                    <a:p>
                      <a:pPr algn="ctr"/>
                      <a:r>
                        <a:rPr lang="en-IN" sz="2000" dirty="0">
                          <a:latin typeface="Times New Roman" panose="02020603050405020304" pitchFamily="18" charset="0"/>
                          <a:cs typeface="Times New Roman" panose="02020603050405020304" pitchFamily="18" charset="0"/>
                        </a:rPr>
                        <a:t>accuracy</a:t>
                      </a:r>
                    </a:p>
                  </a:txBody>
                  <a:tcPr/>
                </a:tc>
                <a:tc>
                  <a:txBody>
                    <a:bodyPr/>
                    <a:lstStyle/>
                    <a:p>
                      <a:pPr algn="ctr"/>
                      <a:r>
                        <a:rPr lang="en-IN" sz="2000" dirty="0">
                          <a:latin typeface="Times New Roman" panose="02020603050405020304" pitchFamily="18" charset="0"/>
                          <a:cs typeface="Times New Roman" panose="02020603050405020304" pitchFamily="18" charset="0"/>
                        </a:rPr>
                        <a:t>-</a:t>
                      </a:r>
                    </a:p>
                  </a:txBody>
                  <a:tcPr/>
                </a:tc>
                <a:tc>
                  <a:txBody>
                    <a:bodyPr/>
                    <a:lstStyle/>
                    <a:p>
                      <a:pPr algn="ctr"/>
                      <a:r>
                        <a:rPr lang="en-IN" sz="2000" dirty="0">
                          <a:latin typeface="Times New Roman" panose="02020603050405020304" pitchFamily="18" charset="0"/>
                          <a:cs typeface="Times New Roman" panose="02020603050405020304" pitchFamily="18" charset="0"/>
                        </a:rPr>
                        <a:t>-</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3762984288"/>
                  </a:ext>
                </a:extLst>
              </a:tr>
              <a:tr h="526026">
                <a:tc>
                  <a:txBody>
                    <a:bodyPr/>
                    <a:lstStyle/>
                    <a:p>
                      <a:pPr algn="ctr"/>
                      <a:r>
                        <a:rPr lang="en-IN" sz="2000" dirty="0">
                          <a:latin typeface="Times New Roman" panose="02020603050405020304" pitchFamily="18" charset="0"/>
                          <a:cs typeface="Times New Roman" panose="02020603050405020304" pitchFamily="18" charset="0"/>
                        </a:rPr>
                        <a:t>macro avg.</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2825968075"/>
                  </a:ext>
                </a:extLst>
              </a:tr>
              <a:tr h="526026">
                <a:tc>
                  <a:txBody>
                    <a:bodyPr/>
                    <a:lstStyle/>
                    <a:p>
                      <a:pPr algn="ctr"/>
                      <a:r>
                        <a:rPr lang="en-IN" sz="2000" dirty="0">
                          <a:latin typeface="Times New Roman" panose="02020603050405020304" pitchFamily="18" charset="0"/>
                          <a:cs typeface="Times New Roman" panose="02020603050405020304" pitchFamily="18" charset="0"/>
                        </a:rPr>
                        <a:t>weighted avg.</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0.97</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3284698729"/>
                  </a:ext>
                </a:extLst>
              </a:tr>
            </a:tbl>
          </a:graphicData>
        </a:graphic>
      </p:graphicFrame>
      <p:pic>
        <p:nvPicPr>
          <p:cNvPr id="4" name="Picture 3">
            <a:extLst>
              <a:ext uri="{FF2B5EF4-FFF2-40B4-BE49-F238E27FC236}">
                <a16:creationId xmlns:a16="http://schemas.microsoft.com/office/drawing/2014/main" id="{EC036074-8A38-8B2A-9CD9-639C6781840F}"/>
              </a:ext>
            </a:extLst>
          </p:cNvPr>
          <p:cNvPicPr>
            <a:picLocks noChangeAspect="1"/>
          </p:cNvPicPr>
          <p:nvPr/>
        </p:nvPicPr>
        <p:blipFill>
          <a:blip r:embed="rId2"/>
          <a:stretch>
            <a:fillRect/>
          </a:stretch>
        </p:blipFill>
        <p:spPr>
          <a:xfrm>
            <a:off x="6228669" y="3012009"/>
            <a:ext cx="4933950" cy="3535773"/>
          </a:xfrm>
          <a:prstGeom prst="rect">
            <a:avLst/>
          </a:prstGeom>
        </p:spPr>
      </p:pic>
      <p:sp>
        <p:nvSpPr>
          <p:cNvPr id="5" name="TextBox 4">
            <a:extLst>
              <a:ext uri="{FF2B5EF4-FFF2-40B4-BE49-F238E27FC236}">
                <a16:creationId xmlns:a16="http://schemas.microsoft.com/office/drawing/2014/main" id="{B7CC2998-1655-1217-2C3F-FCEC0B4E34C8}"/>
              </a:ext>
            </a:extLst>
          </p:cNvPr>
          <p:cNvSpPr txBox="1"/>
          <p:nvPr/>
        </p:nvSpPr>
        <p:spPr>
          <a:xfrm>
            <a:off x="1130710" y="3275045"/>
            <a:ext cx="4933950" cy="1323439"/>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a:t>
            </a:r>
            <a:r>
              <a:rPr lang="en-US" sz="2000" b="1" dirty="0">
                <a:latin typeface="Times New Roman" panose="02020603050405020304" pitchFamily="18" charset="0"/>
                <a:cs typeface="Times New Roman" panose="02020603050405020304" pitchFamily="18" charset="0"/>
              </a:rPr>
              <a:t>row</a:t>
            </a:r>
            <a:r>
              <a:rPr lang="en-US" sz="2000" dirty="0">
                <a:latin typeface="Times New Roman" panose="02020603050405020304" pitchFamily="18" charset="0"/>
                <a:cs typeface="Times New Roman" panose="02020603050405020304" pitchFamily="18" charset="0"/>
              </a:rPr>
              <a:t> = actual (ground truth) class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a:t>
            </a:r>
            <a:r>
              <a:rPr lang="en-US" sz="2000" b="1" dirty="0">
                <a:latin typeface="Times New Roman" panose="02020603050405020304" pitchFamily="18" charset="0"/>
                <a:cs typeface="Times New Roman" panose="02020603050405020304" pitchFamily="18" charset="0"/>
              </a:rPr>
              <a:t>column</a:t>
            </a:r>
            <a:r>
              <a:rPr lang="en-US" sz="2000" dirty="0">
                <a:latin typeface="Times New Roman" panose="02020603050405020304" pitchFamily="18" charset="0"/>
                <a:cs typeface="Times New Roman" panose="02020603050405020304" pitchFamily="18" charset="0"/>
              </a:rPr>
              <a:t> = predicted class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Diagonal values = correct predictions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Off-diagonal values = misclassifications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49058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256562-C416-C9AD-419D-395853F2D438}"/>
              </a:ext>
            </a:extLst>
          </p:cNvPr>
          <p:cNvSpPr txBox="1"/>
          <p:nvPr/>
        </p:nvSpPr>
        <p:spPr>
          <a:xfrm>
            <a:off x="1181101" y="342900"/>
            <a:ext cx="9829800" cy="707886"/>
          </a:xfrm>
          <a:prstGeom prst="rect">
            <a:avLst/>
          </a:prstGeom>
          <a:noFill/>
        </p:spPr>
        <p:txBody>
          <a:bodyPr wrap="square" rtlCol="0">
            <a:spAutoFit/>
          </a:bodyPr>
          <a:lstStyle/>
          <a:p>
            <a:pPr algn="ctr"/>
            <a:r>
              <a:rPr lang="en-IN" sz="4000" dirty="0">
                <a:latin typeface="Times New Roman" panose="02020603050405020304" pitchFamily="18" charset="0"/>
                <a:cs typeface="Times New Roman" panose="02020603050405020304" pitchFamily="18" charset="0"/>
              </a:rPr>
              <a:t>Results based on Training Models</a:t>
            </a:r>
          </a:p>
        </p:txBody>
      </p:sp>
      <p:sp>
        <p:nvSpPr>
          <p:cNvPr id="3" name="TextBox 2">
            <a:extLst>
              <a:ext uri="{FF2B5EF4-FFF2-40B4-BE49-F238E27FC236}">
                <a16:creationId xmlns:a16="http://schemas.microsoft.com/office/drawing/2014/main" id="{5C4642B9-13FA-88CC-8384-F7FA9BE9E6D3}"/>
              </a:ext>
            </a:extLst>
          </p:cNvPr>
          <p:cNvSpPr txBox="1"/>
          <p:nvPr/>
        </p:nvSpPr>
        <p:spPr>
          <a:xfrm>
            <a:off x="1285875" y="1609725"/>
            <a:ext cx="9048750" cy="129266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3)  Logistic Regression :-</a:t>
            </a:r>
          </a:p>
          <a:p>
            <a:r>
              <a:rPr lang="en-IN" dirty="0"/>
              <a:t>   </a:t>
            </a:r>
          </a:p>
          <a:p>
            <a:r>
              <a:rPr lang="en-IN" dirty="0"/>
              <a:t> </a:t>
            </a:r>
            <a:r>
              <a:rPr lang="en-IN" sz="2000" dirty="0">
                <a:latin typeface="Times New Roman" panose="02020603050405020304" pitchFamily="18" charset="0"/>
                <a:cs typeface="Times New Roman" panose="02020603050405020304" pitchFamily="18" charset="0"/>
              </a:rPr>
              <a:t>Logistic Regression Classification Report:</a:t>
            </a:r>
          </a:p>
          <a:p>
            <a:endParaRPr lang="en-IN" sz="20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2EB4FA84-CB66-03C2-D40E-B1778781C452}"/>
              </a:ext>
            </a:extLst>
          </p:cNvPr>
          <p:cNvGraphicFramePr>
            <a:graphicFrameLocks noGrp="1"/>
          </p:cNvGraphicFramePr>
          <p:nvPr>
            <p:extLst>
              <p:ext uri="{D42A27DB-BD31-4B8C-83A1-F6EECF244321}">
                <p14:modId xmlns:p14="http://schemas.microsoft.com/office/powerpoint/2010/main" val="2206958131"/>
              </p:ext>
            </p:extLst>
          </p:nvPr>
        </p:nvGraphicFramePr>
        <p:xfrm>
          <a:off x="1714500" y="2905124"/>
          <a:ext cx="9191626" cy="3457568"/>
        </p:xfrm>
        <a:graphic>
          <a:graphicData uri="http://schemas.openxmlformats.org/drawingml/2006/table">
            <a:tbl>
              <a:tblPr firstRow="1" bandRow="1">
                <a:tableStyleId>{5C22544A-7EE6-4342-B048-85BDC9FD1C3A}</a:tableStyleId>
              </a:tblPr>
              <a:tblGrid>
                <a:gridCol w="2088139">
                  <a:extLst>
                    <a:ext uri="{9D8B030D-6E8A-4147-A177-3AD203B41FA5}">
                      <a16:colId xmlns:a16="http://schemas.microsoft.com/office/drawing/2014/main" val="1035467520"/>
                    </a:ext>
                  </a:extLst>
                </a:gridCol>
                <a:gridCol w="1706744">
                  <a:extLst>
                    <a:ext uri="{9D8B030D-6E8A-4147-A177-3AD203B41FA5}">
                      <a16:colId xmlns:a16="http://schemas.microsoft.com/office/drawing/2014/main" val="3479704887"/>
                    </a:ext>
                  </a:extLst>
                </a:gridCol>
                <a:gridCol w="1840232">
                  <a:extLst>
                    <a:ext uri="{9D8B030D-6E8A-4147-A177-3AD203B41FA5}">
                      <a16:colId xmlns:a16="http://schemas.microsoft.com/office/drawing/2014/main" val="3869995794"/>
                    </a:ext>
                  </a:extLst>
                </a:gridCol>
                <a:gridCol w="1849767">
                  <a:extLst>
                    <a:ext uri="{9D8B030D-6E8A-4147-A177-3AD203B41FA5}">
                      <a16:colId xmlns:a16="http://schemas.microsoft.com/office/drawing/2014/main" val="2513407604"/>
                    </a:ext>
                  </a:extLst>
                </a:gridCol>
                <a:gridCol w="1706744">
                  <a:extLst>
                    <a:ext uri="{9D8B030D-6E8A-4147-A177-3AD203B41FA5}">
                      <a16:colId xmlns:a16="http://schemas.microsoft.com/office/drawing/2014/main" val="356541588"/>
                    </a:ext>
                  </a:extLst>
                </a:gridCol>
              </a:tblGrid>
              <a:tr h="432196">
                <a:tc>
                  <a:txBody>
                    <a:bodyPr/>
                    <a:lstStyle/>
                    <a:p>
                      <a:pPr algn="ctr"/>
                      <a:r>
                        <a:rPr lang="en-IN" sz="2000" dirty="0">
                          <a:latin typeface="Times New Roman" panose="02020603050405020304" pitchFamily="18" charset="0"/>
                          <a:cs typeface="Times New Roman" panose="02020603050405020304" pitchFamily="18" charset="0"/>
                        </a:rPr>
                        <a:t>Lesion Category</a:t>
                      </a:r>
                    </a:p>
                  </a:txBody>
                  <a:tcPr/>
                </a:tc>
                <a:tc>
                  <a:txBody>
                    <a:bodyPr/>
                    <a:lstStyle/>
                    <a:p>
                      <a:pPr algn="ctr"/>
                      <a:r>
                        <a:rPr lang="en-IN" sz="2000" dirty="0">
                          <a:latin typeface="Times New Roman" panose="02020603050405020304" pitchFamily="18" charset="0"/>
                          <a:cs typeface="Times New Roman" panose="02020603050405020304" pitchFamily="18" charset="0"/>
                        </a:rPr>
                        <a:t>Precision</a:t>
                      </a:r>
                    </a:p>
                  </a:txBody>
                  <a:tcPr/>
                </a:tc>
                <a:tc>
                  <a:txBody>
                    <a:bodyPr/>
                    <a:lstStyle/>
                    <a:p>
                      <a:pPr algn="ctr"/>
                      <a:r>
                        <a:rPr lang="en-IN" sz="2000" dirty="0">
                          <a:latin typeface="Times New Roman" panose="02020603050405020304" pitchFamily="18" charset="0"/>
                          <a:cs typeface="Times New Roman" panose="02020603050405020304" pitchFamily="18" charset="0"/>
                        </a:rPr>
                        <a:t>Recall</a:t>
                      </a:r>
                    </a:p>
                  </a:txBody>
                  <a:tcPr/>
                </a:tc>
                <a:tc>
                  <a:txBody>
                    <a:bodyPr/>
                    <a:lstStyle/>
                    <a:p>
                      <a:pPr algn="ctr"/>
                      <a:r>
                        <a:rPr lang="en-IN" sz="2000" dirty="0">
                          <a:latin typeface="Times New Roman" panose="02020603050405020304" pitchFamily="18" charset="0"/>
                          <a:cs typeface="Times New Roman" panose="02020603050405020304" pitchFamily="18" charset="0"/>
                        </a:rPr>
                        <a:t>f1-score</a:t>
                      </a:r>
                    </a:p>
                  </a:txBody>
                  <a:tcPr/>
                </a:tc>
                <a:tc>
                  <a:txBody>
                    <a:bodyPr/>
                    <a:lstStyle/>
                    <a:p>
                      <a:pPr algn="ctr"/>
                      <a:r>
                        <a:rPr lang="en-IN" sz="2000" dirty="0">
                          <a:latin typeface="Times New Roman" panose="02020603050405020304" pitchFamily="18" charset="0"/>
                          <a:cs typeface="Times New Roman" panose="02020603050405020304" pitchFamily="18" charset="0"/>
                        </a:rPr>
                        <a:t>support</a:t>
                      </a:r>
                    </a:p>
                  </a:txBody>
                  <a:tcPr/>
                </a:tc>
                <a:extLst>
                  <a:ext uri="{0D108BD9-81ED-4DB2-BD59-A6C34878D82A}">
                    <a16:rowId xmlns:a16="http://schemas.microsoft.com/office/drawing/2014/main" val="1954285554"/>
                  </a:ext>
                </a:extLst>
              </a:tr>
              <a:tr h="432196">
                <a:tc>
                  <a:txBody>
                    <a:bodyPr/>
                    <a:lstStyle/>
                    <a:p>
                      <a:pPr algn="ctr"/>
                      <a:r>
                        <a:rPr lang="en-IN" sz="2000" dirty="0">
                          <a:latin typeface="Times New Roman" panose="02020603050405020304" pitchFamily="18" charset="0"/>
                          <a:cs typeface="Times New Roman" panose="02020603050405020304" pitchFamily="18" charset="0"/>
                        </a:rPr>
                        <a:t>0</a:t>
                      </a:r>
                    </a:p>
                  </a:txBody>
                  <a:tcPr/>
                </a:tc>
                <a:tc>
                  <a:txBody>
                    <a:bodyPr/>
                    <a:lstStyle/>
                    <a:p>
                      <a:pPr algn="ctr"/>
                      <a:r>
                        <a:rPr lang="en-IN" sz="2000" dirty="0">
                          <a:latin typeface="Times New Roman" panose="02020603050405020304" pitchFamily="18" charset="0"/>
                          <a:cs typeface="Times New Roman" panose="02020603050405020304" pitchFamily="18" charset="0"/>
                        </a:rPr>
                        <a:t>0.74</a:t>
                      </a:r>
                    </a:p>
                  </a:txBody>
                  <a:tcPr/>
                </a:tc>
                <a:tc>
                  <a:txBody>
                    <a:bodyPr/>
                    <a:lstStyle/>
                    <a:p>
                      <a:pPr algn="ctr"/>
                      <a:r>
                        <a:rPr lang="en-IN" sz="2000" dirty="0">
                          <a:latin typeface="Times New Roman" panose="02020603050405020304" pitchFamily="18" charset="0"/>
                          <a:cs typeface="Times New Roman" panose="02020603050405020304" pitchFamily="18" charset="0"/>
                        </a:rPr>
                        <a:t>0.77</a:t>
                      </a:r>
                    </a:p>
                  </a:txBody>
                  <a:tcPr/>
                </a:tc>
                <a:tc>
                  <a:txBody>
                    <a:bodyPr/>
                    <a:lstStyle/>
                    <a:p>
                      <a:pPr algn="ctr"/>
                      <a:r>
                        <a:rPr lang="en-IN" sz="2000" dirty="0">
                          <a:latin typeface="Times New Roman" panose="02020603050405020304" pitchFamily="18" charset="0"/>
                          <a:cs typeface="Times New Roman" panose="02020603050405020304" pitchFamily="18" charset="0"/>
                        </a:rPr>
                        <a:t>0.76</a:t>
                      </a:r>
                    </a:p>
                  </a:txBody>
                  <a:tcPr/>
                </a:tc>
                <a:tc>
                  <a:txBody>
                    <a:bodyPr/>
                    <a:lstStyle/>
                    <a:p>
                      <a:pPr algn="ct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917663789"/>
                  </a:ext>
                </a:extLst>
              </a:tr>
              <a:tr h="432196">
                <a:tc>
                  <a:txBody>
                    <a:bodyPr/>
                    <a:lstStyle/>
                    <a:p>
                      <a:pPr algn="ctr"/>
                      <a:r>
                        <a:rPr lang="en-IN" sz="2000" dirty="0">
                          <a:latin typeface="Times New Roman" panose="02020603050405020304" pitchFamily="18" charset="0"/>
                          <a:cs typeface="Times New Roman" panose="02020603050405020304" pitchFamily="18" charset="0"/>
                        </a:rPr>
                        <a:t>1</a:t>
                      </a:r>
                    </a:p>
                  </a:txBody>
                  <a:tcPr/>
                </a:tc>
                <a:tc>
                  <a:txBody>
                    <a:bodyPr/>
                    <a:lstStyle/>
                    <a:p>
                      <a:pPr algn="ctr"/>
                      <a:r>
                        <a:rPr lang="en-IN" sz="2000" dirty="0">
                          <a:latin typeface="Times New Roman" panose="02020603050405020304" pitchFamily="18" charset="0"/>
                          <a:cs typeface="Times New Roman" panose="02020603050405020304" pitchFamily="18" charset="0"/>
                        </a:rPr>
                        <a:t>0.77</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495962071"/>
                  </a:ext>
                </a:extLst>
              </a:tr>
              <a:tr h="432196">
                <a:tc>
                  <a:txBody>
                    <a:bodyPr/>
                    <a:lstStyle/>
                    <a:p>
                      <a:pPr algn="ctr"/>
                      <a:r>
                        <a:rPr lang="en-IN" sz="2000" dirty="0">
                          <a:latin typeface="Times New Roman" panose="02020603050405020304" pitchFamily="18" charset="0"/>
                          <a:cs typeface="Times New Roman" panose="02020603050405020304" pitchFamily="18" charset="0"/>
                        </a:rPr>
                        <a:t>2</a:t>
                      </a:r>
                    </a:p>
                  </a:txBody>
                  <a:tcPr/>
                </a:tc>
                <a:tc>
                  <a:txBody>
                    <a:bodyPr/>
                    <a:lstStyle/>
                    <a:p>
                      <a:pPr algn="ctr"/>
                      <a:r>
                        <a:rPr lang="en-IN" sz="2000" dirty="0">
                          <a:latin typeface="Times New Roman" panose="02020603050405020304" pitchFamily="18" charset="0"/>
                          <a:cs typeface="Times New Roman" panose="02020603050405020304" pitchFamily="18" charset="0"/>
                        </a:rPr>
                        <a:t>0.68</a:t>
                      </a:r>
                    </a:p>
                  </a:txBody>
                  <a:tcPr/>
                </a:tc>
                <a:tc>
                  <a:txBody>
                    <a:bodyPr/>
                    <a:lstStyle/>
                    <a:p>
                      <a:pPr algn="ctr"/>
                      <a:r>
                        <a:rPr lang="en-IN" sz="2000" dirty="0">
                          <a:latin typeface="Times New Roman" panose="02020603050405020304" pitchFamily="18" charset="0"/>
                          <a:cs typeface="Times New Roman" panose="02020603050405020304" pitchFamily="18" charset="0"/>
                        </a:rPr>
                        <a:t>0.64</a:t>
                      </a:r>
                    </a:p>
                  </a:txBody>
                  <a:tcPr/>
                </a:tc>
                <a:tc>
                  <a:txBody>
                    <a:bodyPr/>
                    <a:lstStyle/>
                    <a:p>
                      <a:pPr algn="ctr"/>
                      <a:r>
                        <a:rPr lang="en-IN" sz="2000" dirty="0">
                          <a:latin typeface="Times New Roman" panose="02020603050405020304" pitchFamily="18" charset="0"/>
                          <a:cs typeface="Times New Roman" panose="02020603050405020304" pitchFamily="18" charset="0"/>
                        </a:rPr>
                        <a:t>0.66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118811549"/>
                  </a:ext>
                </a:extLst>
              </a:tr>
              <a:tr h="432196">
                <a:tc>
                  <a:txBody>
                    <a:bodyPr/>
                    <a:lstStyle/>
                    <a:p>
                      <a:pPr algn="ctr"/>
                      <a:r>
                        <a:rPr lang="en-IN" sz="2000" dirty="0">
                          <a:latin typeface="Times New Roman" panose="02020603050405020304" pitchFamily="18" charset="0"/>
                          <a:cs typeface="Times New Roman" panose="02020603050405020304" pitchFamily="18" charset="0"/>
                        </a:rPr>
                        <a:t>3</a:t>
                      </a:r>
                    </a:p>
                  </a:txBody>
                  <a:tcPr/>
                </a:tc>
                <a:tc>
                  <a:txBody>
                    <a:bodyPr/>
                    <a:lstStyle/>
                    <a:p>
                      <a:pPr algn="ctr"/>
                      <a:r>
                        <a:rPr lang="en-IN" sz="2000" dirty="0">
                          <a:latin typeface="Times New Roman" panose="02020603050405020304" pitchFamily="18" charset="0"/>
                          <a:cs typeface="Times New Roman" panose="02020603050405020304" pitchFamily="18" charset="0"/>
                        </a:rPr>
                        <a:t>0.86</a:t>
                      </a:r>
                    </a:p>
                  </a:txBody>
                  <a:tcPr/>
                </a:tc>
                <a:tc>
                  <a:txBody>
                    <a:bodyPr/>
                    <a:lstStyle/>
                    <a:p>
                      <a:pPr algn="ctr"/>
                      <a:r>
                        <a:rPr lang="en-IN" sz="2000" dirty="0">
                          <a:latin typeface="Times New Roman" panose="02020603050405020304" pitchFamily="18" charset="0"/>
                          <a:cs typeface="Times New Roman" panose="02020603050405020304" pitchFamily="18" charset="0"/>
                        </a:rPr>
                        <a:t>0.91</a:t>
                      </a:r>
                    </a:p>
                  </a:txBody>
                  <a:tcPr/>
                </a:tc>
                <a:tc>
                  <a:txBody>
                    <a:bodyPr/>
                    <a:lstStyle/>
                    <a:p>
                      <a:pPr algn="ctr"/>
                      <a:r>
                        <a:rPr lang="en-IN" sz="2000" dirty="0">
                          <a:latin typeface="Times New Roman" panose="02020603050405020304" pitchFamily="18" charset="0"/>
                          <a:cs typeface="Times New Roman" panose="02020603050405020304" pitchFamily="18" charset="0"/>
                        </a:rPr>
                        <a:t>0.89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1446704424"/>
                  </a:ext>
                </a:extLst>
              </a:tr>
              <a:tr h="432196">
                <a:tc>
                  <a:txBody>
                    <a:bodyPr/>
                    <a:lstStyle/>
                    <a:p>
                      <a:pPr algn="ctr"/>
                      <a:r>
                        <a:rPr lang="en-IN" sz="2000" dirty="0">
                          <a:latin typeface="Times New Roman" panose="02020603050405020304" pitchFamily="18" charset="0"/>
                          <a:cs typeface="Times New Roman" panose="02020603050405020304" pitchFamily="18" charset="0"/>
                        </a:rPr>
                        <a:t>4</a:t>
                      </a:r>
                    </a:p>
                  </a:txBody>
                  <a:tcPr/>
                </a:tc>
                <a:tc>
                  <a:txBody>
                    <a:bodyPr/>
                    <a:lstStyle/>
                    <a:p>
                      <a:pPr algn="ctr"/>
                      <a:r>
                        <a:rPr lang="en-IN" sz="2000" dirty="0">
                          <a:latin typeface="Times New Roman" panose="02020603050405020304" pitchFamily="18" charset="0"/>
                          <a:cs typeface="Times New Roman" panose="02020603050405020304" pitchFamily="18" charset="0"/>
                        </a:rPr>
                        <a:t>0.67</a:t>
                      </a:r>
                    </a:p>
                  </a:txBody>
                  <a:tcPr/>
                </a:tc>
                <a:tc>
                  <a:txBody>
                    <a:bodyPr/>
                    <a:lstStyle/>
                    <a:p>
                      <a:pPr algn="ctr"/>
                      <a:r>
                        <a:rPr lang="en-IN" sz="2000" dirty="0">
                          <a:latin typeface="Times New Roman" panose="02020603050405020304" pitchFamily="18" charset="0"/>
                          <a:cs typeface="Times New Roman" panose="02020603050405020304" pitchFamily="18" charset="0"/>
                        </a:rPr>
                        <a:t>0.67</a:t>
                      </a:r>
                    </a:p>
                  </a:txBody>
                  <a:tcPr/>
                </a:tc>
                <a:tc>
                  <a:txBody>
                    <a:bodyPr/>
                    <a:lstStyle/>
                    <a:p>
                      <a:pPr algn="ctr"/>
                      <a:r>
                        <a:rPr lang="en-IN" sz="2000" dirty="0">
                          <a:latin typeface="Times New Roman" panose="02020603050405020304" pitchFamily="18" charset="0"/>
                          <a:cs typeface="Times New Roman" panose="02020603050405020304" pitchFamily="18" charset="0"/>
                        </a:rPr>
                        <a:t>0.67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038269971"/>
                  </a:ext>
                </a:extLst>
              </a:tr>
              <a:tr h="432196">
                <a:tc>
                  <a:txBody>
                    <a:bodyPr/>
                    <a:lstStyle/>
                    <a:p>
                      <a:pPr algn="ctr"/>
                      <a:r>
                        <a:rPr lang="en-IN" sz="2000" dirty="0">
                          <a:latin typeface="Times New Roman" panose="02020603050405020304" pitchFamily="18" charset="0"/>
                          <a:cs typeface="Times New Roman" panose="02020603050405020304" pitchFamily="18" charset="0"/>
                        </a:rPr>
                        <a:t>5</a:t>
                      </a:r>
                    </a:p>
                  </a:txBody>
                  <a:tcPr/>
                </a:tc>
                <a:tc>
                  <a:txBody>
                    <a:bodyPr/>
                    <a:lstStyle/>
                    <a:p>
                      <a:pPr algn="ctr"/>
                      <a:r>
                        <a:rPr lang="en-IN" sz="2000" dirty="0">
                          <a:latin typeface="Times New Roman" panose="02020603050405020304" pitchFamily="18" charset="0"/>
                          <a:cs typeface="Times New Roman" panose="02020603050405020304" pitchFamily="18" charset="0"/>
                        </a:rPr>
                        <a:t>0.79</a:t>
                      </a:r>
                    </a:p>
                  </a:txBody>
                  <a:tcPr/>
                </a:tc>
                <a:tc>
                  <a:txBody>
                    <a:bodyPr/>
                    <a:lstStyle/>
                    <a:p>
                      <a:pPr algn="ctr"/>
                      <a:r>
                        <a:rPr lang="en-IN" sz="2000" dirty="0">
                          <a:latin typeface="Times New Roman" panose="02020603050405020304" pitchFamily="18" charset="0"/>
                          <a:cs typeface="Times New Roman" panose="02020603050405020304" pitchFamily="18" charset="0"/>
                        </a:rPr>
                        <a:t>0.72</a:t>
                      </a:r>
                    </a:p>
                  </a:txBody>
                  <a:tcPr/>
                </a:tc>
                <a:tc>
                  <a:txBody>
                    <a:bodyPr/>
                    <a:lstStyle/>
                    <a:p>
                      <a:pPr algn="ctr"/>
                      <a:r>
                        <a:rPr lang="en-IN" sz="2000" dirty="0">
                          <a:latin typeface="Times New Roman" panose="02020603050405020304" pitchFamily="18" charset="0"/>
                          <a:cs typeface="Times New Roman" panose="02020603050405020304" pitchFamily="18" charset="0"/>
                        </a:rPr>
                        <a:t>0.75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375605235"/>
                  </a:ext>
                </a:extLst>
              </a:tr>
              <a:tr h="432196">
                <a:tc>
                  <a:txBody>
                    <a:bodyPr/>
                    <a:lstStyle/>
                    <a:p>
                      <a:pPr algn="ctr"/>
                      <a:r>
                        <a:rPr lang="en-IN" sz="2000" dirty="0">
                          <a:latin typeface="Times New Roman" panose="02020603050405020304" pitchFamily="18" charset="0"/>
                          <a:cs typeface="Times New Roman" panose="02020603050405020304" pitchFamily="18" charset="0"/>
                        </a:rPr>
                        <a:t>6</a:t>
                      </a:r>
                    </a:p>
                  </a:txBody>
                  <a:tcPr/>
                </a:tc>
                <a:tc>
                  <a:txBody>
                    <a:bodyPr/>
                    <a:lstStyle/>
                    <a:p>
                      <a:pPr algn="ctr"/>
                      <a:r>
                        <a:rPr lang="en-IN" sz="2000" dirty="0">
                          <a:latin typeface="Times New Roman" panose="02020603050405020304" pitchFamily="18" charset="0"/>
                          <a:cs typeface="Times New Roman" panose="02020603050405020304" pitchFamily="18" charset="0"/>
                        </a:rPr>
                        <a:t>0.96</a:t>
                      </a:r>
                    </a:p>
                  </a:txBody>
                  <a:tcPr/>
                </a:tc>
                <a:tc>
                  <a:txBody>
                    <a:bodyPr/>
                    <a:lstStyle/>
                    <a:p>
                      <a:pPr algn="ctr"/>
                      <a:r>
                        <a:rPr lang="en-IN" sz="2000" dirty="0">
                          <a:latin typeface="Times New Roman" panose="02020603050405020304" pitchFamily="18" charset="0"/>
                          <a:cs typeface="Times New Roman" panose="02020603050405020304" pitchFamily="18" charset="0"/>
                        </a:rPr>
                        <a:t>0.99</a:t>
                      </a:r>
                    </a:p>
                  </a:txBody>
                  <a:tcPr/>
                </a:tc>
                <a:tc>
                  <a:txBody>
                    <a:bodyPr/>
                    <a:lstStyle/>
                    <a:p>
                      <a:pPr algn="ctr"/>
                      <a:r>
                        <a:rPr lang="en-IN" sz="2000" dirty="0">
                          <a:latin typeface="Times New Roman" panose="02020603050405020304" pitchFamily="18" charset="0"/>
                          <a:cs typeface="Times New Roman" panose="02020603050405020304" pitchFamily="18" charset="0"/>
                        </a:rPr>
                        <a:t>0.98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1341</a:t>
                      </a:r>
                    </a:p>
                  </a:txBody>
                  <a:tcPr/>
                </a:tc>
                <a:extLst>
                  <a:ext uri="{0D108BD9-81ED-4DB2-BD59-A6C34878D82A}">
                    <a16:rowId xmlns:a16="http://schemas.microsoft.com/office/drawing/2014/main" val="3299739444"/>
                  </a:ext>
                </a:extLst>
              </a:tr>
            </a:tbl>
          </a:graphicData>
        </a:graphic>
      </p:graphicFrame>
    </p:spTree>
    <p:extLst>
      <p:ext uri="{BB962C8B-B14F-4D97-AF65-F5344CB8AC3E}">
        <p14:creationId xmlns:p14="http://schemas.microsoft.com/office/powerpoint/2010/main" val="26020198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7E37846-C501-18B6-56D4-3BEB9ED96C0D}"/>
              </a:ext>
            </a:extLst>
          </p:cNvPr>
          <p:cNvGraphicFramePr>
            <a:graphicFrameLocks noGrp="1"/>
          </p:cNvGraphicFramePr>
          <p:nvPr>
            <p:extLst>
              <p:ext uri="{D42A27DB-BD31-4B8C-83A1-F6EECF244321}">
                <p14:modId xmlns:p14="http://schemas.microsoft.com/office/powerpoint/2010/main" val="3871944477"/>
              </p:ext>
            </p:extLst>
          </p:nvPr>
        </p:nvGraphicFramePr>
        <p:xfrm>
          <a:off x="1133474" y="809625"/>
          <a:ext cx="10086975" cy="1876424"/>
        </p:xfrm>
        <a:graphic>
          <a:graphicData uri="http://schemas.openxmlformats.org/drawingml/2006/table">
            <a:tbl>
              <a:tblPr firstRow="1" bandRow="1">
                <a:tableStyleId>{5C22544A-7EE6-4342-B048-85BDC9FD1C3A}</a:tableStyleId>
              </a:tblPr>
              <a:tblGrid>
                <a:gridCol w="2182691">
                  <a:extLst>
                    <a:ext uri="{9D8B030D-6E8A-4147-A177-3AD203B41FA5}">
                      <a16:colId xmlns:a16="http://schemas.microsoft.com/office/drawing/2014/main" val="4168725807"/>
                    </a:ext>
                  </a:extLst>
                </a:gridCol>
                <a:gridCol w="1784026">
                  <a:extLst>
                    <a:ext uri="{9D8B030D-6E8A-4147-A177-3AD203B41FA5}">
                      <a16:colId xmlns:a16="http://schemas.microsoft.com/office/drawing/2014/main" val="1240190835"/>
                    </a:ext>
                  </a:extLst>
                </a:gridCol>
                <a:gridCol w="1923559">
                  <a:extLst>
                    <a:ext uri="{9D8B030D-6E8A-4147-A177-3AD203B41FA5}">
                      <a16:colId xmlns:a16="http://schemas.microsoft.com/office/drawing/2014/main" val="2766614247"/>
                    </a:ext>
                  </a:extLst>
                </a:gridCol>
                <a:gridCol w="1933525">
                  <a:extLst>
                    <a:ext uri="{9D8B030D-6E8A-4147-A177-3AD203B41FA5}">
                      <a16:colId xmlns:a16="http://schemas.microsoft.com/office/drawing/2014/main" val="3443533432"/>
                    </a:ext>
                  </a:extLst>
                </a:gridCol>
                <a:gridCol w="2263174">
                  <a:extLst>
                    <a:ext uri="{9D8B030D-6E8A-4147-A177-3AD203B41FA5}">
                      <a16:colId xmlns:a16="http://schemas.microsoft.com/office/drawing/2014/main" val="1291093287"/>
                    </a:ext>
                  </a:extLst>
                </a:gridCol>
              </a:tblGrid>
              <a:tr h="469106">
                <a:tc>
                  <a:txBody>
                    <a:bodyPr/>
                    <a:lstStyle/>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Precision</a:t>
                      </a:r>
                    </a:p>
                  </a:txBody>
                  <a:tcPr/>
                </a:tc>
                <a:tc>
                  <a:txBody>
                    <a:bodyPr/>
                    <a:lstStyle/>
                    <a:p>
                      <a:pPr algn="ctr"/>
                      <a:r>
                        <a:rPr lang="en-IN" sz="2000" dirty="0">
                          <a:latin typeface="Times New Roman" panose="02020603050405020304" pitchFamily="18" charset="0"/>
                          <a:cs typeface="Times New Roman" panose="02020603050405020304" pitchFamily="18" charset="0"/>
                        </a:rPr>
                        <a:t>Recall</a:t>
                      </a:r>
                    </a:p>
                  </a:txBody>
                  <a:tcPr/>
                </a:tc>
                <a:tc>
                  <a:txBody>
                    <a:bodyPr/>
                    <a:lstStyle/>
                    <a:p>
                      <a:pPr algn="ctr"/>
                      <a:r>
                        <a:rPr lang="en-IN" sz="2000" dirty="0">
                          <a:latin typeface="Times New Roman" panose="02020603050405020304" pitchFamily="18" charset="0"/>
                          <a:cs typeface="Times New Roman" panose="02020603050405020304" pitchFamily="18" charset="0"/>
                        </a:rPr>
                        <a:t>f1-score</a:t>
                      </a:r>
                    </a:p>
                  </a:txBody>
                  <a:tcPr/>
                </a:tc>
                <a:tc>
                  <a:txBody>
                    <a:bodyPr/>
                    <a:lstStyle/>
                    <a:p>
                      <a:pPr algn="ctr"/>
                      <a:r>
                        <a:rPr lang="en-IN" sz="2000" dirty="0">
                          <a:latin typeface="Times New Roman" panose="02020603050405020304" pitchFamily="18" charset="0"/>
                          <a:cs typeface="Times New Roman" panose="02020603050405020304" pitchFamily="18" charset="0"/>
                        </a:rPr>
                        <a:t>support</a:t>
                      </a:r>
                    </a:p>
                  </a:txBody>
                  <a:tcPr/>
                </a:tc>
                <a:extLst>
                  <a:ext uri="{0D108BD9-81ED-4DB2-BD59-A6C34878D82A}">
                    <a16:rowId xmlns:a16="http://schemas.microsoft.com/office/drawing/2014/main" val="619112504"/>
                  </a:ext>
                </a:extLst>
              </a:tr>
              <a:tr h="469106">
                <a:tc>
                  <a:txBody>
                    <a:bodyPr/>
                    <a:lstStyle/>
                    <a:p>
                      <a:pPr algn="ctr"/>
                      <a:r>
                        <a:rPr lang="en-IN" sz="2000" dirty="0">
                          <a:latin typeface="Times New Roman" panose="02020603050405020304" pitchFamily="18" charset="0"/>
                          <a:cs typeface="Times New Roman" panose="02020603050405020304" pitchFamily="18" charset="0"/>
                        </a:rPr>
                        <a:t>accuracy</a:t>
                      </a:r>
                    </a:p>
                  </a:txBody>
                  <a:tcPr/>
                </a:tc>
                <a:tc>
                  <a:txBody>
                    <a:bodyPr/>
                    <a:lstStyle/>
                    <a:p>
                      <a:pPr algn="ctr"/>
                      <a:r>
                        <a:rPr lang="en-IN" sz="2000" dirty="0">
                          <a:latin typeface="Times New Roman" panose="02020603050405020304" pitchFamily="18" charset="0"/>
                          <a:cs typeface="Times New Roman" panose="02020603050405020304" pitchFamily="18" charset="0"/>
                        </a:rPr>
                        <a:t>-</a:t>
                      </a:r>
                    </a:p>
                  </a:txBody>
                  <a:tcPr/>
                </a:tc>
                <a:tc>
                  <a:txBody>
                    <a:bodyPr/>
                    <a:lstStyle/>
                    <a:p>
                      <a:pPr algn="ctr"/>
                      <a:r>
                        <a:rPr lang="en-IN" sz="2000" dirty="0">
                          <a:latin typeface="Times New Roman" panose="02020603050405020304" pitchFamily="18" charset="0"/>
                          <a:cs typeface="Times New Roman" panose="02020603050405020304" pitchFamily="18" charset="0"/>
                        </a:rPr>
                        <a:t>-</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2645567727"/>
                  </a:ext>
                </a:extLst>
              </a:tr>
              <a:tr h="469106">
                <a:tc>
                  <a:txBody>
                    <a:bodyPr/>
                    <a:lstStyle/>
                    <a:p>
                      <a:pPr algn="ctr"/>
                      <a:r>
                        <a:rPr lang="en-IN" sz="2000" dirty="0">
                          <a:latin typeface="Times New Roman" panose="02020603050405020304" pitchFamily="18" charset="0"/>
                          <a:cs typeface="Times New Roman" panose="02020603050405020304" pitchFamily="18" charset="0"/>
                        </a:rPr>
                        <a:t>macro avg.</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1817273874"/>
                  </a:ext>
                </a:extLst>
              </a:tr>
              <a:tr h="469106">
                <a:tc>
                  <a:txBody>
                    <a:bodyPr/>
                    <a:lstStyle/>
                    <a:p>
                      <a:pPr algn="ctr"/>
                      <a:r>
                        <a:rPr lang="en-IN" sz="2000" dirty="0">
                          <a:latin typeface="Times New Roman" panose="02020603050405020304" pitchFamily="18" charset="0"/>
                          <a:cs typeface="Times New Roman" panose="02020603050405020304" pitchFamily="18" charset="0"/>
                        </a:rPr>
                        <a:t>weighted avg.</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0.78</a:t>
                      </a:r>
                    </a:p>
                  </a:txBody>
                  <a:tcPr/>
                </a:tc>
                <a:tc>
                  <a:txBody>
                    <a:bodyPr/>
                    <a:lstStyle/>
                    <a:p>
                      <a:pPr algn="ctr"/>
                      <a:r>
                        <a:rPr lang="en-IN" sz="2000" dirty="0">
                          <a:latin typeface="Times New Roman" panose="02020603050405020304" pitchFamily="18" charset="0"/>
                          <a:cs typeface="Times New Roman" panose="02020603050405020304" pitchFamily="18" charset="0"/>
                        </a:rPr>
                        <a:t>9387</a:t>
                      </a:r>
                    </a:p>
                  </a:txBody>
                  <a:tcPr/>
                </a:tc>
                <a:extLst>
                  <a:ext uri="{0D108BD9-81ED-4DB2-BD59-A6C34878D82A}">
                    <a16:rowId xmlns:a16="http://schemas.microsoft.com/office/drawing/2014/main" val="1996601083"/>
                  </a:ext>
                </a:extLst>
              </a:tr>
            </a:tbl>
          </a:graphicData>
        </a:graphic>
      </p:graphicFrame>
      <p:pic>
        <p:nvPicPr>
          <p:cNvPr id="4" name="Picture 3">
            <a:extLst>
              <a:ext uri="{FF2B5EF4-FFF2-40B4-BE49-F238E27FC236}">
                <a16:creationId xmlns:a16="http://schemas.microsoft.com/office/drawing/2014/main" id="{E64A38EB-CEA8-8A6F-734B-EB59178E197C}"/>
              </a:ext>
            </a:extLst>
          </p:cNvPr>
          <p:cNvPicPr>
            <a:picLocks noChangeAspect="1"/>
          </p:cNvPicPr>
          <p:nvPr/>
        </p:nvPicPr>
        <p:blipFill>
          <a:blip r:embed="rId2"/>
          <a:stretch>
            <a:fillRect/>
          </a:stretch>
        </p:blipFill>
        <p:spPr>
          <a:xfrm>
            <a:off x="6391274" y="2894712"/>
            <a:ext cx="4829175" cy="3663834"/>
          </a:xfrm>
          <a:prstGeom prst="rect">
            <a:avLst/>
          </a:prstGeom>
        </p:spPr>
      </p:pic>
      <p:sp>
        <p:nvSpPr>
          <p:cNvPr id="5" name="TextBox 4">
            <a:extLst>
              <a:ext uri="{FF2B5EF4-FFF2-40B4-BE49-F238E27FC236}">
                <a16:creationId xmlns:a16="http://schemas.microsoft.com/office/drawing/2014/main" id="{CF6FF73F-63D3-7A97-3C23-EF2F5E5313C2}"/>
              </a:ext>
            </a:extLst>
          </p:cNvPr>
          <p:cNvSpPr txBox="1"/>
          <p:nvPr/>
        </p:nvSpPr>
        <p:spPr>
          <a:xfrm>
            <a:off x="1133474" y="3265714"/>
            <a:ext cx="4962526" cy="132343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a:t>
            </a:r>
            <a:r>
              <a:rPr lang="en-US" sz="2000" b="1" dirty="0">
                <a:latin typeface="Times New Roman" panose="02020603050405020304" pitchFamily="18" charset="0"/>
                <a:cs typeface="Times New Roman" panose="02020603050405020304" pitchFamily="18" charset="0"/>
              </a:rPr>
              <a:t>row</a:t>
            </a:r>
            <a:r>
              <a:rPr lang="en-US" sz="2000" dirty="0">
                <a:latin typeface="Times New Roman" panose="02020603050405020304" pitchFamily="18" charset="0"/>
                <a:cs typeface="Times New Roman" panose="02020603050405020304" pitchFamily="18" charset="0"/>
              </a:rPr>
              <a:t> = actual (ground truth) class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Each </a:t>
            </a:r>
            <a:r>
              <a:rPr lang="en-US" sz="2000" b="1" dirty="0">
                <a:latin typeface="Times New Roman" panose="02020603050405020304" pitchFamily="18" charset="0"/>
                <a:cs typeface="Times New Roman" panose="02020603050405020304" pitchFamily="18" charset="0"/>
              </a:rPr>
              <a:t>column</a:t>
            </a:r>
            <a:r>
              <a:rPr lang="en-US" sz="2000" dirty="0">
                <a:latin typeface="Times New Roman" panose="02020603050405020304" pitchFamily="18" charset="0"/>
                <a:cs typeface="Times New Roman" panose="02020603050405020304" pitchFamily="18" charset="0"/>
              </a:rPr>
              <a:t> = predicted class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Diagonal values = correct predictions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Off-diagonal values = misclassifications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82324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F8F637-F6ED-F84F-214D-09E0D9D98628}"/>
              </a:ext>
            </a:extLst>
          </p:cNvPr>
          <p:cNvPicPr>
            <a:picLocks noChangeAspect="1"/>
          </p:cNvPicPr>
          <p:nvPr/>
        </p:nvPicPr>
        <p:blipFill>
          <a:blip r:embed="rId2"/>
          <a:stretch>
            <a:fillRect/>
          </a:stretch>
        </p:blipFill>
        <p:spPr>
          <a:xfrm>
            <a:off x="1376362" y="619125"/>
            <a:ext cx="9439275" cy="5619750"/>
          </a:xfrm>
          <a:prstGeom prst="rect">
            <a:avLst/>
          </a:prstGeom>
        </p:spPr>
      </p:pic>
    </p:spTree>
    <p:extLst>
      <p:ext uri="{BB962C8B-B14F-4D97-AF65-F5344CB8AC3E}">
        <p14:creationId xmlns:p14="http://schemas.microsoft.com/office/powerpoint/2010/main" val="1006893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35966D-2CB8-5809-E6E4-EC1EC1F2345A}"/>
              </a:ext>
            </a:extLst>
          </p:cNvPr>
          <p:cNvSpPr txBox="1"/>
          <p:nvPr/>
        </p:nvSpPr>
        <p:spPr>
          <a:xfrm>
            <a:off x="1007706" y="1"/>
            <a:ext cx="4376058" cy="6321218"/>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SHAP Summary Plot (Global Explainability) :-</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top 20 features shown in the image are </a:t>
            </a:r>
            <a:r>
              <a:rPr lang="en-US" sz="2000" b="1" dirty="0">
                <a:latin typeface="Times New Roman" panose="02020603050405020304" pitchFamily="18" charset="0"/>
                <a:cs typeface="Times New Roman" panose="02020603050405020304" pitchFamily="18" charset="0"/>
              </a:rPr>
              <a:t>PCA components</a:t>
            </a:r>
            <a:r>
              <a:rPr lang="en-US" sz="2000" dirty="0">
                <a:latin typeface="Times New Roman" panose="02020603050405020304" pitchFamily="18" charset="0"/>
                <a:cs typeface="Times New Roman" panose="02020603050405020304" pitchFamily="18" charset="0"/>
              </a:rPr>
              <a:t> of </a:t>
            </a:r>
            <a:r>
              <a:rPr lang="en-US" sz="2000" b="1" dirty="0">
                <a:latin typeface="Times New Roman" panose="02020603050405020304" pitchFamily="18" charset="0"/>
                <a:cs typeface="Times New Roman" panose="02020603050405020304" pitchFamily="18" charset="0"/>
              </a:rPr>
              <a:t>ResNet50 deep features</a:t>
            </a:r>
            <a:r>
              <a:rPr lang="en-US" sz="2000" dirty="0">
                <a:latin typeface="Times New Roman" panose="02020603050405020304" pitchFamily="18" charset="0"/>
                <a:cs typeface="Times New Roman" panose="02020603050405020304" pitchFamily="18" charset="0"/>
              </a:rPr>
              <a:t>, meaning your model is primarily relying on </a:t>
            </a:r>
            <a:r>
              <a:rPr lang="en-US" sz="2000" b="1" dirty="0">
                <a:latin typeface="Times New Roman" panose="02020603050405020304" pitchFamily="18" charset="0"/>
                <a:cs typeface="Times New Roman" panose="02020603050405020304" pitchFamily="18" charset="0"/>
              </a:rPr>
              <a:t>visual lesion characteristics</a:t>
            </a:r>
            <a:r>
              <a:rPr lang="en-US" sz="2000" dirty="0">
                <a:latin typeface="Times New Roman" panose="02020603050405020304" pitchFamily="18" charset="0"/>
                <a:cs typeface="Times New Roman" panose="02020603050405020304" pitchFamily="18" charset="0"/>
              </a:rPr>
              <a:t> (e.g., shape, texture, border) learned by the CNN.</a:t>
            </a:r>
            <a:endParaRPr lang="en-IN"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Top Influential Features: Feature_2, Feature_5, Feature_9</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SHAP value shows contribution </a:t>
            </a:r>
            <a:r>
              <a:rPr lang="en-US" b="1" dirty="0">
                <a:latin typeface="Times New Roman" panose="02020603050405020304" pitchFamily="18" charset="0"/>
                <a:cs typeface="Times New Roman" panose="02020603050405020304" pitchFamily="18" charset="0"/>
              </a:rPr>
              <a:t>per class</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for model transparency and fairness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CD02801-1891-3A56-508C-59086F23E8E5}"/>
              </a:ext>
            </a:extLst>
          </p:cNvPr>
          <p:cNvPicPr>
            <a:picLocks noChangeAspect="1"/>
          </p:cNvPicPr>
          <p:nvPr/>
        </p:nvPicPr>
        <p:blipFill>
          <a:blip r:embed="rId2"/>
          <a:stretch>
            <a:fillRect/>
          </a:stretch>
        </p:blipFill>
        <p:spPr>
          <a:xfrm>
            <a:off x="5673212" y="167148"/>
            <a:ext cx="5614219" cy="6430297"/>
          </a:xfrm>
          <a:prstGeom prst="rect">
            <a:avLst/>
          </a:prstGeom>
        </p:spPr>
      </p:pic>
    </p:spTree>
    <p:extLst>
      <p:ext uri="{BB962C8B-B14F-4D97-AF65-F5344CB8AC3E}">
        <p14:creationId xmlns:p14="http://schemas.microsoft.com/office/powerpoint/2010/main" val="41304744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7230BA-C5CC-4AD4-1224-F6397D56B252}"/>
              </a:ext>
            </a:extLst>
          </p:cNvPr>
          <p:cNvSpPr txBox="1"/>
          <p:nvPr/>
        </p:nvSpPr>
        <p:spPr>
          <a:xfrm>
            <a:off x="970384" y="1101013"/>
            <a:ext cx="4329203" cy="5115311"/>
          </a:xfrm>
          <a:prstGeom prst="rect">
            <a:avLst/>
          </a:prstGeom>
          <a:noFill/>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LIME Local Feature Importance :-</a:t>
            </a:r>
          </a:p>
          <a:p>
            <a:pPr>
              <a:lnSpc>
                <a:spcPct val="150000"/>
              </a:lnSpc>
            </a:pP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Just like with SHAP, all LIME-highlighted features are from </a:t>
            </a:r>
            <a:r>
              <a:rPr lang="en-US" sz="2000" b="1" dirty="0">
                <a:latin typeface="Times New Roman" panose="02020603050405020304" pitchFamily="18" charset="0"/>
                <a:cs typeface="Times New Roman" panose="02020603050405020304" pitchFamily="18" charset="0"/>
              </a:rPr>
              <a:t>PCA-reduced deep features</a:t>
            </a:r>
            <a:r>
              <a:rPr lang="en-US" sz="2000" dirty="0">
                <a:latin typeface="Times New Roman" panose="02020603050405020304" pitchFamily="18" charset="0"/>
                <a:cs typeface="Times New Roman" panose="02020603050405020304" pitchFamily="18" charset="0"/>
              </a:rPr>
              <a:t> (from ResNet50).</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Explains a </a:t>
            </a:r>
            <a:r>
              <a:rPr lang="en-IN" sz="2000" b="1" dirty="0">
                <a:latin typeface="Times New Roman" panose="02020603050405020304" pitchFamily="18" charset="0"/>
                <a:cs typeface="Times New Roman" panose="02020603050405020304" pitchFamily="18" charset="0"/>
              </a:rPr>
              <a:t>single prediction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Positive contribution (green) and negative (red)</a:t>
            </a: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Top features: Feature_1, Feature_2, Feature_19</a:t>
            </a:r>
          </a:p>
        </p:txBody>
      </p:sp>
      <p:pic>
        <p:nvPicPr>
          <p:cNvPr id="5" name="Picture 4">
            <a:extLst>
              <a:ext uri="{FF2B5EF4-FFF2-40B4-BE49-F238E27FC236}">
                <a16:creationId xmlns:a16="http://schemas.microsoft.com/office/drawing/2014/main" id="{EAF257D9-E4A9-9B3C-179F-70E7931D173C}"/>
              </a:ext>
            </a:extLst>
          </p:cNvPr>
          <p:cNvPicPr>
            <a:picLocks noChangeAspect="1"/>
          </p:cNvPicPr>
          <p:nvPr/>
        </p:nvPicPr>
        <p:blipFill>
          <a:blip r:embed="rId2"/>
          <a:stretch>
            <a:fillRect/>
          </a:stretch>
        </p:blipFill>
        <p:spPr>
          <a:xfrm>
            <a:off x="5385916" y="1190625"/>
            <a:ext cx="5665542" cy="4476750"/>
          </a:xfrm>
          <a:prstGeom prst="rect">
            <a:avLst/>
          </a:prstGeom>
        </p:spPr>
      </p:pic>
    </p:spTree>
    <p:extLst>
      <p:ext uri="{BB962C8B-B14F-4D97-AF65-F5344CB8AC3E}">
        <p14:creationId xmlns:p14="http://schemas.microsoft.com/office/powerpoint/2010/main" val="29235482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ADA15-852A-7021-6FA9-B9C010F8DD6F}"/>
              </a:ext>
            </a:extLst>
          </p:cNvPr>
          <p:cNvSpPr txBox="1"/>
          <p:nvPr/>
        </p:nvSpPr>
        <p:spPr>
          <a:xfrm>
            <a:off x="2080727" y="335902"/>
            <a:ext cx="8630816" cy="923330"/>
          </a:xfrm>
          <a:prstGeom prst="rect">
            <a:avLst/>
          </a:prstGeom>
          <a:noFill/>
        </p:spPr>
        <p:txBody>
          <a:bodyPr wrap="square" rtlCol="0">
            <a:spAutoFit/>
          </a:bodyPr>
          <a:lstStyle/>
          <a:p>
            <a:pPr algn="ctr"/>
            <a:r>
              <a:rPr lang="en-IN" sz="5400" b="1" dirty="0">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EC22A200-2057-3E36-C738-429B9C787753}"/>
              </a:ext>
            </a:extLst>
          </p:cNvPr>
          <p:cNvSpPr txBox="1"/>
          <p:nvPr/>
        </p:nvSpPr>
        <p:spPr>
          <a:xfrm>
            <a:off x="1334278" y="1380931"/>
            <a:ext cx="9787812" cy="5351721"/>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Useful Website:- </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Cleveland Clinic,</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IBM</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NIH National Library of Medicine, U.S Gov.</a:t>
            </a:r>
          </a:p>
          <a:p>
            <a:r>
              <a:rPr lang="en-IN" sz="2400" dirty="0">
                <a:latin typeface="Times New Roman" panose="02020603050405020304" pitchFamily="18" charset="0"/>
                <a:cs typeface="Times New Roman" panose="02020603050405020304" pitchFamily="18" charset="0"/>
              </a:rPr>
              <a:t>References:- </a:t>
            </a:r>
          </a:p>
          <a:p>
            <a:pPr algn="just">
              <a:lnSpc>
                <a:spcPct val="150000"/>
              </a:lnSpc>
            </a:pPr>
            <a:r>
              <a:rPr lang="en-US" dirty="0">
                <a:latin typeface="Times New Roman" panose="02020603050405020304" pitchFamily="18" charset="0"/>
                <a:cs typeface="Times New Roman" panose="02020603050405020304" pitchFamily="18" charset="0"/>
              </a:rPr>
              <a:t>1) Evaluating the Generalizability of Support Vector Machine for Breast Cancer Detection by </a:t>
            </a:r>
            <a:r>
              <a:rPr lang="en-IN" dirty="0">
                <a:latin typeface="Times New Roman" panose="02020603050405020304" pitchFamily="18" charset="0"/>
                <a:cs typeface="Times New Roman" panose="02020603050405020304" pitchFamily="18" charset="0"/>
              </a:rPr>
              <a:t>Oluwaseyi Ezekiel </a:t>
            </a:r>
            <a:r>
              <a:rPr lang="en-IN" dirty="0" err="1">
                <a:latin typeface="Times New Roman" panose="02020603050405020304" pitchFamily="18" charset="0"/>
                <a:cs typeface="Times New Roman" panose="02020603050405020304" pitchFamily="18" charset="0"/>
              </a:rPr>
              <a:t>Olorunshola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Okeh</a:t>
            </a:r>
            <a:r>
              <a:rPr lang="en-IN" dirty="0">
                <a:latin typeface="Times New Roman" panose="02020603050405020304" pitchFamily="18" charset="0"/>
                <a:cs typeface="Times New Roman" panose="02020603050405020304" pitchFamily="18" charset="0"/>
              </a:rPr>
              <a:t> Dominic Ebuka and Adeniran Kolade </a:t>
            </a:r>
            <a:r>
              <a:rPr lang="en-IN" dirty="0" err="1">
                <a:latin typeface="Times New Roman" panose="02020603050405020304" pitchFamily="18" charset="0"/>
                <a:cs typeface="Times New Roman" panose="02020603050405020304" pitchFamily="18" charset="0"/>
              </a:rPr>
              <a:t>Ademuwagun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2) Machine Learning Algorithms For Breast Cancer Prediction And Diagnosis by </a:t>
            </a:r>
            <a:r>
              <a:rPr lang="en-IN" dirty="0">
                <a:latin typeface="Times New Roman" panose="02020603050405020304" pitchFamily="18" charset="0"/>
                <a:cs typeface="Times New Roman" panose="02020603050405020304" pitchFamily="18" charset="0"/>
              </a:rPr>
              <a:t>Mohammed Amine Naji, Sanaa El Filali, Kawtar Aarika, EL Habib </a:t>
            </a:r>
            <a:r>
              <a:rPr lang="en-IN" dirty="0" err="1">
                <a:latin typeface="Times New Roman" panose="02020603050405020304" pitchFamily="18" charset="0"/>
                <a:cs typeface="Times New Roman" panose="02020603050405020304" pitchFamily="18" charset="0"/>
              </a:rPr>
              <a:t>Benlahmar</a:t>
            </a:r>
            <a:r>
              <a:rPr lang="en-IN" dirty="0">
                <a:latin typeface="Times New Roman" panose="02020603050405020304" pitchFamily="18" charset="0"/>
                <a:cs typeface="Times New Roman" panose="02020603050405020304" pitchFamily="18" charset="0"/>
              </a:rPr>
              <a:t>, Rachida Ait </a:t>
            </a:r>
            <a:r>
              <a:rPr lang="en-IN" dirty="0" err="1">
                <a:latin typeface="Times New Roman" panose="02020603050405020304" pitchFamily="18" charset="0"/>
                <a:cs typeface="Times New Roman" panose="02020603050405020304" pitchFamily="18" charset="0"/>
              </a:rPr>
              <a:t>Abdelouhahid</a:t>
            </a:r>
            <a:r>
              <a:rPr lang="en-IN" dirty="0">
                <a:latin typeface="Times New Roman" panose="02020603050405020304" pitchFamily="18" charset="0"/>
                <a:cs typeface="Times New Roman" panose="02020603050405020304" pitchFamily="18" charset="0"/>
              </a:rPr>
              <a:t>, Olivier Debauche </a:t>
            </a:r>
          </a:p>
          <a:p>
            <a:pPr>
              <a:lnSpc>
                <a:spcPct val="150000"/>
              </a:lnSpc>
            </a:pPr>
            <a:r>
              <a:rPr lang="en-IN" b="1" dirty="0">
                <a:latin typeface="Times New Roman" panose="02020603050405020304" pitchFamily="18" charset="0"/>
                <a:cs typeface="Times New Roman" panose="02020603050405020304" pitchFamily="18" charset="0"/>
              </a:rPr>
              <a:t>3) </a:t>
            </a:r>
            <a:r>
              <a:rPr lang="en-IN" dirty="0">
                <a:latin typeface="Times New Roman" panose="02020603050405020304" pitchFamily="18" charset="0"/>
                <a:cs typeface="Times New Roman" panose="02020603050405020304" pitchFamily="18" charset="0"/>
              </a:rPr>
              <a:t>"A Logistic Regression Model Based on the National Mammography Database Format to Aid Breast Cancer Diagnosis",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by Jagpreet Chhatwal et al., published in </a:t>
            </a:r>
            <a:r>
              <a:rPr lang="en-IN" i="1" dirty="0">
                <a:latin typeface="Times New Roman" panose="02020603050405020304" pitchFamily="18" charset="0"/>
                <a:cs typeface="Times New Roman" panose="02020603050405020304" pitchFamily="18" charset="0"/>
              </a:rPr>
              <a:t>American Journal of Roentgenology</a:t>
            </a:r>
            <a:r>
              <a:rPr lang="en-IN" dirty="0">
                <a:latin typeface="Times New Roman" panose="02020603050405020304" pitchFamily="18" charset="0"/>
                <a:cs typeface="Times New Roman" panose="02020603050405020304" pitchFamily="18" charset="0"/>
              </a:rPr>
              <a:t> (April 2009; vol. 192, issue 4: pages 1117–1127; DOI: 10.2214/AJR.07.3345)</a:t>
            </a:r>
          </a:p>
        </p:txBody>
      </p:sp>
    </p:spTree>
    <p:extLst>
      <p:ext uri="{BB962C8B-B14F-4D97-AF65-F5344CB8AC3E}">
        <p14:creationId xmlns:p14="http://schemas.microsoft.com/office/powerpoint/2010/main" val="39610161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89BD27-5FC4-6B83-C060-07A535442A86}"/>
              </a:ext>
            </a:extLst>
          </p:cNvPr>
          <p:cNvSpPr txBox="1"/>
          <p:nvPr/>
        </p:nvSpPr>
        <p:spPr>
          <a:xfrm>
            <a:off x="1922106" y="401216"/>
            <a:ext cx="7219560" cy="923330"/>
          </a:xfrm>
          <a:prstGeom prst="rect">
            <a:avLst/>
          </a:prstGeom>
          <a:noFill/>
        </p:spPr>
        <p:txBody>
          <a:bodyPr wrap="square">
            <a:spAutoFit/>
          </a:bodyPr>
          <a:lstStyle/>
          <a:p>
            <a:pPr algn="ctr"/>
            <a:r>
              <a:rPr lang="en-IN" sz="5400" b="1" dirty="0">
                <a:latin typeface="Times New Roman" panose="02020603050405020304" pitchFamily="18" charset="0"/>
                <a:cs typeface="Times New Roman" panose="02020603050405020304" pitchFamily="18" charset="0"/>
              </a:rPr>
              <a:t>References</a:t>
            </a:r>
          </a:p>
        </p:txBody>
      </p:sp>
      <p:sp>
        <p:nvSpPr>
          <p:cNvPr id="6" name="TextBox 5">
            <a:extLst>
              <a:ext uri="{FF2B5EF4-FFF2-40B4-BE49-F238E27FC236}">
                <a16:creationId xmlns:a16="http://schemas.microsoft.com/office/drawing/2014/main" id="{3838DEE2-345E-63A1-D135-A29DC9476443}"/>
              </a:ext>
            </a:extLst>
          </p:cNvPr>
          <p:cNvSpPr txBox="1"/>
          <p:nvPr/>
        </p:nvSpPr>
        <p:spPr>
          <a:xfrm>
            <a:off x="1455576" y="1604866"/>
            <a:ext cx="9423918" cy="5632311"/>
          </a:xfrm>
          <a:prstGeom prst="rect">
            <a:avLst/>
          </a:prstGeom>
          <a:noFill/>
        </p:spPr>
        <p:txBody>
          <a:bodyPr wrap="square">
            <a:spAutoFit/>
          </a:bodyPr>
          <a:lstStyle/>
          <a:p>
            <a:pPr algn="just">
              <a:lnSpc>
                <a:spcPct val="150000"/>
              </a:lnSpc>
            </a:pPr>
            <a:r>
              <a:rPr lang="en-IN" b="0" i="0" dirty="0">
                <a:effectLst/>
                <a:latin typeface="Times New Roman" panose="02020603050405020304" pitchFamily="18" charset="0"/>
                <a:cs typeface="Times New Roman" panose="02020603050405020304" pitchFamily="18" charset="0"/>
              </a:rPr>
              <a:t>4)  Polytomous Logistic Regression Based Random Forest Classifier for Diagnosing Cancer Disease</a:t>
            </a:r>
          </a:p>
          <a:p>
            <a:pPr algn="just">
              <a:lnSpc>
                <a:spcPct val="150000"/>
              </a:lnSpc>
            </a:pPr>
            <a:r>
              <a:rPr lang="en-IN" b="0" i="0" dirty="0">
                <a:effectLst/>
                <a:latin typeface="Times New Roman" panose="02020603050405020304" pitchFamily="18" charset="0"/>
                <a:cs typeface="Times New Roman" panose="02020603050405020304" pitchFamily="18" charset="0"/>
              </a:rPr>
              <a:t>Suganthi Jeyasingh1* and Malathy Veluchamy2</a:t>
            </a:r>
          </a:p>
          <a:p>
            <a:pPr algn="just">
              <a:lnSpc>
                <a:spcPct val="150000"/>
              </a:lnSpc>
            </a:pPr>
            <a:r>
              <a:rPr lang="en-US" dirty="0">
                <a:latin typeface="Times New Roman" panose="02020603050405020304" pitchFamily="18" charset="0"/>
                <a:cs typeface="Times New Roman" panose="02020603050405020304" pitchFamily="18" charset="0"/>
              </a:rPr>
              <a:t>5) Breast Cancer Prediction Based on Multiple Machine Learning Algorithms by </a:t>
            </a:r>
            <a:r>
              <a:rPr lang="en-IN" u="sng" dirty="0">
                <a:hlinkClick r:id="rId2"/>
              </a:rPr>
              <a:t>Sheng  Zhou</a:t>
            </a:r>
            <a:r>
              <a:rPr lang="en-IN" dirty="0"/>
              <a:t> </a:t>
            </a:r>
            <a:r>
              <a:rPr lang="en-IN" baseline="30000" dirty="0"/>
              <a:t>1</a:t>
            </a:r>
            <a:r>
              <a:rPr lang="en-IN" dirty="0"/>
              <a:t>, </a:t>
            </a:r>
            <a:r>
              <a:rPr lang="en-IN" u="sng" dirty="0" err="1">
                <a:hlinkClick r:id="rId3"/>
              </a:rPr>
              <a:t>Chujiao</a:t>
            </a:r>
            <a:r>
              <a:rPr lang="en-IN" u="sng" dirty="0">
                <a:hlinkClick r:id="rId3"/>
              </a:rPr>
              <a:t> Hu</a:t>
            </a:r>
            <a:r>
              <a:rPr lang="en-IN" dirty="0"/>
              <a:t> </a:t>
            </a:r>
            <a:r>
              <a:rPr lang="en-IN" baseline="30000" dirty="0"/>
              <a:t>2</a:t>
            </a:r>
            <a:r>
              <a:rPr lang="en-IN" dirty="0"/>
              <a:t>, </a:t>
            </a:r>
            <a:r>
              <a:rPr lang="en-IN" u="sng" dirty="0">
                <a:hlinkClick r:id="rId4"/>
              </a:rPr>
              <a:t>Shanshan Wei</a:t>
            </a:r>
            <a:r>
              <a:rPr lang="en-IN" dirty="0"/>
              <a:t> </a:t>
            </a:r>
            <a:r>
              <a:rPr lang="en-IN" baseline="30000" dirty="0"/>
              <a:t>1</a:t>
            </a:r>
            <a:r>
              <a:rPr lang="en-IN" dirty="0"/>
              <a:t>, </a:t>
            </a:r>
            <a:r>
              <a:rPr lang="en-IN" u="sng" dirty="0">
                <a:hlinkClick r:id="rId5"/>
              </a:rPr>
              <a:t>Xiaofan Yan</a:t>
            </a:r>
            <a:endParaRPr lang="en-IN" u="sng" dirty="0"/>
          </a:p>
          <a:p>
            <a:pPr algn="just">
              <a:lnSpc>
                <a:spcPct val="150000"/>
              </a:lnSpc>
            </a:pPr>
            <a:r>
              <a:rPr lang="en-IN" dirty="0"/>
              <a:t>6) Giaquinto AN, Sung H, Miller K, et al. Breast cancer statistics, 2022. CA Cancer J Clin.  2022;72(6):524-541. [</a:t>
            </a:r>
            <a:r>
              <a:rPr lang="en-IN" u="sng" dirty="0">
                <a:hlinkClick r:id="rId6"/>
              </a:rPr>
              <a:t>DOI</a:t>
            </a:r>
            <a:r>
              <a:rPr lang="en-IN" dirty="0"/>
              <a:t>] [</a:t>
            </a:r>
            <a:r>
              <a:rPr lang="en-IN" u="sng" dirty="0">
                <a:hlinkClick r:id="rId7"/>
              </a:rPr>
              <a:t>PubMed</a:t>
            </a:r>
            <a:r>
              <a:rPr lang="en-IN" dirty="0"/>
              <a:t>] [</a:t>
            </a:r>
            <a:r>
              <a:rPr lang="en-IN" u="sng" dirty="0">
                <a:hlinkClick r:id="rId8"/>
              </a:rPr>
              <a:t>Google Scholar</a:t>
            </a:r>
            <a:r>
              <a:rPr lang="en-IN" dirty="0"/>
              <a:t>]</a:t>
            </a:r>
          </a:p>
          <a:p>
            <a:pPr algn="just">
              <a:lnSpc>
                <a:spcPct val="150000"/>
              </a:lnSpc>
            </a:pPr>
            <a:r>
              <a:rPr lang="en-IN" dirty="0"/>
              <a:t>7) </a:t>
            </a:r>
            <a:r>
              <a:rPr lang="en-IN" dirty="0">
                <a:latin typeface="Times New Roman" panose="02020603050405020304" pitchFamily="18" charset="0"/>
                <a:cs typeface="Times New Roman" panose="02020603050405020304" pitchFamily="18" charset="0"/>
              </a:rPr>
              <a:t>Global cancer statistics 2022: GLOBOCAN estimates of incidence and mortality worldwide for 36 cancers in 185 countries by </a:t>
            </a:r>
            <a:r>
              <a:rPr lang="en-IN" dirty="0">
                <a:hlinkClick r:id="rId9"/>
              </a:rPr>
              <a:t>Freddie Bray BSc, MSc, PhD</a:t>
            </a:r>
            <a:r>
              <a:rPr lang="en-IN" dirty="0"/>
              <a:t>, </a:t>
            </a:r>
            <a:r>
              <a:rPr lang="en-IN" dirty="0">
                <a:hlinkClick r:id="rId10"/>
              </a:rPr>
              <a:t>Mathieu </a:t>
            </a:r>
            <a:r>
              <a:rPr lang="en-IN" dirty="0" err="1">
                <a:hlinkClick r:id="rId10"/>
              </a:rPr>
              <a:t>Laversanne</a:t>
            </a:r>
            <a:r>
              <a:rPr lang="en-IN" dirty="0">
                <a:hlinkClick r:id="rId10"/>
              </a:rPr>
              <a:t> MSc</a:t>
            </a:r>
            <a:r>
              <a:rPr lang="en-IN" dirty="0"/>
              <a:t>, </a:t>
            </a:r>
            <a:r>
              <a:rPr lang="en-IN" dirty="0">
                <a:hlinkClick r:id="rId11"/>
              </a:rPr>
              <a:t>Hyuna Sung PhD</a:t>
            </a:r>
            <a:r>
              <a:rPr lang="en-IN" dirty="0"/>
              <a:t>, </a:t>
            </a:r>
            <a:r>
              <a:rPr lang="en-IN" dirty="0">
                <a:hlinkClick r:id="rId12"/>
              </a:rPr>
              <a:t>Jacques </a:t>
            </a:r>
            <a:r>
              <a:rPr lang="en-IN" dirty="0" err="1">
                <a:hlinkClick r:id="rId12"/>
              </a:rPr>
              <a:t>Ferlay</a:t>
            </a:r>
            <a:r>
              <a:rPr lang="en-IN" dirty="0">
                <a:hlinkClick r:id="rId12"/>
              </a:rPr>
              <a:t> ME</a:t>
            </a:r>
            <a:r>
              <a:rPr lang="en-IN" dirty="0"/>
              <a:t>, </a:t>
            </a:r>
            <a:r>
              <a:rPr lang="en-IN" dirty="0">
                <a:hlinkClick r:id="rId13"/>
              </a:rPr>
              <a:t>Rebecca L. Siegel MPH</a:t>
            </a:r>
            <a:r>
              <a:rPr lang="en-IN" dirty="0"/>
              <a:t>, </a:t>
            </a:r>
            <a:r>
              <a:rPr lang="en-IN" dirty="0">
                <a:hlinkClick r:id="rId14"/>
              </a:rPr>
              <a:t>Isabelle </a:t>
            </a:r>
            <a:r>
              <a:rPr lang="en-IN" dirty="0" err="1">
                <a:hlinkClick r:id="rId14"/>
              </a:rPr>
              <a:t>Soerjomataram</a:t>
            </a:r>
            <a:r>
              <a:rPr lang="en-IN" dirty="0">
                <a:hlinkClick r:id="rId14"/>
              </a:rPr>
              <a:t> MD, MSc, PhD</a:t>
            </a:r>
            <a:r>
              <a:rPr lang="en-IN" dirty="0"/>
              <a:t>, </a:t>
            </a:r>
            <a:r>
              <a:rPr lang="en-IN" dirty="0">
                <a:hlinkClick r:id="rId15"/>
              </a:rPr>
              <a:t>Ahmedin Jemal DVM, PhD</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p>
          <a:p>
            <a:pPr marL="285750" indent="-285750" algn="just">
              <a:lnSpc>
                <a:spcPct val="150000"/>
              </a:lnSpc>
              <a:buFont typeface="Arial" panose="020B0604020202020204" pitchFamily="34" charset="0"/>
              <a:buChar char="•"/>
            </a:pPr>
            <a:endParaRPr lang="en-IN" u="sng" dirty="0"/>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endParaRPr lang="en-IN"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295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EB78A5-6FE9-F6A5-A4D1-7D3928EDC39C}"/>
              </a:ext>
            </a:extLst>
          </p:cNvPr>
          <p:cNvSpPr txBox="1"/>
          <p:nvPr/>
        </p:nvSpPr>
        <p:spPr>
          <a:xfrm>
            <a:off x="1455577" y="186612"/>
            <a:ext cx="9629190" cy="923330"/>
          </a:xfrm>
          <a:prstGeom prst="rect">
            <a:avLst/>
          </a:prstGeom>
          <a:noFill/>
        </p:spPr>
        <p:txBody>
          <a:bodyPr wrap="square">
            <a:spAutoFit/>
          </a:bodyPr>
          <a:lstStyle/>
          <a:p>
            <a:pPr algn="ctr"/>
            <a:r>
              <a:rPr lang="en-IN" sz="5400" b="1"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59222719-D63B-0E97-7569-96B92B09EDCA}"/>
              </a:ext>
            </a:extLst>
          </p:cNvPr>
          <p:cNvSpPr txBox="1"/>
          <p:nvPr/>
        </p:nvSpPr>
        <p:spPr>
          <a:xfrm>
            <a:off x="1222309" y="1109942"/>
            <a:ext cx="10189029" cy="5033686"/>
          </a:xfrm>
          <a:prstGeom prst="rect">
            <a:avLst/>
          </a:prstGeom>
          <a:noFill/>
        </p:spPr>
        <p:txBody>
          <a:bodyPr wrap="square">
            <a:spAutoFit/>
          </a:bodyPr>
          <a:lstStyle/>
          <a:p>
            <a:pPr>
              <a:lnSpc>
                <a:spcPct val="150000"/>
              </a:lnSpc>
              <a:buNone/>
            </a:pPr>
            <a:r>
              <a:rPr lang="en-IN" dirty="0"/>
              <a:t>8) Detection with SVM, RF, </a:t>
            </a:r>
            <a:r>
              <a:rPr lang="en-IN" dirty="0" err="1"/>
              <a:t>kNN</a:t>
            </a:r>
            <a:endParaRPr lang="en-IN" dirty="0"/>
          </a:p>
          <a:p>
            <a:pPr>
              <a:lnSpc>
                <a:spcPct val="150000"/>
              </a:lnSpc>
              <a:buFont typeface="Arial" panose="020B0604020202020204" pitchFamily="34" charset="0"/>
              <a:buChar char="•"/>
            </a:pPr>
            <a:r>
              <a:rPr lang="en-IN" i="1" dirty="0"/>
              <a:t>“Detection of Skin Cancer Using SVM, Random Forest and </a:t>
            </a:r>
            <a:r>
              <a:rPr lang="en-IN" i="1" dirty="0" err="1"/>
              <a:t>kNN</a:t>
            </a:r>
            <a:r>
              <a:rPr lang="en-IN" i="1" dirty="0"/>
              <a:t> Classifiers”</a:t>
            </a:r>
            <a:r>
              <a:rPr lang="en-IN" dirty="0"/>
              <a:t> (J Med </a:t>
            </a:r>
            <a:r>
              <a:rPr lang="en-IN" dirty="0" err="1"/>
              <a:t>Syst</a:t>
            </a:r>
            <a:r>
              <a:rPr lang="en-IN" dirty="0"/>
              <a:t>, 2019).</a:t>
            </a:r>
          </a:p>
          <a:p>
            <a:pPr>
              <a:lnSpc>
                <a:spcPct val="150000"/>
              </a:lnSpc>
              <a:buFont typeface="Arial" panose="020B0604020202020204" pitchFamily="34" charset="0"/>
              <a:buChar char="•"/>
            </a:pPr>
            <a:r>
              <a:rPr lang="en-IN" dirty="0"/>
              <a:t>Features: shape, ABCD rule, GLCM; segmentation via watershed. Found SVM performed best</a:t>
            </a:r>
          </a:p>
          <a:p>
            <a:pPr algn="just">
              <a:lnSpc>
                <a:spcPct val="150000"/>
              </a:lnSpc>
            </a:pPr>
            <a:r>
              <a:rPr lang="en-IN" dirty="0"/>
              <a:t>9) Hybrid CNN + Metadata + ML</a:t>
            </a:r>
          </a:p>
          <a:p>
            <a:pPr algn="just">
              <a:lnSpc>
                <a:spcPct val="150000"/>
              </a:lnSpc>
            </a:pPr>
            <a:r>
              <a:rPr lang="en-IN" i="1" dirty="0"/>
              <a:t>“Enhanced skin cancer diagnosis: deep feature extraction framework”</a:t>
            </a:r>
            <a:r>
              <a:rPr lang="en-IN" dirty="0"/>
              <a:t> (Frontiers in Medicine, 2024).</a:t>
            </a:r>
          </a:p>
          <a:p>
            <a:pPr algn="just">
              <a:lnSpc>
                <a:spcPct val="150000"/>
              </a:lnSpc>
            </a:pPr>
            <a:r>
              <a:rPr lang="en-IN" dirty="0"/>
              <a:t>Hybrid models combining CNN with SVM, RF, LR, and metadata from patient info achieved ≥5% performance boost</a:t>
            </a:r>
          </a:p>
          <a:p>
            <a:pPr>
              <a:lnSpc>
                <a:spcPct val="150000"/>
              </a:lnSpc>
            </a:pPr>
            <a:r>
              <a:rPr lang="en-IN" dirty="0"/>
              <a:t>10) </a:t>
            </a:r>
            <a:r>
              <a:rPr lang="en-US" dirty="0"/>
              <a:t>Meta-learning &amp; transfer learning advances</a:t>
            </a:r>
          </a:p>
          <a:p>
            <a:pPr>
              <a:lnSpc>
                <a:spcPct val="150000"/>
              </a:lnSpc>
            </a:pPr>
            <a:r>
              <a:rPr lang="en-US" i="1" dirty="0"/>
              <a:t>“Advancements in skin cancer classification: review of ML techniques”</a:t>
            </a:r>
            <a:r>
              <a:rPr lang="en-US" dirty="0"/>
              <a:t> (2024).</a:t>
            </a:r>
          </a:p>
          <a:p>
            <a:pPr>
              <a:lnSpc>
                <a:spcPct val="150000"/>
              </a:lnSpc>
            </a:pPr>
            <a:r>
              <a:rPr lang="en-US" dirty="0"/>
              <a:t>Highlights multi-stage feature fusion, pre-trained networks + SVM ensembles achieving &gt;96% accuracy on ISIC</a:t>
            </a:r>
          </a:p>
          <a:p>
            <a:pPr>
              <a:lnSpc>
                <a:spcPct val="150000"/>
              </a:lnSpc>
            </a:pPr>
            <a:endParaRPr lang="en-IN" dirty="0"/>
          </a:p>
        </p:txBody>
      </p:sp>
    </p:spTree>
    <p:extLst>
      <p:ext uri="{BB962C8B-B14F-4D97-AF65-F5344CB8AC3E}">
        <p14:creationId xmlns:p14="http://schemas.microsoft.com/office/powerpoint/2010/main" val="16034434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4C1C6A-E781-E208-FDD5-7902DA0AC24C}"/>
              </a:ext>
            </a:extLst>
          </p:cNvPr>
          <p:cNvSpPr txBox="1"/>
          <p:nvPr/>
        </p:nvSpPr>
        <p:spPr>
          <a:xfrm>
            <a:off x="746449" y="2136710"/>
            <a:ext cx="10347649" cy="1015663"/>
          </a:xfrm>
          <a:prstGeom prst="rect">
            <a:avLst/>
          </a:prstGeom>
          <a:noFill/>
        </p:spPr>
        <p:txBody>
          <a:bodyPr wrap="square" rtlCol="0" anchor="ctr">
            <a:spAutoFit/>
          </a:bodyPr>
          <a:lstStyle/>
          <a:p>
            <a:pPr algn="ctr"/>
            <a:r>
              <a:rPr lang="en-IN" sz="6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6176230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866CFD-F94E-4AE5-ACEA-86FEC0F48A10}">
  <ds:schemaRefs>
    <ds:schemaRef ds:uri="http://schemas.microsoft.com/office/2006/metadata/properties"/>
    <ds:schemaRef ds:uri="16c05727-aa75-4e4a-9b5f-8a80a1165891"/>
    <ds:schemaRef ds:uri="http://schemas.microsoft.com/office/2006/documentManagement/types"/>
    <ds:schemaRef ds:uri="71af3243-3dd4-4a8d-8c0d-dd76da1f02a5"/>
    <ds:schemaRef ds:uri="http://www.w3.org/XML/1998/namespace"/>
    <ds:schemaRef ds:uri="http://purl.org/dc/dcmitype/"/>
    <ds:schemaRef ds:uri="http://purl.org/dc/terms/"/>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B579702B-25C7-40D7-9E29-7686B11A96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865</TotalTime>
  <Words>4474</Words>
  <Application>Microsoft Office PowerPoint</Application>
  <PresentationFormat>Widescreen</PresentationFormat>
  <Paragraphs>743</Paragraphs>
  <Slides>59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Arial</vt:lpstr>
      <vt:lpstr>Calibri</vt:lpstr>
      <vt:lpstr>Times New Roman</vt:lpstr>
      <vt:lpstr>Tw Cen MT</vt:lpstr>
      <vt:lpstr>Wingdings</vt:lpstr>
      <vt:lpstr>Circuit</vt:lpstr>
      <vt:lpstr>IEEE SPS GS Summer internship 2025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Fenil R Mahesuriya</dc:creator>
  <cp:lastModifiedBy>Fenil R Mahesuriya</cp:lastModifiedBy>
  <cp:revision>18</cp:revision>
  <dcterms:created xsi:type="dcterms:W3CDTF">2025-06-14T10:09:06Z</dcterms:created>
  <dcterms:modified xsi:type="dcterms:W3CDTF">2025-07-28T15:39:31Z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